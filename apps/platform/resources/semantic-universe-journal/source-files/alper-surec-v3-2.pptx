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5" r:id="rId1"/>
  </p:sldMasterIdLst>
  <p:notesMasterIdLst>
    <p:notesMasterId r:id="rId102"/>
  </p:notesMasterIdLst>
  <p:handoutMasterIdLst>
    <p:handoutMasterId r:id="rId103"/>
  </p:handoutMasterIdLst>
  <p:sldIdLst>
    <p:sldId id="318" r:id="rId2"/>
    <p:sldId id="421" r:id="rId3"/>
    <p:sldId id="422" r:id="rId4"/>
    <p:sldId id="423" r:id="rId5"/>
    <p:sldId id="424" r:id="rId6"/>
    <p:sldId id="425" r:id="rId7"/>
    <p:sldId id="426" r:id="rId8"/>
    <p:sldId id="427" r:id="rId9"/>
    <p:sldId id="428" r:id="rId10"/>
    <p:sldId id="429" r:id="rId11"/>
    <p:sldId id="430" r:id="rId12"/>
    <p:sldId id="320" r:id="rId13"/>
    <p:sldId id="384" r:id="rId14"/>
    <p:sldId id="385" r:id="rId15"/>
    <p:sldId id="386" r:id="rId16"/>
    <p:sldId id="321" r:id="rId17"/>
    <p:sldId id="322" r:id="rId18"/>
    <p:sldId id="419" r:id="rId19"/>
    <p:sldId id="403" r:id="rId20"/>
    <p:sldId id="404" r:id="rId21"/>
    <p:sldId id="405" r:id="rId22"/>
    <p:sldId id="406" r:id="rId23"/>
    <p:sldId id="407" r:id="rId24"/>
    <p:sldId id="408" r:id="rId25"/>
    <p:sldId id="431" r:id="rId26"/>
    <p:sldId id="440" r:id="rId27"/>
    <p:sldId id="409" r:id="rId28"/>
    <p:sldId id="410" r:id="rId29"/>
    <p:sldId id="411" r:id="rId30"/>
    <p:sldId id="412" r:id="rId31"/>
    <p:sldId id="413" r:id="rId32"/>
    <p:sldId id="420" r:id="rId33"/>
    <p:sldId id="418" r:id="rId34"/>
    <p:sldId id="414" r:id="rId35"/>
    <p:sldId id="415" r:id="rId36"/>
    <p:sldId id="416" r:id="rId37"/>
    <p:sldId id="417" r:id="rId38"/>
    <p:sldId id="323" r:id="rId39"/>
    <p:sldId id="328" r:id="rId40"/>
    <p:sldId id="391" r:id="rId41"/>
    <p:sldId id="324" r:id="rId42"/>
    <p:sldId id="325" r:id="rId43"/>
    <p:sldId id="326" r:id="rId44"/>
    <p:sldId id="327" r:id="rId45"/>
    <p:sldId id="387" r:id="rId46"/>
    <p:sldId id="388" r:id="rId47"/>
    <p:sldId id="389" r:id="rId48"/>
    <p:sldId id="390" r:id="rId49"/>
    <p:sldId id="345" r:id="rId50"/>
    <p:sldId id="432" r:id="rId51"/>
    <p:sldId id="346" r:id="rId52"/>
    <p:sldId id="347" r:id="rId53"/>
    <p:sldId id="348" r:id="rId54"/>
    <p:sldId id="349" r:id="rId55"/>
    <p:sldId id="350" r:id="rId56"/>
    <p:sldId id="351" r:id="rId57"/>
    <p:sldId id="352" r:id="rId58"/>
    <p:sldId id="433" r:id="rId59"/>
    <p:sldId id="434" r:id="rId60"/>
    <p:sldId id="353" r:id="rId61"/>
    <p:sldId id="354" r:id="rId62"/>
    <p:sldId id="355" r:id="rId63"/>
    <p:sldId id="356" r:id="rId64"/>
    <p:sldId id="357" r:id="rId65"/>
    <p:sldId id="358" r:id="rId66"/>
    <p:sldId id="359" r:id="rId67"/>
    <p:sldId id="360" r:id="rId68"/>
    <p:sldId id="361" r:id="rId69"/>
    <p:sldId id="362" r:id="rId70"/>
    <p:sldId id="374" r:id="rId71"/>
    <p:sldId id="363" r:id="rId72"/>
    <p:sldId id="435" r:id="rId73"/>
    <p:sldId id="436" r:id="rId74"/>
    <p:sldId id="437" r:id="rId75"/>
    <p:sldId id="438" r:id="rId76"/>
    <p:sldId id="439" r:id="rId77"/>
    <p:sldId id="364" r:id="rId78"/>
    <p:sldId id="365" r:id="rId79"/>
    <p:sldId id="366" r:id="rId80"/>
    <p:sldId id="367" r:id="rId81"/>
    <p:sldId id="368" r:id="rId82"/>
    <p:sldId id="369" r:id="rId83"/>
    <p:sldId id="370" r:id="rId84"/>
    <p:sldId id="371" r:id="rId85"/>
    <p:sldId id="372" r:id="rId86"/>
    <p:sldId id="375" r:id="rId87"/>
    <p:sldId id="376" r:id="rId88"/>
    <p:sldId id="377" r:id="rId89"/>
    <p:sldId id="378" r:id="rId90"/>
    <p:sldId id="379" r:id="rId91"/>
    <p:sldId id="380" r:id="rId92"/>
    <p:sldId id="381" r:id="rId93"/>
    <p:sldId id="382" r:id="rId94"/>
    <p:sldId id="308" r:id="rId95"/>
    <p:sldId id="263" r:id="rId96"/>
    <p:sldId id="315" r:id="rId97"/>
    <p:sldId id="316" r:id="rId98"/>
    <p:sldId id="317" r:id="rId99"/>
    <p:sldId id="290" r:id="rId100"/>
    <p:sldId id="284" r:id="rId10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05" autoAdjust="0"/>
  </p:normalViewPr>
  <p:slideViewPr>
    <p:cSldViewPr snapToGrid="0" snapToObjects="1">
      <p:cViewPr varScale="1">
        <p:scale>
          <a:sx n="81" d="100"/>
          <a:sy n="81" d="100"/>
        </p:scale>
        <p:origin x="167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3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345E23-9207-9E43-9C64-B88DC94F54E2}" type="datetimeFigureOut">
              <a:rPr lang="en-US" smtClean="0"/>
              <a:pPr/>
              <a:t>1/7/2020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EBA3AD5-060F-674E-BD62-C5CE914C84A6}" type="slidenum">
              <a:rPr lang="en-US" smtClean="0"/>
              <a:pPr/>
              <a:t>‹#›</a:t>
            </a:fld>
            <a:endParaRPr lang="en-US"/>
          </a:p>
        </p:txBody>
      </p:sp>
    </p:spTree>
    <p:extLst>
      <p:ext uri="{BB962C8B-B14F-4D97-AF65-F5344CB8AC3E}">
        <p14:creationId xmlns:p14="http://schemas.microsoft.com/office/powerpoint/2010/main" val="35868816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F17C36-5753-1642-8E47-4B5228FDD8D7}" type="datetimeFigureOut">
              <a:rPr lang="en-US" smtClean="0"/>
              <a:pPr/>
              <a:t>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0B702D-19BB-C24F-BFA4-6023DC4508C0}" type="slidenum">
              <a:rPr lang="en-US" smtClean="0"/>
              <a:pPr/>
              <a:t>‹#›</a:t>
            </a:fld>
            <a:endParaRPr lang="en-US"/>
          </a:p>
        </p:txBody>
      </p:sp>
    </p:spTree>
    <p:extLst>
      <p:ext uri="{BB962C8B-B14F-4D97-AF65-F5344CB8AC3E}">
        <p14:creationId xmlns:p14="http://schemas.microsoft.com/office/powerpoint/2010/main" val="210341928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noFill/>
          <a:ln/>
        </p:spPr>
        <p:txBody>
          <a:bodyPr/>
          <a:lstStyle/>
          <a:p>
            <a:pPr eaLnBrk="1" hangingPunct="1"/>
            <a:r>
              <a:rPr lang="tr-TR" dirty="0"/>
              <a:t>Anahtar performans değerleri kişiye koşula role veya olayın anına göre değişkenlik göstermeden karşılaştırılabilir standart değerler olarak ele alınabilir.</a:t>
            </a:r>
          </a:p>
        </p:txBody>
      </p:sp>
    </p:spTree>
    <p:extLst>
      <p:ext uri="{BB962C8B-B14F-4D97-AF65-F5344CB8AC3E}">
        <p14:creationId xmlns:p14="http://schemas.microsoft.com/office/powerpoint/2010/main" val="2172254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467D3CCD-FA2F-4563-AB6B-B1D476A4C9F8}" type="slidenum">
              <a:rPr lang="en-US" smtClean="0"/>
              <a:pPr/>
              <a:t>58</a:t>
            </a:fld>
            <a:endParaRPr lang="en-US"/>
          </a:p>
        </p:txBody>
      </p:sp>
      <p:sp>
        <p:nvSpPr>
          <p:cNvPr id="46083" name="Rectangle 2"/>
          <p:cNvSpPr>
            <a:spLocks noGrp="1" noRot="1" noChangeAspect="1" noChangeArrowheads="1" noTextEdit="1"/>
          </p:cNvSpPr>
          <p:nvPr>
            <p:ph type="sldImg"/>
          </p:nvPr>
        </p:nvSpPr>
        <p:spPr>
          <a:xfrm>
            <a:off x="1144588" y="685800"/>
            <a:ext cx="4570412" cy="3429000"/>
          </a:xfrm>
          <a:ln/>
        </p:spPr>
      </p:sp>
      <p:sp>
        <p:nvSpPr>
          <p:cNvPr id="46084" name="Rectangle 3"/>
          <p:cNvSpPr>
            <a:spLocks noGrp="1" noChangeArrowheads="1"/>
          </p:cNvSpPr>
          <p:nvPr>
            <p:ph type="body" idx="1"/>
          </p:nvPr>
        </p:nvSpPr>
        <p:spPr>
          <a:noFill/>
          <a:ln/>
        </p:spPr>
        <p:txBody>
          <a:bodyPr/>
          <a:lstStyle/>
          <a:p>
            <a:pPr marL="228575" indent="-228575"/>
            <a:r>
              <a:rPr lang="tr-TR" dirty="0"/>
              <a:t>Bunların tümünü yapmak için elektronik sistemlerinin kullanılması kaçınılmazdır. Ancak elektronik sistem kullanılırken resim 1’de görüldüğü gibi el yazması tahtalarda anlamsız şekiller veya sadece yazanın anlayacağı çizimler yerine, resim 2’de görülen dijital süreçlere geçebiliriz. Ancak karmaşamızın daha da büyüdüğünü fark etmekteyiz. Kurallar, kaynaklar, roller, iş akışları, görev tanımlamaları tanımlanmadığında veya birbirleriyle ilişkili mantıklı süreçler kurulmadığında tam bir veri çöplüğüyle karşılaştığımızı fark etmekteyiz. Analogtan dijitale geçmenin temel fikri analog sistemde sahip olduğunuz bilgiyi olduğu gibi dijital sisteme taşımak değil, dijital sistem yardımıyla yeni algoritmalar, yeni süreçler ve akıllı sistemler yaratmaktır. İş kurallarını yalınlaştırıp, </a:t>
            </a:r>
            <a:r>
              <a:rPr lang="tr-TR" dirty="0" err="1"/>
              <a:t>katmanlayıp</a:t>
            </a:r>
            <a:r>
              <a:rPr lang="tr-TR" dirty="0"/>
              <a:t>, ilişkisel veritabanı mantığında okunabilir kodlara çevirmektir.</a:t>
            </a:r>
            <a:endParaRPr lang="en-US" sz="1000" dirty="0"/>
          </a:p>
        </p:txBody>
      </p:sp>
    </p:spTree>
    <p:extLst>
      <p:ext uri="{BB962C8B-B14F-4D97-AF65-F5344CB8AC3E}">
        <p14:creationId xmlns:p14="http://schemas.microsoft.com/office/powerpoint/2010/main" val="526876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8EC01F5E-35E5-4F25-8A2C-74ECF3EDE6CE}" type="slidenum">
              <a:rPr lang="tr-TR" smtClean="0"/>
              <a:pPr/>
              <a:t>87</a:t>
            </a:fld>
            <a:endParaRPr lang="tr-TR"/>
          </a:p>
        </p:txBody>
      </p:sp>
    </p:spTree>
    <p:extLst>
      <p:ext uri="{BB962C8B-B14F-4D97-AF65-F5344CB8AC3E}">
        <p14:creationId xmlns:p14="http://schemas.microsoft.com/office/powerpoint/2010/main" val="1534101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0403" name="2 Not Yer Tutucusu"/>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r-TR"/>
          </a:p>
        </p:txBody>
      </p:sp>
      <p:sp>
        <p:nvSpPr>
          <p:cNvPr id="230404" name="3 Slayt Numarası Yer Tutucusu"/>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bg2"/>
                </a:solidFill>
                <a:latin typeface="Arial Narrow" pitchFamily="34" charset="0"/>
                <a:ea typeface="Arial Unicode MS" pitchFamily="34" charset="-128"/>
                <a:cs typeface="Arial Unicode MS" pitchFamily="34" charset="-128"/>
              </a:defRPr>
            </a:lvl1pPr>
            <a:lvl2pPr marL="742950" indent="-285750" eaLnBrk="0" hangingPunct="0">
              <a:defRPr sz="2400">
                <a:solidFill>
                  <a:schemeClr val="bg2"/>
                </a:solidFill>
                <a:latin typeface="Arial Narrow" pitchFamily="34" charset="0"/>
                <a:ea typeface="Arial Unicode MS" pitchFamily="34" charset="-128"/>
                <a:cs typeface="Arial Unicode MS" pitchFamily="34" charset="-128"/>
              </a:defRPr>
            </a:lvl2pPr>
            <a:lvl3pPr marL="1143000" indent="-228600" eaLnBrk="0" hangingPunct="0">
              <a:defRPr sz="2400">
                <a:solidFill>
                  <a:schemeClr val="bg2"/>
                </a:solidFill>
                <a:latin typeface="Arial Narrow" pitchFamily="34" charset="0"/>
                <a:ea typeface="Arial Unicode MS" pitchFamily="34" charset="-128"/>
                <a:cs typeface="Arial Unicode MS" pitchFamily="34" charset="-128"/>
              </a:defRPr>
            </a:lvl3pPr>
            <a:lvl4pPr marL="1600200" indent="-228600" eaLnBrk="0" hangingPunct="0">
              <a:defRPr sz="2400">
                <a:solidFill>
                  <a:schemeClr val="bg2"/>
                </a:solidFill>
                <a:latin typeface="Arial Narrow" pitchFamily="34" charset="0"/>
                <a:ea typeface="Arial Unicode MS" pitchFamily="34" charset="-128"/>
                <a:cs typeface="Arial Unicode MS" pitchFamily="34" charset="-128"/>
              </a:defRPr>
            </a:lvl4pPr>
            <a:lvl5pPr marL="2057400" indent="-228600" eaLnBrk="0" hangingPunct="0">
              <a:defRPr sz="2400">
                <a:solidFill>
                  <a:schemeClr val="bg2"/>
                </a:solidFill>
                <a:latin typeface="Arial Narrow"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9pPr>
          </a:lstStyle>
          <a:p>
            <a:pPr eaLnBrk="1" hangingPunct="1"/>
            <a:fld id="{33F231F0-E6E4-458B-9D72-0AFD62D5D6D5}" type="slidenum">
              <a:rPr lang="tr-TR" sz="1200" smtClean="0"/>
              <a:pPr eaLnBrk="1" hangingPunct="1"/>
              <a:t>96</a:t>
            </a:fld>
            <a:endParaRPr lang="tr-TR" sz="1200"/>
          </a:p>
        </p:txBody>
      </p:sp>
    </p:spTree>
    <p:extLst>
      <p:ext uri="{BB962C8B-B14F-4D97-AF65-F5344CB8AC3E}">
        <p14:creationId xmlns:p14="http://schemas.microsoft.com/office/powerpoint/2010/main" val="3584451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7" name="2 Not Yer Tutucusu"/>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r-TR"/>
          </a:p>
        </p:txBody>
      </p:sp>
      <p:sp>
        <p:nvSpPr>
          <p:cNvPr id="231428" name="3 Slayt Numarası Yer Tutucusu"/>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bg2"/>
                </a:solidFill>
                <a:latin typeface="Arial Narrow" pitchFamily="34" charset="0"/>
                <a:ea typeface="Arial Unicode MS" pitchFamily="34" charset="-128"/>
                <a:cs typeface="Arial Unicode MS" pitchFamily="34" charset="-128"/>
              </a:defRPr>
            </a:lvl1pPr>
            <a:lvl2pPr marL="742950" indent="-285750" eaLnBrk="0" hangingPunct="0">
              <a:defRPr sz="2400">
                <a:solidFill>
                  <a:schemeClr val="bg2"/>
                </a:solidFill>
                <a:latin typeface="Arial Narrow" pitchFamily="34" charset="0"/>
                <a:ea typeface="Arial Unicode MS" pitchFamily="34" charset="-128"/>
                <a:cs typeface="Arial Unicode MS" pitchFamily="34" charset="-128"/>
              </a:defRPr>
            </a:lvl2pPr>
            <a:lvl3pPr marL="1143000" indent="-228600" eaLnBrk="0" hangingPunct="0">
              <a:defRPr sz="2400">
                <a:solidFill>
                  <a:schemeClr val="bg2"/>
                </a:solidFill>
                <a:latin typeface="Arial Narrow" pitchFamily="34" charset="0"/>
                <a:ea typeface="Arial Unicode MS" pitchFamily="34" charset="-128"/>
                <a:cs typeface="Arial Unicode MS" pitchFamily="34" charset="-128"/>
              </a:defRPr>
            </a:lvl3pPr>
            <a:lvl4pPr marL="1600200" indent="-228600" eaLnBrk="0" hangingPunct="0">
              <a:defRPr sz="2400">
                <a:solidFill>
                  <a:schemeClr val="bg2"/>
                </a:solidFill>
                <a:latin typeface="Arial Narrow" pitchFamily="34" charset="0"/>
                <a:ea typeface="Arial Unicode MS" pitchFamily="34" charset="-128"/>
                <a:cs typeface="Arial Unicode MS" pitchFamily="34" charset="-128"/>
              </a:defRPr>
            </a:lvl4pPr>
            <a:lvl5pPr marL="2057400" indent="-228600" eaLnBrk="0" hangingPunct="0">
              <a:defRPr sz="2400">
                <a:solidFill>
                  <a:schemeClr val="bg2"/>
                </a:solidFill>
                <a:latin typeface="Arial Narrow"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9pPr>
          </a:lstStyle>
          <a:p>
            <a:pPr eaLnBrk="1" hangingPunct="1"/>
            <a:fld id="{E66D3EE8-8EF4-4F91-B4FC-60C7A4D230EF}" type="slidenum">
              <a:rPr lang="tr-TR" sz="1200" smtClean="0"/>
              <a:pPr eaLnBrk="1" hangingPunct="1"/>
              <a:t>97</a:t>
            </a:fld>
            <a:endParaRPr lang="tr-TR" sz="1200"/>
          </a:p>
        </p:txBody>
      </p:sp>
    </p:spTree>
    <p:extLst>
      <p:ext uri="{BB962C8B-B14F-4D97-AF65-F5344CB8AC3E}">
        <p14:creationId xmlns:p14="http://schemas.microsoft.com/office/powerpoint/2010/main" val="1540815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1" name="2 Not Yer Tutucusu"/>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r-TR"/>
          </a:p>
        </p:txBody>
      </p:sp>
      <p:sp>
        <p:nvSpPr>
          <p:cNvPr id="232452" name="3 Slayt Numarası Yer Tutucusu"/>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bg2"/>
                </a:solidFill>
                <a:latin typeface="Arial Narrow" pitchFamily="34" charset="0"/>
                <a:ea typeface="Arial Unicode MS" pitchFamily="34" charset="-128"/>
                <a:cs typeface="Arial Unicode MS" pitchFamily="34" charset="-128"/>
              </a:defRPr>
            </a:lvl1pPr>
            <a:lvl2pPr marL="742950" indent="-285750" eaLnBrk="0" hangingPunct="0">
              <a:defRPr sz="2400">
                <a:solidFill>
                  <a:schemeClr val="bg2"/>
                </a:solidFill>
                <a:latin typeface="Arial Narrow" pitchFamily="34" charset="0"/>
                <a:ea typeface="Arial Unicode MS" pitchFamily="34" charset="-128"/>
                <a:cs typeface="Arial Unicode MS" pitchFamily="34" charset="-128"/>
              </a:defRPr>
            </a:lvl2pPr>
            <a:lvl3pPr marL="1143000" indent="-228600" eaLnBrk="0" hangingPunct="0">
              <a:defRPr sz="2400">
                <a:solidFill>
                  <a:schemeClr val="bg2"/>
                </a:solidFill>
                <a:latin typeface="Arial Narrow" pitchFamily="34" charset="0"/>
                <a:ea typeface="Arial Unicode MS" pitchFamily="34" charset="-128"/>
                <a:cs typeface="Arial Unicode MS" pitchFamily="34" charset="-128"/>
              </a:defRPr>
            </a:lvl3pPr>
            <a:lvl4pPr marL="1600200" indent="-228600" eaLnBrk="0" hangingPunct="0">
              <a:defRPr sz="2400">
                <a:solidFill>
                  <a:schemeClr val="bg2"/>
                </a:solidFill>
                <a:latin typeface="Arial Narrow" pitchFamily="34" charset="0"/>
                <a:ea typeface="Arial Unicode MS" pitchFamily="34" charset="-128"/>
                <a:cs typeface="Arial Unicode MS" pitchFamily="34" charset="-128"/>
              </a:defRPr>
            </a:lvl4pPr>
            <a:lvl5pPr marL="2057400" indent="-228600" eaLnBrk="0" hangingPunct="0">
              <a:defRPr sz="2400">
                <a:solidFill>
                  <a:schemeClr val="bg2"/>
                </a:solidFill>
                <a:latin typeface="Arial Narrow"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9pPr>
          </a:lstStyle>
          <a:p>
            <a:pPr eaLnBrk="1" hangingPunct="1"/>
            <a:fld id="{F24D1A31-5572-47A5-ADFC-1ACAA832B6E3}" type="slidenum">
              <a:rPr lang="tr-TR" sz="1200" smtClean="0"/>
              <a:pPr eaLnBrk="1" hangingPunct="1"/>
              <a:t>98</a:t>
            </a:fld>
            <a:endParaRPr lang="tr-TR" sz="1200"/>
          </a:p>
        </p:txBody>
      </p:sp>
    </p:spTree>
    <p:extLst>
      <p:ext uri="{BB962C8B-B14F-4D97-AF65-F5344CB8AC3E}">
        <p14:creationId xmlns:p14="http://schemas.microsoft.com/office/powerpoint/2010/main" val="3625500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90A86BEE-4FE0-BB49-8E91-9444CFB20563}" type="datetimeFigureOut">
              <a:rPr lang="en-US" smtClean="0"/>
              <a:pPr/>
              <a:t>1/7/2020</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4D6C7AD7-86A1-8347-91B7-9604D5F3427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0A86BEE-4FE0-BB49-8E91-9444CFB20563}" type="datetimeFigureOut">
              <a:rPr lang="en-US" smtClean="0"/>
              <a:pPr/>
              <a:t>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D6C7AD7-86A1-8347-91B7-9604D5F3427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90A86BEE-4FE0-BB49-8E91-9444CFB20563}" type="datetimeFigureOut">
              <a:rPr lang="en-US" smtClean="0"/>
              <a:pPr/>
              <a:t>1/7/2020</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D6C7AD7-86A1-8347-91B7-9604D5F3427D}"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90A86BEE-4FE0-BB49-8E91-9444CFB20563}" type="datetimeFigureOut">
              <a:rPr lang="en-US" smtClean="0"/>
              <a:pPr/>
              <a:t>1/7/2020</a:t>
            </a:fld>
            <a:endParaRPr lang="en-US"/>
          </a:p>
        </p:txBody>
      </p:sp>
      <p:sp>
        <p:nvSpPr>
          <p:cNvPr id="10" name="Slide Number Placeholder 9"/>
          <p:cNvSpPr>
            <a:spLocks noGrp="1"/>
          </p:cNvSpPr>
          <p:nvPr>
            <p:ph type="sldNum" sz="quarter" idx="16"/>
          </p:nvPr>
        </p:nvSpPr>
        <p:spPr/>
        <p:txBody>
          <a:bodyPr rtlCol="0"/>
          <a:lstStyle/>
          <a:p>
            <a:fld id="{4D6C7AD7-86A1-8347-91B7-9604D5F3427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90A86BEE-4FE0-BB49-8E91-9444CFB20563}" type="datetimeFigureOut">
              <a:rPr lang="en-US" smtClean="0"/>
              <a:pPr/>
              <a:t>1/7/2020</a:t>
            </a:fld>
            <a:endParaRPr lang="en-US"/>
          </a:p>
        </p:txBody>
      </p:sp>
      <p:sp>
        <p:nvSpPr>
          <p:cNvPr id="12" name="Slide Number Placeholder 11"/>
          <p:cNvSpPr>
            <a:spLocks noGrp="1"/>
          </p:cNvSpPr>
          <p:nvPr>
            <p:ph type="sldNum" sz="quarter" idx="16"/>
          </p:nvPr>
        </p:nvSpPr>
        <p:spPr/>
        <p:txBody>
          <a:bodyPr rtlCol="0"/>
          <a:lstStyle/>
          <a:p>
            <a:fld id="{4D6C7AD7-86A1-8347-91B7-9604D5F3427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0A86BEE-4FE0-BB49-8E91-9444CFB20563}" type="datetimeFigureOut">
              <a:rPr lang="en-US" smtClean="0"/>
              <a:pPr/>
              <a:t>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4D6C7AD7-86A1-8347-91B7-9604D5F3427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A86BEE-4FE0-BB49-8E91-9444CFB20563}" type="datetimeFigureOut">
              <a:rPr lang="en-US" smtClean="0"/>
              <a:pPr/>
              <a:t>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4D6C7AD7-86A1-8347-91B7-9604D5F3427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90A86BEE-4FE0-BB49-8E91-9444CFB20563}" type="datetimeFigureOut">
              <a:rPr lang="en-US" smtClean="0"/>
              <a:pPr/>
              <a:t>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D6C7AD7-86A1-8347-91B7-9604D5F3427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90A86BEE-4FE0-BB49-8E91-9444CFB20563}" type="datetimeFigureOut">
              <a:rPr lang="en-US" smtClean="0"/>
              <a:pPr/>
              <a:t>1/7/2020</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D6C7AD7-86A1-8347-91B7-9604D5F3427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0A86BEE-4FE0-BB49-8E91-9444CFB20563}" type="datetimeFigureOut">
              <a:rPr lang="en-US" smtClean="0"/>
              <a:pPr/>
              <a:t>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6C7AD7-86A1-8347-91B7-9604D5F3427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90A86BEE-4FE0-BB49-8E91-9444CFB20563}" type="datetimeFigureOut">
              <a:rPr lang="en-US" smtClean="0"/>
              <a:pPr/>
              <a:t>1/7/2020</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4D6C7AD7-86A1-8347-91B7-9604D5F3427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90A86BEE-4FE0-BB49-8E91-9444CFB20563}" type="datetimeFigureOut">
              <a:rPr lang="en-US" smtClean="0"/>
              <a:pPr/>
              <a:t>1/7/2020</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4D6C7AD7-86A1-8347-91B7-9604D5F3427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http://www.kalder.org/genel/odul/model.jpg"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6.xml"/><Relationship Id="rId7" Type="http://schemas.openxmlformats.org/officeDocument/2006/relationships/image" Target="../media/image16.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5.wmf"/><Relationship Id="rId4" Type="http://schemas.openxmlformats.org/officeDocument/2006/relationships/oleObject" Target="../embeddings/oleObject1.bin"/><Relationship Id="rId9" Type="http://schemas.openxmlformats.org/officeDocument/2006/relationships/oleObject" Target="../embeddings/oleObject4.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362200" y="1295400"/>
            <a:ext cx="6477000" cy="4572000"/>
          </a:xfrm>
        </p:spPr>
        <p:txBody>
          <a:bodyPr>
            <a:normAutofit/>
          </a:bodyPr>
          <a:lstStyle/>
          <a:p>
            <a:r>
              <a:rPr lang="tr-TR" dirty="0"/>
              <a:t>SÜREÇ YÖNETİMİ ve süreçlerle </a:t>
            </a:r>
            <a:r>
              <a:rPr lang="tr-TR" dirty="0" err="1"/>
              <a:t>yönetİm</a:t>
            </a:r>
            <a:endParaRPr lang="en-GB" dirty="0"/>
          </a:p>
        </p:txBody>
      </p:sp>
      <p:sp>
        <p:nvSpPr>
          <p:cNvPr id="5" name="4 İçerik Yer Tutucusu"/>
          <p:cNvSpPr>
            <a:spLocks noGrp="1"/>
          </p:cNvSpPr>
          <p:nvPr>
            <p:ph type="subTitle" idx="1"/>
          </p:nvPr>
        </p:nvSpPr>
        <p:spPr/>
        <p:txBody>
          <a:bodyPr>
            <a:normAutofit/>
          </a:bodyPr>
          <a:lstStyle/>
          <a:p>
            <a:pPr algn="ctr">
              <a:buNone/>
            </a:pPr>
            <a:endParaRPr lang="tr-TR" dirty="0"/>
          </a:p>
        </p:txBody>
      </p:sp>
    </p:spTree>
    <p:extLst>
      <p:ext uri="{BB962C8B-B14F-4D97-AF65-F5344CB8AC3E}">
        <p14:creationId xmlns:p14="http://schemas.microsoft.com/office/powerpoint/2010/main" val="1332686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t>BÖLÜM 1</a:t>
            </a:r>
          </a:p>
        </p:txBody>
      </p:sp>
      <p:sp>
        <p:nvSpPr>
          <p:cNvPr id="3" name="Subtitle 2"/>
          <p:cNvSpPr>
            <a:spLocks noGrp="1"/>
          </p:cNvSpPr>
          <p:nvPr>
            <p:ph type="subTitle" idx="1"/>
          </p:nvPr>
        </p:nvSpPr>
        <p:spPr/>
        <p:txBody>
          <a:bodyPr>
            <a:noAutofit/>
          </a:bodyPr>
          <a:lstStyle/>
          <a:p>
            <a:r>
              <a:rPr lang="tr-TR" sz="4400" dirty="0"/>
              <a:t>YÖNETİM TEORİLERİ</a:t>
            </a:r>
          </a:p>
        </p:txBody>
      </p:sp>
    </p:spTree>
    <p:extLst>
      <p:ext uri="{BB962C8B-B14F-4D97-AF65-F5344CB8AC3E}">
        <p14:creationId xmlns:p14="http://schemas.microsoft.com/office/powerpoint/2010/main" val="3877153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Tarihsel Seyir</a:t>
            </a:r>
          </a:p>
        </p:txBody>
      </p:sp>
      <p:sp>
        <p:nvSpPr>
          <p:cNvPr id="3" name="Content Placeholder 2"/>
          <p:cNvSpPr>
            <a:spLocks noGrp="1"/>
          </p:cNvSpPr>
          <p:nvPr>
            <p:ph sz="quarter" idx="1"/>
          </p:nvPr>
        </p:nvSpPr>
        <p:spPr/>
        <p:txBody>
          <a:bodyPr/>
          <a:lstStyle/>
          <a:p>
            <a:r>
              <a:rPr lang="tr-TR" dirty="0"/>
              <a:t>Klasik Teori</a:t>
            </a:r>
          </a:p>
          <a:p>
            <a:r>
              <a:rPr lang="tr-TR" dirty="0"/>
              <a:t>Neoklasik Teori</a:t>
            </a:r>
          </a:p>
          <a:p>
            <a:r>
              <a:rPr lang="tr-TR" dirty="0"/>
              <a:t>Modern Teori</a:t>
            </a:r>
          </a:p>
          <a:p>
            <a:r>
              <a:rPr lang="tr-TR" dirty="0"/>
              <a:t>Postmodern Teori</a:t>
            </a:r>
          </a:p>
          <a:p>
            <a:r>
              <a:rPr lang="tr-TR" dirty="0"/>
              <a:t>Hedeflerle Yönetim Teorisi</a:t>
            </a:r>
          </a:p>
          <a:p>
            <a:r>
              <a:rPr lang="tr-TR" dirty="0"/>
              <a:t>Süreç Yönetimi Teorisi</a:t>
            </a:r>
          </a:p>
          <a:p>
            <a:r>
              <a:rPr lang="tr-TR" dirty="0"/>
              <a:t>Nümerik Kontroller Teorisi</a:t>
            </a:r>
          </a:p>
        </p:txBody>
      </p:sp>
    </p:spTree>
    <p:extLst>
      <p:ext uri="{BB962C8B-B14F-4D97-AF65-F5344CB8AC3E}">
        <p14:creationId xmlns:p14="http://schemas.microsoft.com/office/powerpoint/2010/main" val="362672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Kaynak Yönetimi</a:t>
            </a:r>
          </a:p>
        </p:txBody>
      </p:sp>
      <p:sp>
        <p:nvSpPr>
          <p:cNvPr id="3" name="2 İçerik Yer Tutucusu"/>
          <p:cNvSpPr>
            <a:spLocks noGrp="1"/>
          </p:cNvSpPr>
          <p:nvPr>
            <p:ph idx="1"/>
          </p:nvPr>
        </p:nvSpPr>
        <p:spPr>
          <a:xfrm>
            <a:off x="428596" y="2143116"/>
            <a:ext cx="8429684" cy="4500594"/>
          </a:xfrm>
        </p:spPr>
        <p:txBody>
          <a:bodyPr>
            <a:normAutofit/>
          </a:bodyPr>
          <a:lstStyle/>
          <a:p>
            <a:pPr>
              <a:lnSpc>
                <a:spcPct val="170000"/>
              </a:lnSpc>
            </a:pPr>
            <a:r>
              <a:rPr lang="tr-TR" sz="2000" dirty="0"/>
              <a:t>Tarım devriminden birinci sanayi devrimine</a:t>
            </a:r>
          </a:p>
          <a:p>
            <a:pPr>
              <a:lnSpc>
                <a:spcPct val="170000"/>
              </a:lnSpc>
            </a:pPr>
            <a:r>
              <a:rPr lang="tr-TR" sz="2000" dirty="0"/>
              <a:t>Buhar makinesinin  keşfi üretimde yepyeni ufukların açılmasına neden olmuştur.</a:t>
            </a:r>
          </a:p>
          <a:p>
            <a:pPr>
              <a:lnSpc>
                <a:spcPct val="170000"/>
              </a:lnSpc>
            </a:pPr>
            <a:r>
              <a:rPr lang="tr-TR" sz="2000" dirty="0"/>
              <a:t>İnsan önce, daha çok üretebilmeyi amaçlamıştır. </a:t>
            </a:r>
          </a:p>
          <a:p>
            <a:pPr>
              <a:lnSpc>
                <a:spcPct val="170000"/>
              </a:lnSpc>
            </a:pPr>
            <a:r>
              <a:rPr lang="tr-TR" sz="2000" dirty="0"/>
              <a:t>Ancak ekonomilerdeki gelişim ve rekabet yalnızca daha çok üretebilmenin yeterli olmadığını göstermiştir.</a:t>
            </a:r>
          </a:p>
          <a:p>
            <a:pPr>
              <a:lnSpc>
                <a:spcPct val="170000"/>
              </a:lnSpc>
            </a:pPr>
            <a:r>
              <a:rPr lang="tr-TR" sz="2000" dirty="0"/>
              <a:t> Amaç günün koşulları içinde değişmektedir. Verimli üretmek, kaliteli üretmek ve sonunda müşteriyi tatmin eden üretime sıra gelmiştir.</a:t>
            </a:r>
          </a:p>
        </p:txBody>
      </p:sp>
      <p:pic>
        <p:nvPicPr>
          <p:cNvPr id="5" name="4 Resim" descr="erp-diagram-1.jpg"/>
          <p:cNvPicPr>
            <a:picLocks noChangeAspect="1"/>
          </p:cNvPicPr>
          <p:nvPr/>
        </p:nvPicPr>
        <p:blipFill>
          <a:blip r:embed="rId2" cstate="print"/>
          <a:stretch>
            <a:fillRect/>
          </a:stretch>
        </p:blipFill>
        <p:spPr>
          <a:xfrm>
            <a:off x="6586620" y="0"/>
            <a:ext cx="2557380" cy="2428868"/>
          </a:xfrm>
          <a:prstGeom prst="rect">
            <a:avLst/>
          </a:prstGeom>
        </p:spPr>
      </p:pic>
    </p:spTree>
    <p:extLst>
      <p:ext uri="{BB962C8B-B14F-4D97-AF65-F5344CB8AC3E}">
        <p14:creationId xmlns:p14="http://schemas.microsoft.com/office/powerpoint/2010/main" val="96191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path" presetSubtype="0" accel="50000" decel="50000" fill="hold" nodeType="clickEffect">
                                  <p:stCondLst>
                                    <p:cond delay="0"/>
                                  </p:stCondLst>
                                  <p:childTnLst>
                                    <p:animMotion origin="layout" path="M 0 0  C 0.012 -0.024  0.033 -0.05867  0.058 -0.05867  C 0.095 -0.05867  0.125 -0.02267  0.125 0.02267  C 0.125 0.03733  0.122 0.05067  0.116 0.06267  C 0.117 0.06267  0 0.24267  0 0.244  C 0 0.24267  -0.117 0.06267  -0.116 0.06267  C -0.122 0.05067  -0.125 0.03733  -0.125 0.02267  C -0.125 -0.02267  -0.095 -0.05867  -0.057 -0.05867  C -0.033 -0.05867  -0.012 -0.024  0 0  Z" pathEditMode="relative" ptsTypes="">
                                      <p:cBhvr>
                                        <p:cTn id="6" dur="2000" fill="hold"/>
                                        <p:tgtEl>
                                          <p:spTgt spid="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80">
                                          <p:stCondLst>
                                            <p:cond delay="0"/>
                                          </p:stCondLst>
                                        </p:cTn>
                                        <p:tgtEl>
                                          <p:spTgt spid="2"/>
                                        </p:tgtEl>
                                      </p:cBhvr>
                                    </p:animEffect>
                                    <p:anim calcmode="lin" valueType="num">
                                      <p:cBhvr>
                                        <p:cTn id="12"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7" dur="26">
                                          <p:stCondLst>
                                            <p:cond delay="650"/>
                                          </p:stCondLst>
                                        </p:cTn>
                                        <p:tgtEl>
                                          <p:spTgt spid="2"/>
                                        </p:tgtEl>
                                      </p:cBhvr>
                                      <p:to x="100000" y="60000"/>
                                    </p:animScale>
                                    <p:animScale>
                                      <p:cBhvr>
                                        <p:cTn id="18" dur="166" decel="50000">
                                          <p:stCondLst>
                                            <p:cond delay="676"/>
                                          </p:stCondLst>
                                        </p:cTn>
                                        <p:tgtEl>
                                          <p:spTgt spid="2"/>
                                        </p:tgtEl>
                                      </p:cBhvr>
                                      <p:to x="100000" y="100000"/>
                                    </p:animScale>
                                    <p:animScale>
                                      <p:cBhvr>
                                        <p:cTn id="19" dur="26">
                                          <p:stCondLst>
                                            <p:cond delay="1312"/>
                                          </p:stCondLst>
                                        </p:cTn>
                                        <p:tgtEl>
                                          <p:spTgt spid="2"/>
                                        </p:tgtEl>
                                      </p:cBhvr>
                                      <p:to x="100000" y="80000"/>
                                    </p:animScale>
                                    <p:animScale>
                                      <p:cBhvr>
                                        <p:cTn id="20" dur="166" decel="50000">
                                          <p:stCondLst>
                                            <p:cond delay="1338"/>
                                          </p:stCondLst>
                                        </p:cTn>
                                        <p:tgtEl>
                                          <p:spTgt spid="2"/>
                                        </p:tgtEl>
                                      </p:cBhvr>
                                      <p:to x="100000" y="100000"/>
                                    </p:animScale>
                                    <p:animScale>
                                      <p:cBhvr>
                                        <p:cTn id="21" dur="26">
                                          <p:stCondLst>
                                            <p:cond delay="1642"/>
                                          </p:stCondLst>
                                        </p:cTn>
                                        <p:tgtEl>
                                          <p:spTgt spid="2"/>
                                        </p:tgtEl>
                                      </p:cBhvr>
                                      <p:to x="100000" y="90000"/>
                                    </p:animScale>
                                    <p:animScale>
                                      <p:cBhvr>
                                        <p:cTn id="22" dur="166" decel="50000">
                                          <p:stCondLst>
                                            <p:cond delay="1668"/>
                                          </p:stCondLst>
                                        </p:cTn>
                                        <p:tgtEl>
                                          <p:spTgt spid="2"/>
                                        </p:tgtEl>
                                      </p:cBhvr>
                                      <p:to x="100000" y="100000"/>
                                    </p:animScale>
                                    <p:animScale>
                                      <p:cBhvr>
                                        <p:cTn id="23" dur="26">
                                          <p:stCondLst>
                                            <p:cond delay="1808"/>
                                          </p:stCondLst>
                                        </p:cTn>
                                        <p:tgtEl>
                                          <p:spTgt spid="2"/>
                                        </p:tgtEl>
                                      </p:cBhvr>
                                      <p:to x="100000" y="95000"/>
                                    </p:animScale>
                                    <p:animScale>
                                      <p:cBhvr>
                                        <p:cTn id="24"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Proses Yönetimi</a:t>
            </a:r>
          </a:p>
        </p:txBody>
      </p:sp>
      <p:sp>
        <p:nvSpPr>
          <p:cNvPr id="3" name="2 İçerik Yer Tutucusu"/>
          <p:cNvSpPr>
            <a:spLocks noGrp="1"/>
          </p:cNvSpPr>
          <p:nvPr>
            <p:ph idx="1"/>
          </p:nvPr>
        </p:nvSpPr>
        <p:spPr>
          <a:xfrm>
            <a:off x="428596" y="1643050"/>
            <a:ext cx="8501122" cy="5214950"/>
          </a:xfrm>
        </p:spPr>
        <p:txBody>
          <a:bodyPr>
            <a:normAutofit fontScale="92500" lnSpcReduction="20000"/>
          </a:bodyPr>
          <a:lstStyle/>
          <a:p>
            <a:pPr>
              <a:lnSpc>
                <a:spcPct val="170000"/>
              </a:lnSpc>
            </a:pPr>
            <a:r>
              <a:rPr lang="tr-TR" dirty="0"/>
              <a:t>A.</a:t>
            </a:r>
            <a:r>
              <a:rPr lang="tr-TR" dirty="0" err="1"/>
              <a:t>Smith</a:t>
            </a:r>
            <a:r>
              <a:rPr lang="tr-TR" dirty="0"/>
              <a:t> ’ in iş bölümü (ihtisaslaşma ) ile başlayan  gelişim, C.</a:t>
            </a:r>
            <a:r>
              <a:rPr lang="tr-TR" dirty="0" err="1"/>
              <a:t>Babbage</a:t>
            </a:r>
            <a:r>
              <a:rPr lang="tr-TR" dirty="0"/>
              <a:t> ve Taylor ile devam etmiş, Ford’un seri üretimine gelinmiştir. </a:t>
            </a:r>
          </a:p>
          <a:p>
            <a:pPr>
              <a:lnSpc>
                <a:spcPct val="170000"/>
              </a:lnSpc>
            </a:pPr>
            <a:r>
              <a:rPr lang="tr-TR" dirty="0"/>
              <a:t>Bu dönemin özelliği, ihtisaslaşma, iş basitleştirmesi, zaman – hareket etütleri, standartlaşma yöntemleri ile kitle (seri) üretimi gerçekleştirmek ve verimliliği arttırmaktır. </a:t>
            </a:r>
          </a:p>
          <a:p>
            <a:pPr>
              <a:lnSpc>
                <a:spcPct val="170000"/>
              </a:lnSpc>
            </a:pPr>
            <a:r>
              <a:rPr lang="tr-TR" dirty="0"/>
              <a:t>Bu akım, arzın yönlendirdiği bir endüstri   (Push by the Industry) doğurmuş ve Fordism olarak adlandırılmıştır.</a:t>
            </a:r>
          </a:p>
        </p:txBody>
      </p:sp>
      <p:pic>
        <p:nvPicPr>
          <p:cNvPr id="5" name="4 Resim" descr="kafa.jpg"/>
          <p:cNvPicPr>
            <a:picLocks noChangeAspect="1"/>
          </p:cNvPicPr>
          <p:nvPr/>
        </p:nvPicPr>
        <p:blipFill>
          <a:blip r:embed="rId2" cstate="print"/>
          <a:stretch>
            <a:fillRect/>
          </a:stretch>
        </p:blipFill>
        <p:spPr>
          <a:xfrm>
            <a:off x="6953312" y="-24"/>
            <a:ext cx="2190720" cy="1643040"/>
          </a:xfrm>
          <a:prstGeom prst="rect">
            <a:avLst/>
          </a:prstGeom>
        </p:spPr>
      </p:pic>
    </p:spTree>
    <p:extLst>
      <p:ext uri="{BB962C8B-B14F-4D97-AF65-F5344CB8AC3E}">
        <p14:creationId xmlns:p14="http://schemas.microsoft.com/office/powerpoint/2010/main" val="2916052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Post </a:t>
            </a:r>
            <a:r>
              <a:rPr lang="tr-TR" dirty="0" err="1"/>
              <a:t>Fordism</a:t>
            </a:r>
            <a:endParaRPr lang="tr-TR" dirty="0"/>
          </a:p>
        </p:txBody>
      </p:sp>
      <p:sp>
        <p:nvSpPr>
          <p:cNvPr id="3" name="2 İçerik Yer Tutucusu"/>
          <p:cNvSpPr>
            <a:spLocks noGrp="1"/>
          </p:cNvSpPr>
          <p:nvPr>
            <p:ph idx="1"/>
          </p:nvPr>
        </p:nvSpPr>
        <p:spPr>
          <a:xfrm>
            <a:off x="285720" y="2000240"/>
            <a:ext cx="8572560" cy="4643470"/>
          </a:xfrm>
        </p:spPr>
        <p:txBody>
          <a:bodyPr>
            <a:noAutofit/>
          </a:bodyPr>
          <a:lstStyle/>
          <a:p>
            <a:pPr>
              <a:lnSpc>
                <a:spcPct val="170000"/>
              </a:lnSpc>
            </a:pPr>
            <a:r>
              <a:rPr lang="tr-TR" sz="2000" dirty="0"/>
              <a:t>NC (</a:t>
            </a:r>
            <a:r>
              <a:rPr lang="tr-TR" sz="2000" dirty="0" err="1"/>
              <a:t>Numeric</a:t>
            </a:r>
            <a:r>
              <a:rPr lang="tr-TR" sz="2000" dirty="0"/>
              <a:t> </a:t>
            </a:r>
            <a:r>
              <a:rPr lang="tr-TR" sz="2000" dirty="0" err="1"/>
              <a:t>Control</a:t>
            </a:r>
            <a:r>
              <a:rPr lang="tr-TR" sz="2000" dirty="0"/>
              <a:t>)` ile üretimde otomasyon dönemi başlamıştır.</a:t>
            </a:r>
          </a:p>
          <a:p>
            <a:pPr>
              <a:lnSpc>
                <a:spcPct val="170000"/>
              </a:lnSpc>
            </a:pPr>
            <a:r>
              <a:rPr lang="tr-TR" sz="2000" dirty="0" err="1"/>
              <a:t>Fordism’in</a:t>
            </a:r>
            <a:r>
              <a:rPr lang="tr-TR" sz="2000" dirty="0"/>
              <a:t> getirdiği “</a:t>
            </a:r>
            <a:r>
              <a:rPr lang="tr-TR" sz="2000" dirty="0" err="1"/>
              <a:t>Push</a:t>
            </a:r>
            <a:r>
              <a:rPr lang="tr-TR" sz="2000" dirty="0"/>
              <a:t> </a:t>
            </a:r>
            <a:r>
              <a:rPr lang="tr-TR" sz="2000" dirty="0" err="1"/>
              <a:t>by</a:t>
            </a:r>
            <a:r>
              <a:rPr lang="tr-TR" sz="2000" dirty="0"/>
              <a:t> </a:t>
            </a:r>
            <a:r>
              <a:rPr lang="tr-TR" sz="2000" dirty="0" err="1"/>
              <a:t>the</a:t>
            </a:r>
            <a:r>
              <a:rPr lang="tr-TR" sz="2000" dirty="0"/>
              <a:t> </a:t>
            </a:r>
            <a:r>
              <a:rPr lang="tr-TR" sz="2000" dirty="0" err="1"/>
              <a:t>Industry</a:t>
            </a:r>
            <a:r>
              <a:rPr lang="tr-TR" sz="2000" dirty="0"/>
              <a:t>”, 1980’lere doğru önemini yitirmeye başlamış, talebin yön verdiği ‘</a:t>
            </a:r>
            <a:r>
              <a:rPr lang="tr-TR" sz="2000" dirty="0" err="1"/>
              <a:t>Pull</a:t>
            </a:r>
            <a:r>
              <a:rPr lang="tr-TR" sz="2000" dirty="0"/>
              <a:t> </a:t>
            </a:r>
            <a:r>
              <a:rPr lang="tr-TR" sz="2000" dirty="0" err="1"/>
              <a:t>by</a:t>
            </a:r>
            <a:r>
              <a:rPr lang="tr-TR" sz="2000" dirty="0"/>
              <a:t> </a:t>
            </a:r>
            <a:r>
              <a:rPr lang="tr-TR" sz="2000" dirty="0" err="1"/>
              <a:t>the</a:t>
            </a:r>
            <a:r>
              <a:rPr lang="tr-TR" sz="2000" dirty="0"/>
              <a:t> </a:t>
            </a:r>
            <a:r>
              <a:rPr lang="tr-TR" sz="2000" dirty="0" err="1"/>
              <a:t>Customer</a:t>
            </a:r>
            <a:r>
              <a:rPr lang="tr-TR" sz="2000" dirty="0"/>
              <a:t>’ kavramı üretim endüstrisinde öne çıkmış ve bu döneme de  POST – FORDISM adı yakıştırılmıştır. </a:t>
            </a:r>
          </a:p>
          <a:p>
            <a:pPr>
              <a:lnSpc>
                <a:spcPct val="170000"/>
              </a:lnSpc>
            </a:pPr>
            <a:r>
              <a:rPr lang="tr-TR" sz="2000" dirty="0"/>
              <a:t>Diğer bir deyişle, DOĞRU ÜRÜNÜ, DOĞRU ZAMANDA ve DOĞRU FİYATLA müşteriye ulaştırmak, üretimin amacını oluşturmaktadır.</a:t>
            </a:r>
          </a:p>
        </p:txBody>
      </p:sp>
      <p:pic>
        <p:nvPicPr>
          <p:cNvPr id="4" name="3 Resim" descr="erp.gif"/>
          <p:cNvPicPr>
            <a:picLocks noChangeAspect="1"/>
          </p:cNvPicPr>
          <p:nvPr/>
        </p:nvPicPr>
        <p:blipFill>
          <a:blip r:embed="rId2" cstate="print"/>
          <a:stretch>
            <a:fillRect/>
          </a:stretch>
        </p:blipFill>
        <p:spPr>
          <a:xfrm>
            <a:off x="7000892" y="0"/>
            <a:ext cx="2143108" cy="2119813"/>
          </a:xfrm>
          <a:prstGeom prst="rect">
            <a:avLst/>
          </a:prstGeom>
        </p:spPr>
      </p:pic>
    </p:spTree>
    <p:extLst>
      <p:ext uri="{BB962C8B-B14F-4D97-AF65-F5344CB8AC3E}">
        <p14:creationId xmlns:p14="http://schemas.microsoft.com/office/powerpoint/2010/main" val="1481753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642910" y="0"/>
            <a:ext cx="8043890" cy="1426464"/>
          </a:xfrm>
        </p:spPr>
        <p:txBody>
          <a:bodyPr>
            <a:normAutofit fontScale="90000"/>
          </a:bodyPr>
          <a:lstStyle/>
          <a:p>
            <a:r>
              <a:rPr lang="tr-TR" sz="4400" dirty="0"/>
              <a:t>Makine İnsan Malzeme= Üretim Yönetimi</a:t>
            </a:r>
          </a:p>
        </p:txBody>
      </p:sp>
      <p:sp>
        <p:nvSpPr>
          <p:cNvPr id="3" name="2 İçerik Yer Tutucusu"/>
          <p:cNvSpPr>
            <a:spLocks noGrp="1"/>
          </p:cNvSpPr>
          <p:nvPr>
            <p:ph idx="1"/>
          </p:nvPr>
        </p:nvSpPr>
        <p:spPr>
          <a:xfrm>
            <a:off x="357158" y="1714488"/>
            <a:ext cx="8501122" cy="4857784"/>
          </a:xfrm>
        </p:spPr>
        <p:txBody>
          <a:bodyPr>
            <a:noAutofit/>
          </a:bodyPr>
          <a:lstStyle/>
          <a:p>
            <a:pPr>
              <a:lnSpc>
                <a:spcPct val="170000"/>
              </a:lnSpc>
            </a:pPr>
            <a:r>
              <a:rPr lang="tr-TR" sz="2000" dirty="0"/>
              <a:t>Yine görülmüştür ki, bir ürünü gerçekleştirmede yalnızca üretim süreci değil, diğer süreçlerin de etkisi vardır, ve bu süreçlerin entegre ve koordineli bir şekilde yönetimi gerekmektedir.</a:t>
            </a:r>
          </a:p>
          <a:p>
            <a:pPr>
              <a:lnSpc>
                <a:spcPct val="170000"/>
              </a:lnSpc>
            </a:pPr>
            <a:r>
              <a:rPr lang="tr-TR" sz="2000" dirty="0"/>
              <a:t>Üretim Planlama,</a:t>
            </a:r>
          </a:p>
          <a:p>
            <a:pPr>
              <a:lnSpc>
                <a:spcPct val="170000"/>
              </a:lnSpc>
            </a:pPr>
            <a:r>
              <a:rPr lang="tr-TR" sz="2000" dirty="0"/>
              <a:t>Malzeme Yönetimi,</a:t>
            </a:r>
          </a:p>
          <a:p>
            <a:pPr>
              <a:lnSpc>
                <a:spcPct val="170000"/>
              </a:lnSpc>
            </a:pPr>
            <a:r>
              <a:rPr lang="tr-TR" sz="2000" dirty="0"/>
              <a:t>Kapasite Planlama,</a:t>
            </a:r>
          </a:p>
          <a:p>
            <a:pPr>
              <a:lnSpc>
                <a:spcPct val="170000"/>
              </a:lnSpc>
            </a:pPr>
            <a:r>
              <a:rPr lang="tr-TR" sz="2000" dirty="0"/>
              <a:t>Maliyet,</a:t>
            </a:r>
          </a:p>
          <a:p>
            <a:pPr>
              <a:lnSpc>
                <a:spcPct val="170000"/>
              </a:lnSpc>
            </a:pPr>
            <a:r>
              <a:rPr lang="tr-TR" sz="2000" dirty="0"/>
              <a:t>Ürün Tasarımı gösterilebilir. </a:t>
            </a:r>
          </a:p>
        </p:txBody>
      </p:sp>
    </p:spTree>
    <p:extLst>
      <p:ext uri="{BB962C8B-B14F-4D97-AF65-F5344CB8AC3E}">
        <p14:creationId xmlns:p14="http://schemas.microsoft.com/office/powerpoint/2010/main" val="3000072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3931920"/>
          </a:xfrm>
        </p:spPr>
        <p:txBody>
          <a:bodyPr>
            <a:normAutofit fontScale="55000" lnSpcReduction="20000"/>
          </a:bodyPr>
          <a:lstStyle/>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Sürecin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Tanımı</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Bir</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Süreçten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Beklenen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Özellikler</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Sürecin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Temel</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Unsurları</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Süreç</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Hiyerarşisi</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Süreçlerin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Tanımlanması</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Süreçlerin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Dökümantasyonu</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a:t>
            </a:r>
            <a:r>
              <a:rPr lang="en-US" b="1" dirty="0" err="1">
                <a:effectLst>
                  <a:outerShdw blurRad="38100" dist="38100" dir="2700000" algn="tl">
                    <a:srgbClr val="000000">
                      <a:alpha val="43137"/>
                    </a:srgbClr>
                  </a:outerShdw>
                </a:effectLst>
                <a:latin typeface="Calibri" pitchFamily="34" charset="0"/>
                <a:cs typeface="Calibri" pitchFamily="34" charset="0"/>
              </a:rPr>
              <a:t>Süreçlerin</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İyileştirilmesi</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Süreç</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İyileştirme</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İlkeleri</a:t>
            </a:r>
            <a:endParaRPr lang="en-US"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Süreç</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İyileştirme</a:t>
            </a:r>
            <a:r>
              <a:rPr lang="en-US" b="1" dirty="0">
                <a:effectLst>
                  <a:outerShdw blurRad="38100" dist="38100" dir="2700000" algn="tl">
                    <a:srgbClr val="000000">
                      <a:alpha val="43137"/>
                    </a:srgbClr>
                  </a:outerShdw>
                </a:effectLst>
                <a:latin typeface="Calibri" pitchFamily="34" charset="0"/>
                <a:cs typeface="Calibri" pitchFamily="34" charset="0"/>
              </a:rPr>
              <a:t> </a:t>
            </a:r>
            <a:r>
              <a:rPr lang="en-US" b="1" dirty="0" err="1">
                <a:effectLst>
                  <a:outerShdw blurRad="38100" dist="38100" dir="2700000" algn="tl">
                    <a:srgbClr val="000000">
                      <a:alpha val="43137"/>
                    </a:srgbClr>
                  </a:outerShdw>
                </a:effectLst>
                <a:latin typeface="Calibri" pitchFamily="34" charset="0"/>
                <a:cs typeface="Calibri" pitchFamily="34" charset="0"/>
              </a:rPr>
              <a:t>Yöntemleri</a:t>
            </a:r>
            <a:endParaRPr lang="en-US" b="1" dirty="0">
              <a:effectLst>
                <a:outerShdw blurRad="38100" dist="38100" dir="2700000" algn="tl">
                  <a:srgbClr val="000000">
                    <a:alpha val="43137"/>
                  </a:srgbClr>
                </a:outerShdw>
              </a:effectLst>
              <a:latin typeface="Calibri" pitchFamily="34" charset="0"/>
              <a:cs typeface="Calibri" pitchFamily="34" charset="0"/>
            </a:endParaRPr>
          </a:p>
          <a:p>
            <a:endParaRPr lang="tr-TR" dirty="0"/>
          </a:p>
        </p:txBody>
      </p:sp>
      <p:sp>
        <p:nvSpPr>
          <p:cNvPr id="2" name="Title 1"/>
          <p:cNvSpPr>
            <a:spLocks noGrp="1"/>
          </p:cNvSpPr>
          <p:nvPr>
            <p:ph type="title"/>
          </p:nvPr>
        </p:nvSpPr>
        <p:spPr/>
        <p:txBody>
          <a:bodyPr>
            <a:normAutofit fontScale="90000"/>
          </a:bodyPr>
          <a:lstStyle/>
          <a:p>
            <a:pPr>
              <a:lnSpc>
                <a:spcPct val="150000"/>
              </a:lnSpc>
            </a:pPr>
            <a:r>
              <a:rPr lang="tr-TR" sz="4800" b="1" dirty="0">
                <a:solidFill>
                  <a:schemeClr val="tx1"/>
                </a:solidFill>
                <a:effectLst>
                  <a:outerShdw blurRad="38100" dist="38100" dir="2700000" algn="tl">
                    <a:srgbClr val="000000">
                      <a:alpha val="43137"/>
                    </a:srgbClr>
                  </a:outerShdw>
                </a:effectLst>
                <a:latin typeface="Calibri" pitchFamily="34" charset="0"/>
                <a:cs typeface="Calibri" pitchFamily="34" charset="0"/>
              </a:rPr>
              <a:t>SÜREÇLERLE YÖNETİM</a:t>
            </a:r>
            <a:endParaRPr lang="tr-TR" dirty="0">
              <a:solidFill>
                <a:schemeClr val="tx1"/>
              </a:solidFill>
              <a:effectLst>
                <a:outerShdw blurRad="38100" dist="38100" dir="2700000" algn="tl">
                  <a:srgbClr val="000000">
                    <a:alpha val="43137"/>
                  </a:srgbClr>
                </a:outerShdw>
              </a:effectLst>
              <a:latin typeface="Calibri" pitchFamily="34" charset="0"/>
              <a:cs typeface="Calibri" pitchFamily="34" charset="0"/>
            </a:endParaRPr>
          </a:p>
        </p:txBody>
      </p:sp>
    </p:spTree>
    <p:extLst>
      <p:ext uri="{BB962C8B-B14F-4D97-AF65-F5344CB8AC3E}">
        <p14:creationId xmlns:p14="http://schemas.microsoft.com/office/powerpoint/2010/main" val="2070498114"/>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Oval"/>
          <p:cNvSpPr/>
          <p:nvPr/>
        </p:nvSpPr>
        <p:spPr>
          <a:xfrm>
            <a:off x="323528" y="3140968"/>
            <a:ext cx="2952328" cy="6480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2 İçerik Yer Tutucusu"/>
          <p:cNvSpPr>
            <a:spLocks noGrp="1"/>
          </p:cNvSpPr>
          <p:nvPr>
            <p:ph idx="1"/>
          </p:nvPr>
        </p:nvSpPr>
        <p:spPr/>
        <p:txBody>
          <a:bodyPr>
            <a:normAutofit/>
          </a:bodyPr>
          <a:lstStyle/>
          <a:p>
            <a:pPr>
              <a:buNone/>
            </a:pPr>
            <a:r>
              <a:rPr lang="tr-TR" dirty="0"/>
              <a:t>Müşteri odaklılık</a:t>
            </a:r>
          </a:p>
          <a:p>
            <a:pPr>
              <a:buNone/>
            </a:pPr>
            <a:r>
              <a:rPr lang="tr-TR" dirty="0"/>
              <a:t>Liderlik</a:t>
            </a:r>
          </a:p>
          <a:p>
            <a:pPr>
              <a:buNone/>
            </a:pPr>
            <a:r>
              <a:rPr lang="tr-TR" dirty="0"/>
              <a:t>Kişilerin katılımı</a:t>
            </a:r>
          </a:p>
          <a:p>
            <a:pPr>
              <a:buNone/>
            </a:pPr>
            <a:r>
              <a:rPr lang="tr-TR" dirty="0"/>
              <a:t>Süreç yaklaşımı</a:t>
            </a:r>
          </a:p>
          <a:p>
            <a:pPr>
              <a:buNone/>
            </a:pPr>
            <a:r>
              <a:rPr lang="tr-TR" dirty="0"/>
              <a:t>Yönetimde sistem yaklaşımı</a:t>
            </a:r>
          </a:p>
          <a:p>
            <a:pPr>
              <a:buNone/>
            </a:pPr>
            <a:r>
              <a:rPr lang="tr-TR" dirty="0"/>
              <a:t>Sürekli iyileştirme</a:t>
            </a:r>
          </a:p>
          <a:p>
            <a:pPr>
              <a:buNone/>
            </a:pPr>
            <a:r>
              <a:rPr lang="tr-TR" dirty="0"/>
              <a:t>Karar vermede gerçekçi yaklaşım</a:t>
            </a:r>
          </a:p>
          <a:p>
            <a:pPr>
              <a:buNone/>
            </a:pPr>
            <a:r>
              <a:rPr lang="tr-TR" dirty="0"/>
              <a:t>Karşılıklı yarara dayalı tedarikçi ilişkileri</a:t>
            </a:r>
          </a:p>
        </p:txBody>
      </p:sp>
      <p:sp>
        <p:nvSpPr>
          <p:cNvPr id="2" name="1 Başlık"/>
          <p:cNvSpPr>
            <a:spLocks noGrp="1"/>
          </p:cNvSpPr>
          <p:nvPr>
            <p:ph type="title"/>
          </p:nvPr>
        </p:nvSpPr>
        <p:spPr/>
        <p:txBody>
          <a:bodyPr/>
          <a:lstStyle/>
          <a:p>
            <a:r>
              <a:rPr lang="tr-TR" dirty="0"/>
              <a:t>8 KALİTE YÖNETİM PRENSİBİ</a:t>
            </a:r>
          </a:p>
        </p:txBody>
      </p:sp>
      <p:sp>
        <p:nvSpPr>
          <p:cNvPr id="4" name="3 Dikdörtgen"/>
          <p:cNvSpPr/>
          <p:nvPr/>
        </p:nvSpPr>
        <p:spPr>
          <a:xfrm>
            <a:off x="4788024" y="1628800"/>
            <a:ext cx="4068960"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u="sng" dirty="0"/>
              <a:t>Süreç Yaklaşımı</a:t>
            </a:r>
          </a:p>
          <a:p>
            <a:pPr algn="ctr"/>
            <a:r>
              <a:rPr lang="tr-TR" dirty="0"/>
              <a:t>Arzulanan bir sonuç, faaliyetler ve ilgili kaynaklar bir süreç olarak yönetildiği zaman daha verimli olarak elde edilir</a:t>
            </a:r>
          </a:p>
        </p:txBody>
      </p:sp>
      <p:cxnSp>
        <p:nvCxnSpPr>
          <p:cNvPr id="7" name="6 Düz Ok Bağlayıcısı"/>
          <p:cNvCxnSpPr/>
          <p:nvPr/>
        </p:nvCxnSpPr>
        <p:spPr>
          <a:xfrm rot="10800000" flipV="1">
            <a:off x="3275856" y="2780928"/>
            <a:ext cx="1512168" cy="576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289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Oval"/>
          <p:cNvSpPr/>
          <p:nvPr/>
        </p:nvSpPr>
        <p:spPr>
          <a:xfrm>
            <a:off x="611560" y="3861048"/>
            <a:ext cx="3960440"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2 İçerik Yer Tutucusu"/>
          <p:cNvSpPr>
            <a:spLocks noGrp="1"/>
          </p:cNvSpPr>
          <p:nvPr>
            <p:ph idx="1"/>
          </p:nvPr>
        </p:nvSpPr>
        <p:spPr/>
        <p:txBody>
          <a:bodyPr>
            <a:normAutofit/>
          </a:bodyPr>
          <a:lstStyle/>
          <a:p>
            <a:pPr>
              <a:lnSpc>
                <a:spcPct val="150000"/>
              </a:lnSpc>
              <a:spcBef>
                <a:spcPts val="0"/>
              </a:spcBef>
            </a:pPr>
            <a:r>
              <a:rPr lang="tr-TR" sz="2400" dirty="0"/>
              <a:t>Müşteri odaklık</a:t>
            </a:r>
          </a:p>
          <a:p>
            <a:pPr>
              <a:lnSpc>
                <a:spcPct val="150000"/>
              </a:lnSpc>
              <a:spcBef>
                <a:spcPts val="0"/>
              </a:spcBef>
            </a:pPr>
            <a:r>
              <a:rPr lang="tr-TR" sz="2400" dirty="0"/>
              <a:t>Liderlik                               </a:t>
            </a:r>
          </a:p>
          <a:p>
            <a:pPr>
              <a:lnSpc>
                <a:spcPct val="150000"/>
              </a:lnSpc>
              <a:spcBef>
                <a:spcPts val="0"/>
              </a:spcBef>
            </a:pPr>
            <a:r>
              <a:rPr lang="tr-TR" sz="2400" dirty="0"/>
              <a:t>Kişilerin katılımı</a:t>
            </a:r>
          </a:p>
          <a:p>
            <a:pPr>
              <a:lnSpc>
                <a:spcPct val="150000"/>
              </a:lnSpc>
              <a:spcBef>
                <a:spcPts val="0"/>
              </a:spcBef>
            </a:pPr>
            <a:r>
              <a:rPr lang="tr-TR" sz="2400" dirty="0"/>
              <a:t>Süreç yaklaşımı</a:t>
            </a:r>
          </a:p>
          <a:p>
            <a:pPr>
              <a:lnSpc>
                <a:spcPct val="150000"/>
              </a:lnSpc>
              <a:spcBef>
                <a:spcPts val="0"/>
              </a:spcBef>
            </a:pPr>
            <a:r>
              <a:rPr lang="tr-TR" sz="2400" dirty="0"/>
              <a:t>Yönetimde sistem yaklaşımı</a:t>
            </a:r>
          </a:p>
          <a:p>
            <a:pPr>
              <a:lnSpc>
                <a:spcPct val="150000"/>
              </a:lnSpc>
              <a:spcBef>
                <a:spcPts val="0"/>
              </a:spcBef>
            </a:pPr>
            <a:r>
              <a:rPr lang="tr-TR" sz="2400" dirty="0"/>
              <a:t>Sürekli iyileştirme</a:t>
            </a:r>
          </a:p>
          <a:p>
            <a:pPr>
              <a:lnSpc>
                <a:spcPct val="150000"/>
              </a:lnSpc>
              <a:spcBef>
                <a:spcPts val="0"/>
              </a:spcBef>
            </a:pPr>
            <a:r>
              <a:rPr lang="tr-TR" sz="2400" dirty="0"/>
              <a:t>Karar vermede </a:t>
            </a:r>
            <a:r>
              <a:rPr lang="tr-TR" sz="2400" dirty="0" err="1"/>
              <a:t>gerçekci</a:t>
            </a:r>
            <a:r>
              <a:rPr lang="tr-TR" sz="2400" dirty="0"/>
              <a:t> yaklaşım</a:t>
            </a:r>
          </a:p>
          <a:p>
            <a:pPr>
              <a:lnSpc>
                <a:spcPct val="150000"/>
              </a:lnSpc>
              <a:spcBef>
                <a:spcPts val="0"/>
              </a:spcBef>
            </a:pPr>
            <a:r>
              <a:rPr lang="tr-TR" sz="2400" dirty="0"/>
              <a:t>Karşılıklı yarara dayalı tedarikçi ilişkileri</a:t>
            </a:r>
          </a:p>
        </p:txBody>
      </p:sp>
      <p:sp>
        <p:nvSpPr>
          <p:cNvPr id="2" name="1 Başlık"/>
          <p:cNvSpPr>
            <a:spLocks noGrp="1"/>
          </p:cNvSpPr>
          <p:nvPr>
            <p:ph type="title"/>
          </p:nvPr>
        </p:nvSpPr>
        <p:spPr/>
        <p:txBody>
          <a:bodyPr>
            <a:normAutofit fontScale="90000"/>
          </a:bodyPr>
          <a:lstStyle/>
          <a:p>
            <a:r>
              <a:rPr lang="tr-TR" dirty="0"/>
              <a:t>8 KALİTE YÖNETİM PRENSİBİ</a:t>
            </a:r>
            <a:br>
              <a:rPr lang="tr-TR" dirty="0"/>
            </a:br>
            <a:endParaRPr lang="tr-TR" dirty="0"/>
          </a:p>
        </p:txBody>
      </p:sp>
      <p:sp>
        <p:nvSpPr>
          <p:cNvPr id="5" name="4 Dikdörtgen"/>
          <p:cNvSpPr/>
          <p:nvPr/>
        </p:nvSpPr>
        <p:spPr>
          <a:xfrm>
            <a:off x="4211960" y="1556792"/>
            <a:ext cx="4464496"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u="sng" dirty="0"/>
              <a:t>Sistem Yaklaşımı</a:t>
            </a:r>
          </a:p>
          <a:p>
            <a:pPr algn="ctr"/>
            <a:r>
              <a:rPr lang="tr-TR" dirty="0"/>
              <a:t>Birbirleri ile ilişkili süreçlerin bir sistem olarak tanımlanması, anlaşılması ve yönetilmesi hedeflerin başarılmasında kuruluşun </a:t>
            </a:r>
            <a:r>
              <a:rPr lang="tr-TR" dirty="0" err="1"/>
              <a:t>etkinlikiğineve</a:t>
            </a:r>
            <a:r>
              <a:rPr lang="tr-TR" dirty="0"/>
              <a:t> verimliliğine katkı yapar </a:t>
            </a:r>
          </a:p>
        </p:txBody>
      </p:sp>
      <p:cxnSp>
        <p:nvCxnSpPr>
          <p:cNvPr id="8" name="7 Düz Bağlayıcı"/>
          <p:cNvCxnSpPr/>
          <p:nvPr/>
        </p:nvCxnSpPr>
        <p:spPr>
          <a:xfrm rot="5400000">
            <a:off x="3275856" y="2996952"/>
            <a:ext cx="1152128" cy="72008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16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dirty="0"/>
              <a:t>SİSTEM YAKLAŞIMI (Closed Loop)</a:t>
            </a:r>
          </a:p>
        </p:txBody>
      </p:sp>
      <p:sp>
        <p:nvSpPr>
          <p:cNvPr id="5" name="4 Dikdörtgen"/>
          <p:cNvSpPr/>
          <p:nvPr/>
        </p:nvSpPr>
        <p:spPr>
          <a:xfrm>
            <a:off x="7308304" y="0"/>
            <a:ext cx="7200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8" name="Picture 2" descr="White Paper: Closing the Loop in Medication Management"/>
          <p:cNvPicPr>
            <a:picLocks noChangeAspect="1" noChangeArrowheads="1"/>
          </p:cNvPicPr>
          <p:nvPr/>
        </p:nvPicPr>
        <p:blipFill>
          <a:blip r:embed="rId2" cstate="print"/>
          <a:srcRect/>
          <a:stretch>
            <a:fillRect/>
          </a:stretch>
        </p:blipFill>
        <p:spPr bwMode="auto">
          <a:xfrm>
            <a:off x="1285852" y="1714488"/>
            <a:ext cx="6786610" cy="4875644"/>
          </a:xfrm>
          <a:prstGeom prst="rect">
            <a:avLst/>
          </a:prstGeom>
          <a:noFill/>
        </p:spPr>
      </p:pic>
    </p:spTree>
    <p:extLst>
      <p:ext uri="{BB962C8B-B14F-4D97-AF65-F5344CB8AC3E}">
        <p14:creationId xmlns:p14="http://schemas.microsoft.com/office/powerpoint/2010/main" val="137419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4)">
                                      <p:cBhvr>
                                        <p:cTn id="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1 Başlık"/>
          <p:cNvSpPr>
            <a:spLocks noGrp="1"/>
          </p:cNvSpPr>
          <p:nvPr>
            <p:ph type="ctrTitle"/>
          </p:nvPr>
        </p:nvSpPr>
        <p:spPr/>
        <p:txBody>
          <a:bodyPr>
            <a:normAutofit/>
          </a:bodyPr>
          <a:lstStyle/>
          <a:p>
            <a:r>
              <a:rPr lang="tr-TR" dirty="0"/>
              <a:t>BÖLÜM 2</a:t>
            </a:r>
            <a:br>
              <a:rPr lang="tr-TR" dirty="0"/>
            </a:br>
            <a:endParaRPr lang="tr-TR" dirty="0"/>
          </a:p>
        </p:txBody>
      </p:sp>
      <p:sp>
        <p:nvSpPr>
          <p:cNvPr id="3" name="2 İçerik Yer Tutucusu"/>
          <p:cNvSpPr>
            <a:spLocks noGrp="1"/>
          </p:cNvSpPr>
          <p:nvPr>
            <p:ph type="subTitle" idx="1"/>
          </p:nvPr>
        </p:nvSpPr>
        <p:spPr/>
        <p:txBody>
          <a:bodyPr>
            <a:normAutofit fontScale="25000" lnSpcReduction="20000"/>
          </a:bodyPr>
          <a:lstStyle/>
          <a:p>
            <a:pPr>
              <a:buNone/>
            </a:pPr>
            <a:endParaRPr lang="tr-TR" dirty="0"/>
          </a:p>
          <a:p>
            <a:pPr>
              <a:buNone/>
            </a:pPr>
            <a:endParaRPr lang="tr-TR" dirty="0"/>
          </a:p>
          <a:p>
            <a:pPr algn="ctr">
              <a:buNone/>
            </a:pPr>
            <a:r>
              <a:rPr lang="tr-TR" sz="12800" dirty="0"/>
              <a:t>    </a:t>
            </a:r>
            <a:r>
              <a:rPr lang="tr-TR" sz="17600" dirty="0"/>
              <a:t>TANIMLAR VE KAVRAMLAR</a:t>
            </a:r>
          </a:p>
          <a:p>
            <a:pPr>
              <a:buNone/>
            </a:pPr>
            <a:endParaRPr lang="tr-TR" dirty="0"/>
          </a:p>
        </p:txBody>
      </p:sp>
    </p:spTree>
    <p:extLst>
      <p:ext uri="{BB962C8B-B14F-4D97-AF65-F5344CB8AC3E}">
        <p14:creationId xmlns:p14="http://schemas.microsoft.com/office/powerpoint/2010/main" val="288305294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b="1" dirty="0">
                <a:latin typeface="Calibri" pitchFamily="34" charset="0"/>
                <a:cs typeface="Calibri" pitchFamily="34" charset="0"/>
              </a:rPr>
              <a:t>Süreç =/= Süre</a:t>
            </a:r>
            <a:br>
              <a:rPr lang="tr-TR" b="1" dirty="0">
                <a:latin typeface="Calibri" pitchFamily="34" charset="0"/>
                <a:cs typeface="Calibri" pitchFamily="34" charset="0"/>
              </a:rPr>
            </a:br>
            <a:r>
              <a:rPr lang="tr-TR" b="1" dirty="0">
                <a:latin typeface="Calibri" pitchFamily="34" charset="0"/>
                <a:cs typeface="Calibri" pitchFamily="34" charset="0"/>
              </a:rPr>
              <a:t>Process =/= Time</a:t>
            </a:r>
            <a:endParaRPr lang="tr-TR" dirty="0">
              <a:latin typeface="Calibri" pitchFamily="34" charset="0"/>
              <a:cs typeface="Calibri" pitchFamily="34" charset="0"/>
            </a:endParaRPr>
          </a:p>
        </p:txBody>
      </p:sp>
      <p:sp>
        <p:nvSpPr>
          <p:cNvPr id="3" name="Content Placeholder 2"/>
          <p:cNvSpPr>
            <a:spLocks noGrp="1"/>
          </p:cNvSpPr>
          <p:nvPr>
            <p:ph sz="quarter" idx="1"/>
          </p:nvPr>
        </p:nvSpPr>
        <p:spPr>
          <a:xfrm>
            <a:off x="612648" y="1772920"/>
            <a:ext cx="8153400" cy="4495800"/>
          </a:xfrm>
        </p:spPr>
        <p:txBody>
          <a:bodyPr>
            <a:normAutofit/>
          </a:bodyPr>
          <a:lstStyle/>
          <a:p>
            <a:pPr marL="342900" indent="-342900">
              <a:lnSpc>
                <a:spcPct val="200000"/>
              </a:lnSpc>
              <a:buFont typeface="Arial" pitchFamily="34" charset="0"/>
              <a:buChar char="•"/>
            </a:pPr>
            <a:r>
              <a:rPr lang="en-US" sz="2400" b="1" dirty="0" err="1">
                <a:effectLst>
                  <a:outerShdw blurRad="38100" dist="38100" dir="2700000" algn="tl">
                    <a:srgbClr val="000000">
                      <a:alpha val="43137"/>
                    </a:srgbClr>
                  </a:outerShdw>
                </a:effectLst>
                <a:latin typeface="Calibri" pitchFamily="34" charset="0"/>
                <a:cs typeface="Calibri" pitchFamily="34" charset="0"/>
              </a:rPr>
              <a:t>Kaynakları</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kullanan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ve</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girdilerin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çıktılara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dönüşümünün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sağlanması</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için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yönetilen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faaliyet</a:t>
            </a:r>
            <a:r>
              <a:rPr lang="en-US" sz="2400" b="1" dirty="0">
                <a:effectLst>
                  <a:outerShdw blurRad="38100" dist="38100" dir="2700000" algn="tl">
                    <a:srgbClr val="000000">
                      <a:alpha val="43137"/>
                    </a:srgbClr>
                  </a:outerShdw>
                </a:effectLst>
                <a:latin typeface="Calibri" pitchFamily="34" charset="0"/>
                <a:cs typeface="Calibri" pitchFamily="34" charset="0"/>
              </a:rPr>
              <a:t> (ISO 9001:2008).</a:t>
            </a:r>
            <a:endParaRPr lang="tr-TR" sz="2400" b="1" dirty="0">
              <a:effectLst>
                <a:outerShdw blurRad="38100" dist="38100" dir="2700000" algn="tl">
                  <a:srgbClr val="000000">
                    <a:alpha val="43137"/>
                  </a:srgbClr>
                </a:outerShdw>
              </a:effectLst>
              <a:latin typeface="Calibri" pitchFamily="34" charset="0"/>
              <a:cs typeface="Calibri" pitchFamily="34" charset="0"/>
            </a:endParaRPr>
          </a:p>
          <a:p>
            <a:pPr marL="342900" indent="-342900">
              <a:lnSpc>
                <a:spcPct val="200000"/>
              </a:lnSpc>
              <a:buFont typeface="Arial" pitchFamily="34" charset="0"/>
              <a:buChar char="•"/>
            </a:pPr>
            <a:r>
              <a:rPr lang="en-US" sz="2400" b="1" dirty="0" err="1">
                <a:effectLst>
                  <a:outerShdw blurRad="38100" dist="38100" dir="2700000" algn="tl">
                    <a:srgbClr val="000000">
                      <a:alpha val="43137"/>
                    </a:srgbClr>
                  </a:outerShdw>
                </a:effectLst>
                <a:latin typeface="Calibri" pitchFamily="34" charset="0"/>
                <a:cs typeface="Calibri" pitchFamily="34" charset="0"/>
              </a:rPr>
              <a:t>Girdileri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çıktılara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dönüştüren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birbirleriyle</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ilişkili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veya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etkileşimli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faaliyetler</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takımıdır</a:t>
            </a:r>
            <a:r>
              <a:rPr lang="en-US" sz="2400" b="1" dirty="0">
                <a:effectLst>
                  <a:outerShdw blurRad="38100" dist="38100" dir="2700000" algn="tl">
                    <a:srgbClr val="000000">
                      <a:alpha val="43137"/>
                    </a:srgbClr>
                  </a:outerShdw>
                </a:effectLst>
                <a:latin typeface="Calibri" pitchFamily="34" charset="0"/>
                <a:cs typeface="Calibri" pitchFamily="34" charset="0"/>
              </a:rPr>
              <a:t>.</a:t>
            </a:r>
            <a:endParaRPr lang="tr-TR" sz="2400" dirty="0"/>
          </a:p>
        </p:txBody>
      </p:sp>
    </p:spTree>
    <p:extLst>
      <p:ext uri="{BB962C8B-B14F-4D97-AF65-F5344CB8AC3E}">
        <p14:creationId xmlns:p14="http://schemas.microsoft.com/office/powerpoint/2010/main" val="1117355142"/>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a:off x="1071538" y="3422338"/>
            <a:ext cx="2357454"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215074" y="3422656"/>
            <a:ext cx="1928826"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289358" y="1982817"/>
            <a:ext cx="1778938"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tr-TR" sz="2400" b="1" dirty="0"/>
              <a:t>girdi</a:t>
            </a:r>
          </a:p>
        </p:txBody>
      </p:sp>
      <p:sp>
        <p:nvSpPr>
          <p:cNvPr id="11" name="TextBox 10"/>
          <p:cNvSpPr txBox="1"/>
          <p:nvPr/>
        </p:nvSpPr>
        <p:spPr>
          <a:xfrm>
            <a:off x="6467659" y="2007602"/>
            <a:ext cx="1423656"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tr-TR" sz="2400" b="1" dirty="0"/>
              <a:t>çıktı</a:t>
            </a:r>
          </a:p>
        </p:txBody>
      </p:sp>
      <p:sp>
        <p:nvSpPr>
          <p:cNvPr id="12" name="TextBox 11"/>
          <p:cNvSpPr txBox="1"/>
          <p:nvPr/>
        </p:nvSpPr>
        <p:spPr>
          <a:xfrm>
            <a:off x="1643042" y="3493776"/>
            <a:ext cx="1303358" cy="369332"/>
          </a:xfrm>
          <a:prstGeom prst="rect">
            <a:avLst/>
          </a:prstGeom>
          <a:noFill/>
        </p:spPr>
        <p:txBody>
          <a:bodyPr wrap="square" rtlCol="0">
            <a:spAutoFit/>
          </a:bodyPr>
          <a:lstStyle/>
          <a:p>
            <a:r>
              <a:rPr lang="tr-TR" b="1" dirty="0"/>
              <a:t>malzeme</a:t>
            </a:r>
          </a:p>
        </p:txBody>
      </p:sp>
      <p:sp>
        <p:nvSpPr>
          <p:cNvPr id="14" name="TextBox 13"/>
          <p:cNvSpPr txBox="1"/>
          <p:nvPr/>
        </p:nvSpPr>
        <p:spPr>
          <a:xfrm>
            <a:off x="1643042" y="3850966"/>
            <a:ext cx="857256" cy="369332"/>
          </a:xfrm>
          <a:prstGeom prst="rect">
            <a:avLst/>
          </a:prstGeom>
          <a:noFill/>
        </p:spPr>
        <p:txBody>
          <a:bodyPr wrap="square" rtlCol="0">
            <a:spAutoFit/>
          </a:bodyPr>
          <a:lstStyle/>
          <a:p>
            <a:r>
              <a:rPr lang="tr-TR" b="1" dirty="0"/>
              <a:t>insan</a:t>
            </a:r>
          </a:p>
        </p:txBody>
      </p:sp>
      <p:sp>
        <p:nvSpPr>
          <p:cNvPr id="15" name="TextBox 14"/>
          <p:cNvSpPr txBox="1"/>
          <p:nvPr/>
        </p:nvSpPr>
        <p:spPr>
          <a:xfrm>
            <a:off x="1643042" y="4565346"/>
            <a:ext cx="1071570" cy="369332"/>
          </a:xfrm>
          <a:prstGeom prst="rect">
            <a:avLst/>
          </a:prstGeom>
          <a:noFill/>
        </p:spPr>
        <p:txBody>
          <a:bodyPr wrap="square" rtlCol="0">
            <a:spAutoFit/>
          </a:bodyPr>
          <a:lstStyle/>
          <a:p>
            <a:r>
              <a:rPr lang="tr-TR" b="1" dirty="0"/>
              <a:t>para</a:t>
            </a:r>
          </a:p>
        </p:txBody>
      </p:sp>
      <p:sp>
        <p:nvSpPr>
          <p:cNvPr id="17" name="TextBox 16"/>
          <p:cNvSpPr txBox="1"/>
          <p:nvPr/>
        </p:nvSpPr>
        <p:spPr>
          <a:xfrm>
            <a:off x="1643042" y="4922536"/>
            <a:ext cx="857256" cy="369332"/>
          </a:xfrm>
          <a:prstGeom prst="rect">
            <a:avLst/>
          </a:prstGeom>
          <a:noFill/>
        </p:spPr>
        <p:txBody>
          <a:bodyPr wrap="square" rtlCol="0">
            <a:spAutoFit/>
          </a:bodyPr>
          <a:lstStyle/>
          <a:p>
            <a:r>
              <a:rPr lang="tr-TR" b="1" dirty="0"/>
              <a:t>bina</a:t>
            </a:r>
          </a:p>
        </p:txBody>
      </p:sp>
      <p:sp>
        <p:nvSpPr>
          <p:cNvPr id="18" name="TextBox 17"/>
          <p:cNvSpPr txBox="1"/>
          <p:nvPr/>
        </p:nvSpPr>
        <p:spPr>
          <a:xfrm>
            <a:off x="1643042" y="4208156"/>
            <a:ext cx="1000132" cy="369332"/>
          </a:xfrm>
          <a:prstGeom prst="rect">
            <a:avLst/>
          </a:prstGeom>
          <a:noFill/>
        </p:spPr>
        <p:txBody>
          <a:bodyPr wrap="square" rtlCol="0">
            <a:spAutoFit/>
          </a:bodyPr>
          <a:lstStyle/>
          <a:p>
            <a:r>
              <a:rPr lang="tr-TR" b="1" dirty="0"/>
              <a:t>makina</a:t>
            </a:r>
          </a:p>
        </p:txBody>
      </p:sp>
      <p:sp>
        <p:nvSpPr>
          <p:cNvPr id="19" name="TextBox 18"/>
          <p:cNvSpPr txBox="1"/>
          <p:nvPr/>
        </p:nvSpPr>
        <p:spPr>
          <a:xfrm>
            <a:off x="1643042" y="5279726"/>
            <a:ext cx="928694" cy="369332"/>
          </a:xfrm>
          <a:prstGeom prst="rect">
            <a:avLst/>
          </a:prstGeom>
          <a:noFill/>
        </p:spPr>
        <p:txBody>
          <a:bodyPr wrap="square" rtlCol="0">
            <a:spAutoFit/>
          </a:bodyPr>
          <a:lstStyle/>
          <a:p>
            <a:r>
              <a:rPr lang="tr-TR" b="1" dirty="0"/>
              <a:t>bilgi</a:t>
            </a:r>
          </a:p>
        </p:txBody>
      </p:sp>
      <p:sp>
        <p:nvSpPr>
          <p:cNvPr id="20" name="TextBox 19"/>
          <p:cNvSpPr txBox="1"/>
          <p:nvPr/>
        </p:nvSpPr>
        <p:spPr>
          <a:xfrm>
            <a:off x="6357950" y="3708090"/>
            <a:ext cx="1857388" cy="369332"/>
          </a:xfrm>
          <a:prstGeom prst="rect">
            <a:avLst/>
          </a:prstGeom>
          <a:noFill/>
        </p:spPr>
        <p:txBody>
          <a:bodyPr wrap="square" rtlCol="0">
            <a:spAutoFit/>
          </a:bodyPr>
          <a:lstStyle/>
          <a:p>
            <a:r>
              <a:rPr lang="tr-TR" b="1" dirty="0"/>
              <a:t>mal veya hizmet</a:t>
            </a:r>
          </a:p>
        </p:txBody>
      </p:sp>
      <p:sp>
        <p:nvSpPr>
          <p:cNvPr id="22" name="Title 21"/>
          <p:cNvSpPr>
            <a:spLocks noGrp="1"/>
          </p:cNvSpPr>
          <p:nvPr>
            <p:ph type="title"/>
          </p:nvPr>
        </p:nvSpPr>
        <p:spPr/>
        <p:txBody>
          <a:bodyPr anchor="ctr"/>
          <a:lstStyle/>
          <a:p>
            <a:pPr algn="ctr"/>
            <a:r>
              <a:rPr lang="tr-TR" sz="4800" b="1" dirty="0">
                <a:solidFill>
                  <a:schemeClr val="tx1"/>
                </a:solidFill>
                <a:latin typeface="Calibri" pitchFamily="34" charset="0"/>
                <a:cs typeface="Calibri" pitchFamily="34" charset="0"/>
              </a:rPr>
              <a:t>Process ??</a:t>
            </a:r>
            <a:endParaRPr lang="en-US" sz="4800" b="1" dirty="0">
              <a:solidFill>
                <a:schemeClr val="tx1"/>
              </a:solidFill>
              <a:latin typeface="Calibri" pitchFamily="34" charset="0"/>
              <a:cs typeface="Calibri" pitchFamily="34" charset="0"/>
            </a:endParaRPr>
          </a:p>
        </p:txBody>
      </p:sp>
      <p:sp>
        <p:nvSpPr>
          <p:cNvPr id="23" name="TextBox 22"/>
          <p:cNvSpPr txBox="1"/>
          <p:nvPr/>
        </p:nvSpPr>
        <p:spPr>
          <a:xfrm>
            <a:off x="3428992" y="1747520"/>
            <a:ext cx="2786082"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tr-TR" sz="2400" b="1" dirty="0"/>
              <a:t>KAYNAK</a:t>
            </a:r>
          </a:p>
        </p:txBody>
      </p:sp>
      <p:sp>
        <p:nvSpPr>
          <p:cNvPr id="24" name="TextBox 23"/>
          <p:cNvSpPr txBox="1"/>
          <p:nvPr/>
        </p:nvSpPr>
        <p:spPr>
          <a:xfrm>
            <a:off x="3428993" y="4630148"/>
            <a:ext cx="2786082" cy="1015663"/>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tr-TR" sz="2000" b="1" dirty="0">
                <a:solidFill>
                  <a:srgbClr val="FF0000"/>
                </a:solidFill>
              </a:rPr>
              <a:t>Doğal Kaynaklar</a:t>
            </a:r>
          </a:p>
          <a:p>
            <a:pPr algn="ctr"/>
            <a:r>
              <a:rPr lang="tr-TR" sz="2000" b="1" dirty="0"/>
              <a:t>İnsan, Taşınır, Taşınmaz, Zaman</a:t>
            </a:r>
          </a:p>
        </p:txBody>
      </p:sp>
      <p:sp>
        <p:nvSpPr>
          <p:cNvPr id="2" name="Rectangle 1"/>
          <p:cNvSpPr/>
          <p:nvPr/>
        </p:nvSpPr>
        <p:spPr>
          <a:xfrm>
            <a:off x="1048120" y="3053006"/>
            <a:ext cx="2047099" cy="369332"/>
          </a:xfrm>
          <a:prstGeom prst="rect">
            <a:avLst/>
          </a:prstGeom>
        </p:spPr>
        <p:txBody>
          <a:bodyPr wrap="none">
            <a:spAutoFit/>
          </a:bodyPr>
          <a:lstStyle/>
          <a:p>
            <a:r>
              <a:rPr lang="tr-TR" dirty="0"/>
              <a:t>Pull by the Customer</a:t>
            </a:r>
          </a:p>
        </p:txBody>
      </p:sp>
      <p:sp>
        <p:nvSpPr>
          <p:cNvPr id="26" name="Content Placeholder 2"/>
          <p:cNvSpPr>
            <a:spLocks noGrp="1"/>
          </p:cNvSpPr>
          <p:nvPr>
            <p:ph sz="quarter" idx="1"/>
          </p:nvPr>
        </p:nvSpPr>
        <p:spPr>
          <a:xfrm>
            <a:off x="3428992" y="2469267"/>
            <a:ext cx="2786081" cy="2002409"/>
          </a:xfrm>
        </p:spPr>
        <p:style>
          <a:lnRef idx="0">
            <a:schemeClr val="accent4"/>
          </a:lnRef>
          <a:fillRef idx="3">
            <a:schemeClr val="accent4"/>
          </a:fillRef>
          <a:effectRef idx="3">
            <a:schemeClr val="accent4"/>
          </a:effectRef>
          <a:fontRef idx="minor">
            <a:schemeClr val="lt1"/>
          </a:fontRef>
        </p:style>
        <p:txBody>
          <a:bodyPr>
            <a:normAutofit/>
          </a:bodyPr>
          <a:lstStyle/>
          <a:p>
            <a:r>
              <a:rPr lang="tr-TR" sz="1800" b="1" dirty="0">
                <a:effectLst>
                  <a:outerShdw blurRad="38100" dist="38100" dir="2700000" algn="tl">
                    <a:srgbClr val="000000">
                      <a:alpha val="43137"/>
                    </a:srgbClr>
                  </a:outerShdw>
                </a:effectLst>
                <a:latin typeface="Calibri" pitchFamily="34" charset="0"/>
                <a:cs typeface="Calibri" pitchFamily="34" charset="0"/>
              </a:rPr>
              <a:t>DÖNÜŞÜM KATMANI</a:t>
            </a:r>
          </a:p>
          <a:p>
            <a:r>
              <a:rPr lang="tr-TR" sz="1800" b="1" dirty="0">
                <a:effectLst>
                  <a:outerShdw blurRad="38100" dist="38100" dir="2700000" algn="tl">
                    <a:srgbClr val="000000">
                      <a:alpha val="43137"/>
                    </a:srgbClr>
                  </a:outerShdw>
                </a:effectLst>
                <a:latin typeface="Calibri" pitchFamily="34" charset="0"/>
                <a:cs typeface="Calibri" pitchFamily="34" charset="0"/>
              </a:rPr>
              <a:t>Fiziksel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Konumsal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Değersel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Bilgisel Dönüşüm</a:t>
            </a:r>
            <a:endParaRPr lang="tr-TR" sz="1800" dirty="0"/>
          </a:p>
        </p:txBody>
      </p:sp>
    </p:spTree>
    <p:extLst>
      <p:ext uri="{BB962C8B-B14F-4D97-AF65-F5344CB8AC3E}">
        <p14:creationId xmlns:p14="http://schemas.microsoft.com/office/powerpoint/2010/main" val="166418983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P spid="15" grpId="0"/>
      <p:bldP spid="17" grpId="0"/>
      <p:bldP spid="18" grpId="0"/>
      <p:bldP spid="19" grpId="0"/>
      <p:bldP spid="20" grpId="0"/>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381000" y="3952623"/>
            <a:ext cx="8302625" cy="539251"/>
          </a:xfrm>
          <a:prstGeom prst="rect">
            <a:avLst/>
          </a:prstGeom>
          <a:noFill/>
          <a:ln w="9525">
            <a:noFill/>
            <a:miter lim="800000"/>
            <a:headEnd/>
            <a:tailEnd/>
          </a:ln>
        </p:spPr>
        <p:txBody>
          <a:bodyPr wrap="square" lIns="92075" tIns="46038" rIns="92075" bIns="46038">
            <a:prstTxWarp prst="textNoShape">
              <a:avLst/>
            </a:prstTxWarp>
            <a:spAutoFit/>
          </a:bodyPr>
          <a:lstStyle/>
          <a:p>
            <a:pPr algn="just" eaLnBrk="0" hangingPunct="0">
              <a:lnSpc>
                <a:spcPct val="125000"/>
              </a:lnSpc>
            </a:pPr>
            <a:endParaRPr lang="tr-TR" sz="2400" b="1" dirty="0">
              <a:solidFill>
                <a:srgbClr val="0000FF"/>
              </a:solidFill>
              <a:latin typeface="+mj-lt"/>
            </a:endParaRPr>
          </a:p>
        </p:txBody>
      </p:sp>
      <p:sp>
        <p:nvSpPr>
          <p:cNvPr id="2" name="Title 1"/>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latin typeface="Calibri" pitchFamily="34" charset="0"/>
                <a:cs typeface="Calibri" pitchFamily="34" charset="0"/>
              </a:rPr>
              <a:t>NEDEN SÜREÇ YÖNETİMİ</a:t>
            </a:r>
            <a:endParaRPr lang="tr-TR" dirty="0"/>
          </a:p>
        </p:txBody>
      </p:sp>
      <p:sp>
        <p:nvSpPr>
          <p:cNvPr id="4" name="Content Placeholder 3"/>
          <p:cNvSpPr>
            <a:spLocks noGrp="1"/>
          </p:cNvSpPr>
          <p:nvPr>
            <p:ph sz="quarter" idx="1"/>
          </p:nvPr>
        </p:nvSpPr>
        <p:spPr>
          <a:xfrm>
            <a:off x="612648" y="1950720"/>
            <a:ext cx="8153400" cy="4145280"/>
          </a:xfrm>
        </p:spPr>
        <p:txBody>
          <a:bodyPr>
            <a:normAutofit fontScale="85000" lnSpcReduction="10000"/>
          </a:bodyPr>
          <a:lstStyle/>
          <a:p>
            <a:pPr marL="190500" indent="-190500">
              <a:lnSpc>
                <a:spcPct val="150000"/>
              </a:lnSpc>
            </a:pPr>
            <a:r>
              <a:rPr lang="tr-TR" sz="3200" b="1" dirty="0">
                <a:effectLst>
                  <a:outerShdw blurRad="38100" dist="38100" dir="2700000" algn="tl">
                    <a:srgbClr val="000000">
                      <a:alpha val="43137"/>
                    </a:srgbClr>
                  </a:outerShdw>
                </a:effectLst>
                <a:latin typeface="Calibri" pitchFamily="34" charset="0"/>
                <a:cs typeface="Calibri" pitchFamily="34" charset="0"/>
              </a:rPr>
              <a:t>Rekabet etmek için en iyiyi yapmak, daha iyiyi bulmak, </a:t>
            </a:r>
          </a:p>
          <a:p>
            <a:pPr marL="190500" indent="-190500">
              <a:lnSpc>
                <a:spcPct val="150000"/>
              </a:lnSpc>
            </a:pPr>
            <a:r>
              <a:rPr lang="tr-TR" sz="3200" b="1" dirty="0">
                <a:effectLst>
                  <a:outerShdw blurRad="38100" dist="38100" dir="2700000" algn="tl">
                    <a:srgbClr val="000000">
                      <a:alpha val="43137"/>
                    </a:srgbClr>
                  </a:outerShdw>
                </a:effectLst>
                <a:latin typeface="Calibri" pitchFamily="34" charset="0"/>
                <a:cs typeface="Calibri" pitchFamily="34" charset="0"/>
              </a:rPr>
              <a:t>Oluşacak hatalar için önceden önlem almak,</a:t>
            </a:r>
          </a:p>
          <a:p>
            <a:pPr marL="190500" indent="-190500">
              <a:lnSpc>
                <a:spcPct val="150000"/>
              </a:lnSpc>
            </a:pPr>
            <a:r>
              <a:rPr lang="tr-TR" sz="3200" b="1" dirty="0">
                <a:effectLst>
                  <a:outerShdw blurRad="38100" dist="38100" dir="2700000" algn="tl">
                    <a:srgbClr val="000000">
                      <a:alpha val="43137"/>
                    </a:srgbClr>
                  </a:outerShdw>
                </a:effectLst>
                <a:latin typeface="Calibri" pitchFamily="34" charset="0"/>
                <a:cs typeface="Calibri" pitchFamily="34" charset="0"/>
              </a:rPr>
              <a:t>Yeniden yapılanma ve değişmeye ihtiyaç duymak,</a:t>
            </a:r>
          </a:p>
          <a:p>
            <a:pPr marL="190500" indent="-190500">
              <a:lnSpc>
                <a:spcPct val="150000"/>
              </a:lnSpc>
            </a:pPr>
            <a:r>
              <a:rPr lang="tr-TR" sz="3200" b="1" dirty="0">
                <a:effectLst>
                  <a:outerShdw blurRad="38100" dist="38100" dir="2700000" algn="tl">
                    <a:srgbClr val="000000">
                      <a:alpha val="43137"/>
                    </a:srgbClr>
                  </a:outerShdw>
                </a:effectLst>
                <a:latin typeface="Calibri" pitchFamily="34" charset="0"/>
                <a:cs typeface="Calibri" pitchFamily="34" charset="0"/>
              </a:rPr>
              <a:t>Müşteri beklentilerini aşmak (beklenti yönetimi),</a:t>
            </a:r>
          </a:p>
          <a:p>
            <a:pPr marL="190500" indent="-190500">
              <a:lnSpc>
                <a:spcPct val="150000"/>
              </a:lnSpc>
            </a:pPr>
            <a:r>
              <a:rPr lang="tr-TR" sz="3200" b="1" dirty="0">
                <a:effectLst>
                  <a:outerShdw blurRad="38100" dist="38100" dir="2700000" algn="tl">
                    <a:srgbClr val="000000">
                      <a:alpha val="43137"/>
                    </a:srgbClr>
                  </a:outerShdw>
                </a:effectLst>
                <a:latin typeface="Calibri" pitchFamily="34" charset="0"/>
                <a:cs typeface="Calibri" pitchFamily="34" charset="0"/>
              </a:rPr>
              <a:t>Kalıcı başarı sağlamak,</a:t>
            </a:r>
            <a:endParaRPr lang="tr-TR" dirty="0"/>
          </a:p>
        </p:txBody>
      </p:sp>
    </p:spTree>
    <p:extLst>
      <p:ext uri="{BB962C8B-B14F-4D97-AF65-F5344CB8AC3E}">
        <p14:creationId xmlns:p14="http://schemas.microsoft.com/office/powerpoint/2010/main" val="602387880"/>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1052736"/>
            <a:ext cx="8229600" cy="5472608"/>
          </a:xfrm>
        </p:spPr>
        <p:txBody>
          <a:bodyPr>
            <a:normAutofit fontScale="92500" lnSpcReduction="20000"/>
          </a:bodyPr>
          <a:lstStyle/>
          <a:p>
            <a:pPr>
              <a:buNone/>
            </a:pPr>
            <a:r>
              <a:rPr lang="tr-TR" dirty="0"/>
              <a:t>SÜREÇ NEDİR?</a:t>
            </a:r>
          </a:p>
          <a:p>
            <a:pPr>
              <a:buNone/>
            </a:pPr>
            <a:r>
              <a:rPr lang="tr-TR" sz="2000" dirty="0"/>
              <a:t>Kaynakları kullanan ve girdilerin </a:t>
            </a:r>
          </a:p>
          <a:p>
            <a:pPr>
              <a:buNone/>
            </a:pPr>
            <a:r>
              <a:rPr lang="tr-TR" sz="2000" dirty="0"/>
              <a:t>çıktılara dönüşümünün sağlanması</a:t>
            </a:r>
          </a:p>
          <a:p>
            <a:pPr>
              <a:buNone/>
            </a:pPr>
            <a:r>
              <a:rPr lang="tr-TR" sz="2000" dirty="0"/>
              <a:t> için yönetilen faaliyet.                                                            Girdiler</a:t>
            </a:r>
          </a:p>
          <a:p>
            <a:pPr>
              <a:buNone/>
            </a:pPr>
            <a:r>
              <a:rPr lang="tr-TR" sz="2000" b="1" dirty="0"/>
              <a:t>(ISO 9001:2008)</a:t>
            </a:r>
            <a:r>
              <a:rPr lang="tr-TR" sz="2000" dirty="0"/>
              <a:t>                                                ----------------------------------   </a:t>
            </a:r>
          </a:p>
          <a:p>
            <a:pPr>
              <a:buNone/>
            </a:pPr>
            <a:r>
              <a:rPr lang="tr-TR" sz="2000" dirty="0"/>
              <a:t>Girdileri çıktılara dönüştüren</a:t>
            </a:r>
          </a:p>
          <a:p>
            <a:pPr>
              <a:buNone/>
            </a:pPr>
            <a:r>
              <a:rPr lang="tr-TR" sz="2000" dirty="0"/>
              <a:t>birbirleriyle ilişki veya etkileşimli</a:t>
            </a:r>
          </a:p>
          <a:p>
            <a:pPr>
              <a:buNone/>
            </a:pPr>
            <a:r>
              <a:rPr lang="tr-TR" sz="2000" dirty="0"/>
              <a:t>faaliyetler takımıdır.                                                                               </a:t>
            </a:r>
            <a:r>
              <a:rPr lang="tr-TR" sz="1400" b="1" dirty="0"/>
              <a:t>Katma Değer</a:t>
            </a:r>
          </a:p>
          <a:p>
            <a:pPr>
              <a:buNone/>
            </a:pPr>
            <a:r>
              <a:rPr lang="tr-TR" sz="2000" dirty="0"/>
              <a:t>Not1- Genel olarak bir sürecin                                                             </a:t>
            </a:r>
            <a:r>
              <a:rPr lang="tr-TR" sz="1600" dirty="0"/>
              <a:t>(Dönüşüm)</a:t>
            </a:r>
          </a:p>
          <a:p>
            <a:pPr>
              <a:buNone/>
            </a:pPr>
            <a:r>
              <a:rPr lang="tr-TR" sz="2000" dirty="0"/>
              <a:t>girdileri, diğer süreçlerin çıktılarıdır..</a:t>
            </a:r>
          </a:p>
          <a:p>
            <a:pPr>
              <a:buNone/>
            </a:pPr>
            <a:r>
              <a:rPr lang="tr-TR" sz="2000" dirty="0"/>
              <a:t>Not2- Genel olarak bir kuruluş</a:t>
            </a:r>
          </a:p>
          <a:p>
            <a:pPr>
              <a:buNone/>
            </a:pPr>
            <a:r>
              <a:rPr lang="tr-TR" sz="2000" dirty="0"/>
              <a:t>içindeki süreçler, katma değer                      ----------------------------------</a:t>
            </a:r>
          </a:p>
          <a:p>
            <a:pPr>
              <a:buNone/>
            </a:pPr>
            <a:r>
              <a:rPr lang="tr-TR" sz="2000" dirty="0"/>
              <a:t>sağlamak için kontrollü şartlar                                                 Çıktılar</a:t>
            </a:r>
          </a:p>
          <a:p>
            <a:pPr>
              <a:buNone/>
            </a:pPr>
            <a:r>
              <a:rPr lang="tr-TR" sz="2000" dirty="0"/>
              <a:t>altında planlanır ve gerçekleştirilir. </a:t>
            </a:r>
          </a:p>
          <a:p>
            <a:pPr>
              <a:buNone/>
            </a:pPr>
            <a:r>
              <a:rPr lang="tr-TR" sz="2000" b="1" dirty="0"/>
              <a:t>(ISO 9000:2005)</a:t>
            </a:r>
          </a:p>
        </p:txBody>
      </p:sp>
      <p:sp>
        <p:nvSpPr>
          <p:cNvPr id="2" name="1 Başlık"/>
          <p:cNvSpPr>
            <a:spLocks noGrp="1"/>
          </p:cNvSpPr>
          <p:nvPr>
            <p:ph type="title"/>
          </p:nvPr>
        </p:nvSpPr>
        <p:spPr>
          <a:xfrm>
            <a:off x="457200" y="338328"/>
            <a:ext cx="8229600" cy="930432"/>
          </a:xfrm>
        </p:spPr>
        <p:txBody>
          <a:bodyPr/>
          <a:lstStyle/>
          <a:p>
            <a:r>
              <a:rPr lang="tr-TR" dirty="0"/>
              <a:t>TANIMLAR VE KAVRAMLAR</a:t>
            </a:r>
          </a:p>
        </p:txBody>
      </p:sp>
      <p:sp>
        <p:nvSpPr>
          <p:cNvPr id="4" name="3 Dikdörtgen"/>
          <p:cNvSpPr/>
          <p:nvPr/>
        </p:nvSpPr>
        <p:spPr>
          <a:xfrm>
            <a:off x="5364088" y="2852936"/>
            <a:ext cx="136815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5" name="4 Dikdörtgen"/>
          <p:cNvSpPr/>
          <p:nvPr/>
        </p:nvSpPr>
        <p:spPr>
          <a:xfrm>
            <a:off x="5364088" y="4005064"/>
            <a:ext cx="136815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a:t>
            </a:r>
          </a:p>
        </p:txBody>
      </p:sp>
      <p:sp>
        <p:nvSpPr>
          <p:cNvPr id="6" name="5 Dikdörtgen"/>
          <p:cNvSpPr/>
          <p:nvPr/>
        </p:nvSpPr>
        <p:spPr>
          <a:xfrm>
            <a:off x="5292080" y="5877272"/>
            <a:ext cx="165618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Müşteri</a:t>
            </a:r>
          </a:p>
        </p:txBody>
      </p:sp>
      <p:sp>
        <p:nvSpPr>
          <p:cNvPr id="7" name="6 Dikdörtgen"/>
          <p:cNvSpPr/>
          <p:nvPr/>
        </p:nvSpPr>
        <p:spPr>
          <a:xfrm>
            <a:off x="5364088" y="1700808"/>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Tedarikçi</a:t>
            </a:r>
          </a:p>
        </p:txBody>
      </p:sp>
      <p:sp>
        <p:nvSpPr>
          <p:cNvPr id="8" name="7 Dikdörtgen"/>
          <p:cNvSpPr/>
          <p:nvPr/>
        </p:nvSpPr>
        <p:spPr>
          <a:xfrm>
            <a:off x="5364088" y="3429000"/>
            <a:ext cx="136815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2</a:t>
            </a:r>
          </a:p>
        </p:txBody>
      </p:sp>
      <p:sp>
        <p:nvSpPr>
          <p:cNvPr id="9" name="8 Dikdörtgen"/>
          <p:cNvSpPr/>
          <p:nvPr/>
        </p:nvSpPr>
        <p:spPr>
          <a:xfrm>
            <a:off x="5364088" y="4581128"/>
            <a:ext cx="136815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n</a:t>
            </a:r>
          </a:p>
        </p:txBody>
      </p:sp>
      <p:sp>
        <p:nvSpPr>
          <p:cNvPr id="10" name="9 Sola Bükülü Ok"/>
          <p:cNvSpPr/>
          <p:nvPr/>
        </p:nvSpPr>
        <p:spPr>
          <a:xfrm>
            <a:off x="6804248" y="2852936"/>
            <a:ext cx="216024" cy="648072"/>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10 Sola Bükülü Ok"/>
          <p:cNvSpPr/>
          <p:nvPr/>
        </p:nvSpPr>
        <p:spPr>
          <a:xfrm>
            <a:off x="6804248" y="3573016"/>
            <a:ext cx="216024" cy="648072"/>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11 Sola Bükülü Ok"/>
          <p:cNvSpPr/>
          <p:nvPr/>
        </p:nvSpPr>
        <p:spPr>
          <a:xfrm>
            <a:off x="6804248" y="4293096"/>
            <a:ext cx="216024" cy="648072"/>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cxnSp>
        <p:nvCxnSpPr>
          <p:cNvPr id="30" name="29 Düz Ok Bağlayıcısı"/>
          <p:cNvCxnSpPr/>
          <p:nvPr/>
        </p:nvCxnSpPr>
        <p:spPr>
          <a:xfrm rot="5400000">
            <a:off x="7020272" y="2492896"/>
            <a:ext cx="43204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31 Düz Bağlayıcı"/>
          <p:cNvCxnSpPr/>
          <p:nvPr/>
        </p:nvCxnSpPr>
        <p:spPr>
          <a:xfrm>
            <a:off x="7236296" y="2276872"/>
            <a:ext cx="9361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33 Düz Bağlayıcı"/>
          <p:cNvCxnSpPr/>
          <p:nvPr/>
        </p:nvCxnSpPr>
        <p:spPr>
          <a:xfrm rot="5400000">
            <a:off x="6768244" y="3681028"/>
            <a:ext cx="2808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35 Düz Bağlayıcı"/>
          <p:cNvCxnSpPr/>
          <p:nvPr/>
        </p:nvCxnSpPr>
        <p:spPr>
          <a:xfrm rot="10800000">
            <a:off x="7596336" y="5085184"/>
            <a:ext cx="5760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37 Düz Ok Bağlayıcısı"/>
          <p:cNvCxnSpPr/>
          <p:nvPr/>
        </p:nvCxnSpPr>
        <p:spPr>
          <a:xfrm rot="5400000">
            <a:off x="4932834" y="2492102"/>
            <a:ext cx="43204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40 Düz Bağlayıcı"/>
          <p:cNvCxnSpPr/>
          <p:nvPr/>
        </p:nvCxnSpPr>
        <p:spPr>
          <a:xfrm rot="10800000">
            <a:off x="4572000" y="2276872"/>
            <a:ext cx="5760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43 Düz Bağlayıcı"/>
          <p:cNvCxnSpPr/>
          <p:nvPr/>
        </p:nvCxnSpPr>
        <p:spPr>
          <a:xfrm rot="5400000">
            <a:off x="2627784" y="4221088"/>
            <a:ext cx="38884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45 Düz Bağlayıcı"/>
          <p:cNvCxnSpPr/>
          <p:nvPr/>
        </p:nvCxnSpPr>
        <p:spPr>
          <a:xfrm rot="5400000">
            <a:off x="4031940" y="5625244"/>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48 Oval"/>
          <p:cNvSpPr/>
          <p:nvPr/>
        </p:nvSpPr>
        <p:spPr>
          <a:xfrm flipH="1" flipV="1">
            <a:off x="4644008" y="2708920"/>
            <a:ext cx="216024"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53" name="52 Düz Bağlayıcı"/>
          <p:cNvCxnSpPr/>
          <p:nvPr/>
        </p:nvCxnSpPr>
        <p:spPr>
          <a:xfrm>
            <a:off x="4572000" y="6165304"/>
            <a:ext cx="648072"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53 Akış Çizelgesi: Toplam Birleşimi"/>
          <p:cNvSpPr/>
          <p:nvPr/>
        </p:nvSpPr>
        <p:spPr>
          <a:xfrm>
            <a:off x="4644008" y="5013176"/>
            <a:ext cx="144016" cy="21602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58" name="57 Düz Ok Bağlayıcısı"/>
          <p:cNvCxnSpPr/>
          <p:nvPr/>
        </p:nvCxnSpPr>
        <p:spPr>
          <a:xfrm rot="5400000">
            <a:off x="5688124" y="2384884"/>
            <a:ext cx="6480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59 Düz Ok Bağlayıcısı"/>
          <p:cNvCxnSpPr>
            <a:stCxn id="4" idx="2"/>
            <a:endCxn id="8" idx="0"/>
          </p:cNvCxnSpPr>
          <p:nvPr/>
        </p:nvCxnSpPr>
        <p:spPr>
          <a:xfrm rot="5400000">
            <a:off x="5940152" y="3320988"/>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62 Düz Ok Bağlayıcısı"/>
          <p:cNvCxnSpPr>
            <a:stCxn id="5" idx="2"/>
            <a:endCxn id="9" idx="0"/>
          </p:cNvCxnSpPr>
          <p:nvPr/>
        </p:nvCxnSpPr>
        <p:spPr>
          <a:xfrm rot="5400000">
            <a:off x="5940152" y="4473116"/>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64 Düz Ok Bağlayıcısı"/>
          <p:cNvCxnSpPr>
            <a:stCxn id="8" idx="2"/>
            <a:endCxn id="5" idx="0"/>
          </p:cNvCxnSpPr>
          <p:nvPr/>
        </p:nvCxnSpPr>
        <p:spPr>
          <a:xfrm rot="5400000">
            <a:off x="5940152" y="3897052"/>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66 Düz Ok Bağlayıcısı"/>
          <p:cNvCxnSpPr/>
          <p:nvPr/>
        </p:nvCxnSpPr>
        <p:spPr>
          <a:xfrm rot="5400000">
            <a:off x="5724922" y="5444430"/>
            <a:ext cx="7200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765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30 İçerik Yer Tutucusu"/>
          <p:cNvSpPr>
            <a:spLocks noGrp="1"/>
          </p:cNvSpPr>
          <p:nvPr>
            <p:ph idx="1"/>
          </p:nvPr>
        </p:nvSpPr>
        <p:spPr>
          <a:xfrm>
            <a:off x="467544" y="1124744"/>
            <a:ext cx="8219256" cy="5256584"/>
          </a:xfrm>
        </p:spPr>
        <p:txBody>
          <a:bodyPr>
            <a:normAutofit lnSpcReduction="10000"/>
          </a:bodyPr>
          <a:lstStyle/>
          <a:p>
            <a:pPr>
              <a:buNone/>
            </a:pPr>
            <a:r>
              <a:rPr lang="tr-TR" sz="2000" dirty="0"/>
              <a:t>	Süreçler nadir olarak tek başlarına bulunurlar ve genellikle birbirleri ile ilişki içindedir.</a:t>
            </a:r>
          </a:p>
          <a:p>
            <a:pPr>
              <a:buNone/>
            </a:pPr>
            <a:r>
              <a:rPr lang="tr-TR" sz="2000" dirty="0"/>
              <a:t>	Kuruluşlar, etkin çalışması için, birbirleri ile ilişkili olan bir çok süreci tanımlamalı ve yönetmelidir. </a:t>
            </a:r>
          </a:p>
          <a:p>
            <a:pPr>
              <a:buNone/>
            </a:pPr>
            <a:r>
              <a:rPr lang="tr-TR" sz="2000" dirty="0"/>
              <a:t>	Örnek:</a:t>
            </a:r>
          </a:p>
          <a:p>
            <a:pPr>
              <a:buNone/>
            </a:pPr>
            <a:endParaRPr lang="tr-TR" sz="2000" dirty="0"/>
          </a:p>
          <a:p>
            <a:pPr>
              <a:buNone/>
            </a:pPr>
            <a:endParaRPr lang="tr-TR" sz="2000" dirty="0"/>
          </a:p>
          <a:p>
            <a:pPr>
              <a:buNone/>
            </a:pPr>
            <a:endParaRPr lang="tr-TR" sz="2000" dirty="0"/>
          </a:p>
          <a:p>
            <a:pPr>
              <a:buNone/>
            </a:pPr>
            <a:endParaRPr lang="tr-TR" sz="2000" dirty="0"/>
          </a:p>
          <a:p>
            <a:pPr>
              <a:buNone/>
            </a:pPr>
            <a:endParaRPr lang="tr-TR" sz="2000" dirty="0"/>
          </a:p>
          <a:p>
            <a:pPr>
              <a:buNone/>
            </a:pPr>
            <a:endParaRPr lang="tr-TR" sz="2000" dirty="0"/>
          </a:p>
          <a:p>
            <a:pPr>
              <a:buNone/>
            </a:pPr>
            <a:endParaRPr lang="tr-TR" sz="2000" dirty="0"/>
          </a:p>
          <a:p>
            <a:pPr>
              <a:buNone/>
            </a:pPr>
            <a:endParaRPr lang="tr-TR" sz="2000" dirty="0"/>
          </a:p>
          <a:p>
            <a:pPr>
              <a:buNone/>
            </a:pPr>
            <a:r>
              <a:rPr lang="tr-TR" sz="2000" dirty="0"/>
              <a:t>	Orta büyüklükte bir işletmedeki tüm süreçleri düşünürsek, bu şema ne kadar genişler?</a:t>
            </a:r>
          </a:p>
        </p:txBody>
      </p:sp>
      <p:sp>
        <p:nvSpPr>
          <p:cNvPr id="30" name="29 Başlık"/>
          <p:cNvSpPr>
            <a:spLocks noGrp="1"/>
          </p:cNvSpPr>
          <p:nvPr>
            <p:ph type="title"/>
          </p:nvPr>
        </p:nvSpPr>
        <p:spPr>
          <a:xfrm>
            <a:off x="467544" y="274638"/>
            <a:ext cx="8219256" cy="778098"/>
          </a:xfrm>
        </p:spPr>
        <p:txBody>
          <a:bodyPr>
            <a:normAutofit/>
          </a:bodyPr>
          <a:lstStyle/>
          <a:p>
            <a:r>
              <a:rPr lang="tr-TR" sz="3200" dirty="0"/>
              <a:t>TANIMLAR VE KAVRAMLAR</a:t>
            </a:r>
          </a:p>
        </p:txBody>
      </p:sp>
      <p:sp>
        <p:nvSpPr>
          <p:cNvPr id="32" name="31 Dikdörtgen"/>
          <p:cNvSpPr/>
          <p:nvPr/>
        </p:nvSpPr>
        <p:spPr>
          <a:xfrm>
            <a:off x="3563888" y="2564904"/>
            <a:ext cx="187220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Sipariş Süreci</a:t>
            </a:r>
          </a:p>
        </p:txBody>
      </p:sp>
      <p:sp>
        <p:nvSpPr>
          <p:cNvPr id="33" name="32 Dikdörtgen"/>
          <p:cNvSpPr/>
          <p:nvPr/>
        </p:nvSpPr>
        <p:spPr>
          <a:xfrm>
            <a:off x="1259632" y="4005064"/>
            <a:ext cx="187220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Satın alma Süreci</a:t>
            </a:r>
          </a:p>
        </p:txBody>
      </p:sp>
      <p:sp>
        <p:nvSpPr>
          <p:cNvPr id="34" name="33 Dikdörtgen"/>
          <p:cNvSpPr/>
          <p:nvPr/>
        </p:nvSpPr>
        <p:spPr>
          <a:xfrm>
            <a:off x="3563888" y="3284984"/>
            <a:ext cx="187220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Planlama Süreci</a:t>
            </a:r>
          </a:p>
        </p:txBody>
      </p:sp>
      <p:sp>
        <p:nvSpPr>
          <p:cNvPr id="35" name="34 Dikdörtgen"/>
          <p:cNvSpPr/>
          <p:nvPr/>
        </p:nvSpPr>
        <p:spPr>
          <a:xfrm>
            <a:off x="3563888" y="4005064"/>
            <a:ext cx="187220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Üretim Süreci</a:t>
            </a:r>
          </a:p>
        </p:txBody>
      </p:sp>
      <p:sp>
        <p:nvSpPr>
          <p:cNvPr id="36" name="35 Dikdörtgen"/>
          <p:cNvSpPr/>
          <p:nvPr/>
        </p:nvSpPr>
        <p:spPr>
          <a:xfrm>
            <a:off x="3563888" y="4653136"/>
            <a:ext cx="187220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Sevkiyat Süreci</a:t>
            </a:r>
          </a:p>
        </p:txBody>
      </p:sp>
      <p:sp>
        <p:nvSpPr>
          <p:cNvPr id="37" name="36 Dikdörtgen"/>
          <p:cNvSpPr/>
          <p:nvPr/>
        </p:nvSpPr>
        <p:spPr>
          <a:xfrm>
            <a:off x="6012160" y="4005064"/>
            <a:ext cx="187220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İK Süreci</a:t>
            </a:r>
          </a:p>
        </p:txBody>
      </p:sp>
      <p:cxnSp>
        <p:nvCxnSpPr>
          <p:cNvPr id="39" name="38 Düz Ok Bağlayıcısı"/>
          <p:cNvCxnSpPr>
            <a:stCxn id="32" idx="2"/>
          </p:cNvCxnSpPr>
          <p:nvPr/>
        </p:nvCxnSpPr>
        <p:spPr>
          <a:xfrm rot="5400000">
            <a:off x="4319972" y="3104964"/>
            <a:ext cx="3600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40 Düz Ok Bağlayıcısı"/>
          <p:cNvCxnSpPr>
            <a:stCxn id="34" idx="2"/>
            <a:endCxn id="35" idx="0"/>
          </p:cNvCxnSpPr>
          <p:nvPr/>
        </p:nvCxnSpPr>
        <p:spPr>
          <a:xfrm rot="5400000">
            <a:off x="4319972" y="3825044"/>
            <a:ext cx="3600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43 Düz Ok Bağlayıcısı"/>
          <p:cNvCxnSpPr>
            <a:stCxn id="35" idx="2"/>
            <a:endCxn id="36" idx="0"/>
          </p:cNvCxnSpPr>
          <p:nvPr/>
        </p:nvCxnSpPr>
        <p:spPr>
          <a:xfrm rot="5400000">
            <a:off x="4355976" y="4509120"/>
            <a:ext cx="2880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Bağlayıcı"/>
          <p:cNvCxnSpPr>
            <a:stCxn id="34" idx="1"/>
          </p:cNvCxnSpPr>
          <p:nvPr/>
        </p:nvCxnSpPr>
        <p:spPr>
          <a:xfrm rot="10800000">
            <a:off x="2195736" y="3429000"/>
            <a:ext cx="1368152" cy="36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52 Düz Bağlayıcı"/>
          <p:cNvCxnSpPr/>
          <p:nvPr/>
        </p:nvCxnSpPr>
        <p:spPr>
          <a:xfrm>
            <a:off x="5364088" y="3429000"/>
            <a:ext cx="15841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56 Düz Ok Bağlayıcısı"/>
          <p:cNvCxnSpPr/>
          <p:nvPr/>
        </p:nvCxnSpPr>
        <p:spPr>
          <a:xfrm rot="5400000">
            <a:off x="1907704" y="3695328"/>
            <a:ext cx="554360" cy="217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62 Düz Ok Bağlayıcısı"/>
          <p:cNvCxnSpPr/>
          <p:nvPr/>
        </p:nvCxnSpPr>
        <p:spPr>
          <a:xfrm rot="5400000">
            <a:off x="6660232" y="3717032"/>
            <a:ext cx="57606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71 Düz Ok Bağlayıcısı"/>
          <p:cNvCxnSpPr>
            <a:stCxn id="33" idx="3"/>
            <a:endCxn id="35" idx="1"/>
          </p:cNvCxnSpPr>
          <p:nvPr/>
        </p:nvCxnSpPr>
        <p:spPr>
          <a:xfrm>
            <a:off x="3131840" y="4185084"/>
            <a:ext cx="43204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73 Düz Ok Bağlayıcısı"/>
          <p:cNvCxnSpPr>
            <a:stCxn id="37" idx="1"/>
            <a:endCxn id="35" idx="3"/>
          </p:cNvCxnSpPr>
          <p:nvPr/>
        </p:nvCxnSpPr>
        <p:spPr>
          <a:xfrm rot="10800000">
            <a:off x="5436096" y="4185084"/>
            <a:ext cx="57606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671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62473"/>
            <a:ext cx="8153400" cy="990600"/>
          </a:xfrm>
        </p:spPr>
        <p:txBody>
          <a:bodyPr>
            <a:normAutofit/>
          </a:bodyPr>
          <a:lstStyle/>
          <a:p>
            <a:r>
              <a:rPr lang="en-US" b="1" dirty="0">
                <a:latin typeface="Calibri" pitchFamily="34" charset="0"/>
                <a:cs typeface="Calibri" pitchFamily="34" charset="0"/>
              </a:rPr>
              <a:t>SÜREÇLERİN TANIMLANMASI</a:t>
            </a:r>
            <a:endParaRPr lang="tr-TR" dirty="0"/>
          </a:p>
        </p:txBody>
      </p:sp>
      <p:sp>
        <p:nvSpPr>
          <p:cNvPr id="3" name="Content Placeholder 2"/>
          <p:cNvSpPr>
            <a:spLocks noGrp="1"/>
          </p:cNvSpPr>
          <p:nvPr>
            <p:ph sz="quarter" idx="1"/>
          </p:nvPr>
        </p:nvSpPr>
        <p:spPr>
          <a:xfrm>
            <a:off x="612647" y="1844039"/>
            <a:ext cx="7442781" cy="4730931"/>
          </a:xfrm>
        </p:spPr>
        <p:txBody>
          <a:bodyPr>
            <a:normAutofit/>
          </a:bodyPr>
          <a:lstStyle/>
          <a:p>
            <a:pPr lvl="0"/>
            <a:r>
              <a:rPr lang="tr-TR" sz="1400" b="1" dirty="0"/>
              <a:t>Amaç</a:t>
            </a:r>
            <a:endParaRPr lang="en-US" sz="1400" dirty="0"/>
          </a:p>
          <a:p>
            <a:pPr lvl="0"/>
            <a:r>
              <a:rPr lang="tr-TR" sz="1400" b="1" dirty="0"/>
              <a:t>Performans göstergeleri ve hedefleri</a:t>
            </a:r>
            <a:endParaRPr lang="en-US" sz="1400" dirty="0"/>
          </a:p>
          <a:p>
            <a:pPr lvl="0"/>
            <a:r>
              <a:rPr lang="tr-TR" sz="1400" b="1" dirty="0"/>
              <a:t>Hangi faaliyetle başlayıp hangi faaliyetle bittiği</a:t>
            </a:r>
            <a:endParaRPr lang="en-US" sz="1400" dirty="0"/>
          </a:p>
          <a:p>
            <a:pPr lvl="0"/>
            <a:r>
              <a:rPr lang="tr-TR" sz="1400" b="1" dirty="0"/>
              <a:t>Sürecin sahibi / sorumlusu</a:t>
            </a:r>
            <a:endParaRPr lang="en-US" sz="1400" dirty="0"/>
          </a:p>
          <a:p>
            <a:pPr lvl="0"/>
            <a:r>
              <a:rPr lang="tr-TR" sz="1400" b="1" dirty="0"/>
              <a:t>Sınırları</a:t>
            </a:r>
            <a:endParaRPr lang="en-US" sz="1400" dirty="0"/>
          </a:p>
          <a:p>
            <a:pPr lvl="0"/>
            <a:r>
              <a:rPr lang="tr-TR" sz="1400" b="1" dirty="0"/>
              <a:t>Süreçlerin tanımlanması; </a:t>
            </a:r>
            <a:endParaRPr lang="en-US" sz="1400" dirty="0"/>
          </a:p>
          <a:p>
            <a:r>
              <a:rPr lang="tr-TR" sz="1400" b="1" dirty="0"/>
              <a:t>Uygulayıcılar</a:t>
            </a:r>
            <a:endParaRPr lang="en-US" sz="1400" dirty="0"/>
          </a:p>
          <a:p>
            <a:pPr lvl="0"/>
            <a:r>
              <a:rPr lang="tr-TR" sz="1400" b="1" dirty="0"/>
              <a:t>Süreç öğelerinin belirlenmesi ve dokümante edilmesidir.</a:t>
            </a:r>
            <a:endParaRPr lang="en-US" sz="1400" dirty="0"/>
          </a:p>
          <a:p>
            <a:pPr lvl="0"/>
            <a:r>
              <a:rPr lang="tr-TR" sz="1400" b="1" dirty="0"/>
              <a:t>Girdiler</a:t>
            </a:r>
            <a:endParaRPr lang="en-US" sz="1400" dirty="0"/>
          </a:p>
          <a:p>
            <a:pPr lvl="0"/>
            <a:r>
              <a:rPr lang="tr-TR" sz="1400" b="1" dirty="0"/>
              <a:t>Kaynakları </a:t>
            </a:r>
            <a:endParaRPr lang="en-US" sz="1400" dirty="0"/>
          </a:p>
          <a:p>
            <a:pPr lvl="0"/>
            <a:r>
              <a:rPr lang="tr-TR" sz="1400" b="1" dirty="0"/>
              <a:t>Alt süreçleri-faaliyetleri</a:t>
            </a:r>
            <a:endParaRPr lang="en-US" sz="1400" dirty="0"/>
          </a:p>
          <a:p>
            <a:pPr lvl="0"/>
            <a:r>
              <a:rPr lang="tr-TR" sz="1400" b="1" dirty="0"/>
              <a:t>Çıktılar</a:t>
            </a:r>
            <a:endParaRPr lang="en-US" sz="1400" dirty="0"/>
          </a:p>
          <a:p>
            <a:pPr lvl="0"/>
            <a:r>
              <a:rPr lang="tr-TR" sz="1400" b="1" dirty="0"/>
              <a:t>Müşterileri</a:t>
            </a:r>
            <a:endParaRPr lang="en-US" sz="1400" dirty="0"/>
          </a:p>
          <a:p>
            <a:pPr lvl="0"/>
            <a:r>
              <a:rPr lang="tr-TR" sz="1400" b="1" dirty="0"/>
              <a:t>Kontrol noktaları ve kriterleri</a:t>
            </a:r>
            <a:endParaRPr lang="en-US" sz="1400" dirty="0"/>
          </a:p>
        </p:txBody>
      </p:sp>
    </p:spTree>
    <p:extLst>
      <p:ext uri="{BB962C8B-B14F-4D97-AF65-F5344CB8AC3E}">
        <p14:creationId xmlns:p14="http://schemas.microsoft.com/office/powerpoint/2010/main" val="2990449707"/>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23528" y="1916832"/>
            <a:ext cx="8568951" cy="4608512"/>
          </a:xfrm>
        </p:spPr>
        <p:txBody>
          <a:bodyPr>
            <a:normAutofit fontScale="55000" lnSpcReduction="20000"/>
          </a:bodyPr>
          <a:lstStyle/>
          <a:p>
            <a:pPr>
              <a:buNone/>
            </a:pPr>
            <a:r>
              <a:rPr lang="tr-TR" dirty="0"/>
              <a:t>Girdiler</a:t>
            </a:r>
          </a:p>
          <a:p>
            <a:pPr>
              <a:buFont typeface="Wingdings" pitchFamily="2" charset="2"/>
              <a:buChar char="Ø"/>
            </a:pPr>
            <a:r>
              <a:rPr lang="tr-TR" dirty="0"/>
              <a:t>Süreç tedarikçilerinden temin edilir.</a:t>
            </a:r>
          </a:p>
          <a:p>
            <a:pPr>
              <a:buFont typeface="Wingdings" pitchFamily="2" charset="2"/>
              <a:buChar char="Ø"/>
            </a:pPr>
            <a:r>
              <a:rPr lang="tr-TR" dirty="0"/>
              <a:t>Süreci çalıştırmaya başlar (tetikler).</a:t>
            </a:r>
          </a:p>
          <a:p>
            <a:pPr>
              <a:buFont typeface="Wingdings" pitchFamily="2" charset="2"/>
              <a:buChar char="Ø"/>
            </a:pPr>
            <a:r>
              <a:rPr lang="tr-TR" dirty="0"/>
              <a:t>Soyut yada somut olabilir.</a:t>
            </a:r>
          </a:p>
          <a:p>
            <a:pPr>
              <a:buNone/>
            </a:pPr>
            <a:endParaRPr lang="tr-TR" dirty="0"/>
          </a:p>
          <a:p>
            <a:pPr>
              <a:buNone/>
            </a:pPr>
            <a:r>
              <a:rPr lang="tr-TR" dirty="0"/>
              <a:t>1.Dönüşüme uğrayarak çıktıyı oluşturan girdiler (Esas girdiler)</a:t>
            </a:r>
          </a:p>
          <a:p>
            <a:pPr>
              <a:buNone/>
            </a:pPr>
            <a:r>
              <a:rPr lang="tr-TR" dirty="0"/>
              <a:t>	Bir fiziksel ürün, yarı ürün, malzeme</a:t>
            </a:r>
          </a:p>
          <a:p>
            <a:pPr>
              <a:buNone/>
            </a:pPr>
            <a:r>
              <a:rPr lang="tr-TR" dirty="0"/>
              <a:t>	Rapor, fatura, kayıt</a:t>
            </a:r>
          </a:p>
          <a:p>
            <a:pPr>
              <a:buNone/>
            </a:pPr>
            <a:r>
              <a:rPr lang="tr-TR" dirty="0"/>
              <a:t>	    …..</a:t>
            </a:r>
          </a:p>
          <a:p>
            <a:pPr>
              <a:buNone/>
            </a:pPr>
            <a:r>
              <a:rPr lang="tr-TR" dirty="0"/>
              <a:t>2.Kaynaklar</a:t>
            </a:r>
          </a:p>
          <a:p>
            <a:pPr>
              <a:buNone/>
            </a:pPr>
            <a:r>
              <a:rPr lang="tr-TR" dirty="0"/>
              <a:t>	Yazılım, Bilgi</a:t>
            </a:r>
          </a:p>
          <a:p>
            <a:pPr>
              <a:buNone/>
            </a:pPr>
            <a:r>
              <a:rPr lang="tr-TR" dirty="0"/>
              <a:t>	Makine, Ekipman, Bina, Tesis</a:t>
            </a:r>
          </a:p>
          <a:p>
            <a:pPr>
              <a:buNone/>
            </a:pPr>
            <a:r>
              <a:rPr lang="tr-TR" dirty="0"/>
              <a:t>	Enerji</a:t>
            </a:r>
          </a:p>
          <a:p>
            <a:pPr>
              <a:buNone/>
            </a:pPr>
            <a:r>
              <a:rPr lang="tr-TR" dirty="0"/>
              <a:t>	İnsan</a:t>
            </a:r>
          </a:p>
          <a:p>
            <a:pPr>
              <a:buNone/>
            </a:pPr>
            <a:r>
              <a:rPr lang="tr-TR" dirty="0"/>
              <a:t>		Örnek:1.bölümde incelenen </a:t>
            </a:r>
            <a:r>
              <a:rPr lang="tr-TR" dirty="0" err="1"/>
              <a:t>Satınalma</a:t>
            </a:r>
            <a:r>
              <a:rPr lang="tr-TR" dirty="0"/>
              <a:t> sürecinin girdileri nelerdir?	 		</a:t>
            </a:r>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793885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23529" y="1988840"/>
            <a:ext cx="7956872" cy="4137323"/>
          </a:xfrm>
        </p:spPr>
        <p:txBody>
          <a:bodyPr>
            <a:normAutofit fontScale="92500" lnSpcReduction="10000"/>
          </a:bodyPr>
          <a:lstStyle/>
          <a:p>
            <a:pPr>
              <a:buNone/>
            </a:pPr>
            <a:r>
              <a:rPr lang="tr-TR" dirty="0"/>
              <a:t>Tedarikçiler</a:t>
            </a:r>
          </a:p>
          <a:p>
            <a:pPr>
              <a:buNone/>
            </a:pPr>
            <a:endParaRPr lang="tr-TR" dirty="0"/>
          </a:p>
          <a:p>
            <a:pPr>
              <a:buNone/>
            </a:pPr>
            <a:r>
              <a:rPr lang="tr-TR" dirty="0"/>
              <a:t>Sürecin Tedarikçisi</a:t>
            </a:r>
          </a:p>
          <a:p>
            <a:pPr>
              <a:buNone/>
            </a:pPr>
            <a:r>
              <a:rPr lang="tr-TR" dirty="0"/>
              <a:t>	Süreç girdilerini sağlayan</a:t>
            </a:r>
          </a:p>
          <a:p>
            <a:pPr>
              <a:buNone/>
            </a:pPr>
            <a:r>
              <a:rPr lang="tr-TR" dirty="0"/>
              <a:t>	İşletme içinden veya dışından</a:t>
            </a:r>
          </a:p>
          <a:p>
            <a:pPr>
              <a:buNone/>
            </a:pPr>
            <a:r>
              <a:rPr lang="tr-TR" dirty="0"/>
              <a:t>	Bir başka süreç</a:t>
            </a:r>
          </a:p>
          <a:p>
            <a:pPr>
              <a:buNone/>
            </a:pPr>
            <a:r>
              <a:rPr lang="tr-TR" dirty="0"/>
              <a:t>“Her süreç, bir sonraki sürecin tedarikçisidir”</a:t>
            </a:r>
          </a:p>
          <a:p>
            <a:pPr>
              <a:buNone/>
            </a:pPr>
            <a:r>
              <a:rPr lang="tr-TR" dirty="0"/>
              <a:t>			Örnek:</a:t>
            </a:r>
            <a:r>
              <a:rPr lang="tr-TR" dirty="0" err="1"/>
              <a:t>Satınalma</a:t>
            </a:r>
            <a:r>
              <a:rPr lang="tr-TR" dirty="0"/>
              <a:t> sürecinin tedarikçileri kimlerdir?</a:t>
            </a:r>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330831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85000" lnSpcReduction="20000"/>
          </a:bodyPr>
          <a:lstStyle/>
          <a:p>
            <a:pPr>
              <a:buNone/>
            </a:pPr>
            <a:r>
              <a:rPr lang="tr-TR" dirty="0"/>
              <a:t>Çıktılar</a:t>
            </a:r>
          </a:p>
          <a:p>
            <a:pPr>
              <a:buNone/>
            </a:pPr>
            <a:endParaRPr lang="tr-TR" dirty="0"/>
          </a:p>
          <a:p>
            <a:pPr>
              <a:buNone/>
            </a:pPr>
            <a:r>
              <a:rPr lang="tr-TR" dirty="0"/>
              <a:t>Sürecin Çıktıları</a:t>
            </a:r>
          </a:p>
          <a:p>
            <a:pPr>
              <a:buNone/>
            </a:pPr>
            <a:r>
              <a:rPr lang="tr-TR" dirty="0"/>
              <a:t>	Bir ya da daha fazla çıktı olabilir</a:t>
            </a:r>
          </a:p>
          <a:p>
            <a:pPr>
              <a:buNone/>
            </a:pPr>
            <a:r>
              <a:rPr lang="tr-TR" dirty="0"/>
              <a:t>	Sürecin ürünleri</a:t>
            </a:r>
          </a:p>
          <a:p>
            <a:pPr>
              <a:buNone/>
            </a:pPr>
            <a:r>
              <a:rPr lang="tr-TR" dirty="0"/>
              <a:t>	Sürecin çalışma amacı</a:t>
            </a:r>
          </a:p>
          <a:p>
            <a:pPr>
              <a:buNone/>
            </a:pPr>
            <a:r>
              <a:rPr lang="tr-TR" dirty="0"/>
              <a:t>	Soyut ya da somut olabilir</a:t>
            </a:r>
          </a:p>
          <a:p>
            <a:pPr>
              <a:buNone/>
            </a:pPr>
            <a:r>
              <a:rPr lang="tr-TR" dirty="0"/>
              <a:t>		Bir fiziksel ürün, yarı ürün, malzeme</a:t>
            </a:r>
          </a:p>
          <a:p>
            <a:pPr>
              <a:buNone/>
            </a:pPr>
            <a:r>
              <a:rPr lang="tr-TR" dirty="0"/>
              <a:t>		Rapor, fatura, kayıt</a:t>
            </a:r>
          </a:p>
          <a:p>
            <a:pPr>
              <a:buNone/>
            </a:pPr>
            <a:r>
              <a:rPr lang="tr-TR" dirty="0"/>
              <a:t>		Yazılım, bilgi	</a:t>
            </a:r>
          </a:p>
          <a:p>
            <a:pPr>
              <a:buNone/>
            </a:pPr>
            <a:r>
              <a:rPr lang="tr-TR" dirty="0"/>
              <a:t>			Örnek: </a:t>
            </a:r>
            <a:r>
              <a:rPr lang="tr-TR" dirty="0" err="1"/>
              <a:t>Satınalma</a:t>
            </a:r>
            <a:r>
              <a:rPr lang="tr-TR" dirty="0"/>
              <a:t> sürecinin çıktıları nelerdir?</a:t>
            </a:r>
          </a:p>
          <a:p>
            <a:pPr>
              <a:buNone/>
            </a:pPr>
            <a:endParaRPr lang="tr-TR" dirty="0"/>
          </a:p>
          <a:p>
            <a:pPr>
              <a:buNone/>
            </a:pPr>
            <a:endParaRPr lang="tr-TR" dirty="0"/>
          </a:p>
          <a:p>
            <a:pPr>
              <a:buNone/>
            </a:pPr>
            <a:endParaRPr lang="tr-TR" dirty="0"/>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3806373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lnSpcReduction="10000"/>
          </a:bodyPr>
          <a:lstStyle/>
          <a:p>
            <a:pPr>
              <a:buNone/>
            </a:pPr>
            <a:r>
              <a:rPr lang="tr-TR" dirty="0"/>
              <a:t>Müşteriler</a:t>
            </a:r>
          </a:p>
          <a:p>
            <a:pPr>
              <a:buNone/>
            </a:pPr>
            <a:endParaRPr lang="tr-TR" dirty="0"/>
          </a:p>
          <a:p>
            <a:pPr>
              <a:buNone/>
            </a:pPr>
            <a:r>
              <a:rPr lang="tr-TR" dirty="0"/>
              <a:t>Sürecin müşterisi</a:t>
            </a:r>
          </a:p>
          <a:p>
            <a:pPr>
              <a:buNone/>
            </a:pPr>
            <a:r>
              <a:rPr lang="tr-TR" dirty="0"/>
              <a:t>	Süreç çıktılarını kullanan</a:t>
            </a:r>
          </a:p>
          <a:p>
            <a:pPr>
              <a:buNone/>
            </a:pPr>
            <a:r>
              <a:rPr lang="tr-TR" dirty="0"/>
              <a:t>	Dış/İç müşteri</a:t>
            </a:r>
          </a:p>
          <a:p>
            <a:pPr>
              <a:buNone/>
            </a:pPr>
            <a:r>
              <a:rPr lang="tr-TR" dirty="0"/>
              <a:t>	Bir başka süreç</a:t>
            </a:r>
          </a:p>
          <a:p>
            <a:pPr>
              <a:buNone/>
            </a:pPr>
            <a:endParaRPr lang="tr-TR" dirty="0"/>
          </a:p>
          <a:p>
            <a:pPr>
              <a:buNone/>
            </a:pPr>
            <a:r>
              <a:rPr lang="tr-TR" dirty="0"/>
              <a:t>“Her süreç bir sonraki sürecin müşterisidir”</a:t>
            </a:r>
          </a:p>
          <a:p>
            <a:pPr>
              <a:buNone/>
            </a:pPr>
            <a:r>
              <a:rPr lang="tr-TR" dirty="0"/>
              <a:t>		Örnek:</a:t>
            </a:r>
            <a:r>
              <a:rPr lang="tr-TR" dirty="0" err="1"/>
              <a:t>Satınalma</a:t>
            </a:r>
            <a:r>
              <a:rPr lang="tr-TR" dirty="0"/>
              <a:t> sürecinin müşterileri kimlerdir?</a:t>
            </a:r>
          </a:p>
          <a:p>
            <a:pPr>
              <a:buNone/>
            </a:pPr>
            <a:endParaRPr lang="tr-TR" dirty="0"/>
          </a:p>
          <a:p>
            <a:pPr>
              <a:buNone/>
            </a:pPr>
            <a:endParaRPr lang="tr-TR" dirty="0"/>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3220679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a:bodyPr>
          <a:lstStyle/>
          <a:p>
            <a:pPr>
              <a:buNone/>
            </a:pPr>
            <a:r>
              <a:rPr lang="tr-TR" dirty="0"/>
              <a:t>Sınırlar </a:t>
            </a:r>
          </a:p>
          <a:p>
            <a:pPr>
              <a:buNone/>
            </a:pPr>
            <a:endParaRPr lang="tr-TR" dirty="0"/>
          </a:p>
          <a:p>
            <a:pPr>
              <a:buNone/>
            </a:pPr>
            <a:r>
              <a:rPr lang="tr-TR" dirty="0"/>
              <a:t>Sürecin sınırları</a:t>
            </a:r>
          </a:p>
          <a:p>
            <a:pPr>
              <a:buNone/>
            </a:pPr>
            <a:r>
              <a:rPr lang="tr-TR" dirty="0"/>
              <a:t>	Başlangıç sınırı: Süreç hangi faaliyet(</a:t>
            </a:r>
            <a:r>
              <a:rPr lang="tr-TR" dirty="0" err="1"/>
              <a:t>ler</a:t>
            </a:r>
            <a:r>
              <a:rPr lang="tr-TR" dirty="0"/>
              <a:t>) ile başlıyor?</a:t>
            </a:r>
          </a:p>
          <a:p>
            <a:pPr>
              <a:buNone/>
            </a:pPr>
            <a:r>
              <a:rPr lang="tr-TR" dirty="0"/>
              <a:t>	Bitiş Sınırı: Süreç hangi faaliyet(</a:t>
            </a:r>
            <a:r>
              <a:rPr lang="tr-TR" dirty="0" err="1"/>
              <a:t>ler</a:t>
            </a:r>
            <a:r>
              <a:rPr lang="tr-TR" dirty="0"/>
              <a:t>) ile bitiyor</a:t>
            </a:r>
          </a:p>
          <a:p>
            <a:pPr>
              <a:buNone/>
            </a:pPr>
            <a:endParaRPr lang="tr-TR" dirty="0"/>
          </a:p>
          <a:p>
            <a:pPr>
              <a:buNone/>
            </a:pPr>
            <a:r>
              <a:rPr lang="tr-TR" dirty="0"/>
              <a:t>		Örnek: </a:t>
            </a:r>
            <a:r>
              <a:rPr lang="tr-TR" dirty="0" err="1"/>
              <a:t>Satınalma</a:t>
            </a:r>
            <a:r>
              <a:rPr lang="tr-TR" dirty="0"/>
              <a:t> sürecinin ve alt süreçlerinin sınırları nelerdir?</a:t>
            </a:r>
          </a:p>
          <a:p>
            <a:pPr>
              <a:buNone/>
            </a:pPr>
            <a:r>
              <a:rPr lang="tr-TR" dirty="0"/>
              <a:t>	</a:t>
            </a:r>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479953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67545" y="1988840"/>
            <a:ext cx="7812856" cy="4137323"/>
          </a:xfrm>
        </p:spPr>
        <p:txBody>
          <a:bodyPr>
            <a:normAutofit fontScale="55000" lnSpcReduction="20000"/>
          </a:bodyPr>
          <a:lstStyle/>
          <a:p>
            <a:pPr>
              <a:buNone/>
            </a:pPr>
            <a:r>
              <a:rPr lang="tr-TR" dirty="0"/>
              <a:t>Süreç Sahibi</a:t>
            </a:r>
          </a:p>
          <a:p>
            <a:pPr>
              <a:buNone/>
            </a:pPr>
            <a:endParaRPr lang="tr-TR" dirty="0"/>
          </a:p>
          <a:p>
            <a:pPr>
              <a:buNone/>
            </a:pPr>
            <a:r>
              <a:rPr lang="tr-TR" dirty="0"/>
              <a:t>Süreç Sahibi/Sorumlusu.</a:t>
            </a:r>
          </a:p>
          <a:p>
            <a:pPr>
              <a:buNone/>
            </a:pPr>
            <a:r>
              <a:rPr lang="tr-TR" dirty="0"/>
              <a:t>Fonksiyonel (</a:t>
            </a:r>
            <a:r>
              <a:rPr lang="tr-TR" dirty="0" err="1"/>
              <a:t>Departmantal</a:t>
            </a:r>
            <a:r>
              <a:rPr lang="tr-TR" dirty="0"/>
              <a:t>) organizasyonlar için: Sürecin içindeki en üst </a:t>
            </a:r>
            <a:r>
              <a:rPr lang="tr-TR" dirty="0" err="1"/>
              <a:t>organizasyonel</a:t>
            </a:r>
            <a:r>
              <a:rPr lang="tr-TR" dirty="0"/>
              <a:t> amir</a:t>
            </a:r>
          </a:p>
          <a:p>
            <a:pPr>
              <a:buNone/>
            </a:pPr>
            <a:r>
              <a:rPr lang="tr-TR" dirty="0"/>
              <a:t>Süreç bazlı </a:t>
            </a:r>
            <a:r>
              <a:rPr lang="tr-TR" dirty="0" err="1"/>
              <a:t>organizsyonlar</a:t>
            </a:r>
            <a:r>
              <a:rPr lang="tr-TR" dirty="0"/>
              <a:t> için: Süreç ekibi lideri.</a:t>
            </a:r>
          </a:p>
          <a:p>
            <a:pPr>
              <a:buNone/>
            </a:pPr>
            <a:r>
              <a:rPr lang="tr-TR" dirty="0"/>
              <a:t>Sorumlulukları</a:t>
            </a:r>
          </a:p>
          <a:p>
            <a:pPr>
              <a:buNone/>
            </a:pPr>
            <a:r>
              <a:rPr lang="tr-TR" dirty="0"/>
              <a:t>		Süreç standartlarının oluşturulması</a:t>
            </a:r>
          </a:p>
          <a:p>
            <a:pPr>
              <a:buNone/>
            </a:pPr>
            <a:r>
              <a:rPr lang="tr-TR" dirty="0"/>
              <a:t>		Hedeflerin belirlenmesi ve izlenmesi</a:t>
            </a:r>
          </a:p>
          <a:p>
            <a:pPr>
              <a:buNone/>
            </a:pPr>
            <a:r>
              <a:rPr lang="tr-TR" dirty="0"/>
              <a:t>		Süreç performansının izlenmesi</a:t>
            </a:r>
          </a:p>
          <a:p>
            <a:pPr>
              <a:buNone/>
            </a:pPr>
            <a:r>
              <a:rPr lang="tr-TR" dirty="0"/>
              <a:t>		İyileştirme fırsatlarının belirlenmesi</a:t>
            </a:r>
          </a:p>
          <a:p>
            <a:pPr>
              <a:buNone/>
            </a:pPr>
            <a:r>
              <a:rPr lang="tr-TR" dirty="0"/>
              <a:t>		İyileştirmelerinin hayata geçilmesi</a:t>
            </a:r>
          </a:p>
          <a:p>
            <a:pPr>
              <a:buNone/>
            </a:pPr>
            <a:r>
              <a:rPr lang="tr-TR" dirty="0"/>
              <a:t>		Süreç ekibinin yönlendirilmesi / liderliği	</a:t>
            </a:r>
          </a:p>
          <a:p>
            <a:pPr>
              <a:buNone/>
            </a:pPr>
            <a:r>
              <a:rPr lang="tr-TR" dirty="0"/>
              <a:t>		Diğer birim ve fonksiyonlarla iletişimin sağlanması</a:t>
            </a:r>
          </a:p>
          <a:p>
            <a:pPr>
              <a:buNone/>
            </a:pPr>
            <a:r>
              <a:rPr lang="tr-TR" dirty="0"/>
              <a:t>		Fonksiyonel ön yargılara sahip değildir</a:t>
            </a:r>
          </a:p>
          <a:p>
            <a:pPr>
              <a:buNone/>
            </a:pPr>
            <a:endParaRPr lang="tr-TR" dirty="0"/>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795349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Yetki ve Sorumluluk copy2.jpg"/>
          <p:cNvPicPr/>
          <p:nvPr/>
        </p:nvPicPr>
        <p:blipFill>
          <a:blip r:embed="rId2" cstate="print"/>
          <a:srcRect/>
          <a:stretch>
            <a:fillRect/>
          </a:stretch>
        </p:blipFill>
        <p:spPr bwMode="auto">
          <a:xfrm>
            <a:off x="611560" y="1628800"/>
            <a:ext cx="8208912" cy="4896544"/>
          </a:xfrm>
          <a:prstGeom prst="rect">
            <a:avLst/>
          </a:prstGeom>
          <a:noFill/>
          <a:ln w="9525">
            <a:noFill/>
            <a:miter lim="800000"/>
            <a:headEnd/>
            <a:tailEnd/>
          </a:ln>
        </p:spPr>
      </p:pic>
      <p:sp>
        <p:nvSpPr>
          <p:cNvPr id="4" name="1 Başlık"/>
          <p:cNvSpPr>
            <a:spLocks noGrp="1"/>
          </p:cNvSpPr>
          <p:nvPr>
            <p:ph type="title"/>
          </p:nvPr>
        </p:nvSpPr>
        <p:spPr>
          <a:xfrm>
            <a:off x="179512" y="548680"/>
            <a:ext cx="8229600" cy="1069848"/>
          </a:xfrm>
        </p:spPr>
        <p:txBody>
          <a:bodyPr>
            <a:noAutofit/>
          </a:bodyPr>
          <a:lstStyle/>
          <a:p>
            <a:r>
              <a:rPr lang="tr-TR" sz="3200" b="1" dirty="0">
                <a:solidFill>
                  <a:schemeClr val="tx1"/>
                </a:solidFill>
                <a:effectLst>
                  <a:outerShdw blurRad="38100" dist="38100" dir="2700000" algn="tl">
                    <a:srgbClr val="000000">
                      <a:alpha val="43137"/>
                    </a:srgbClr>
                  </a:outerShdw>
                </a:effectLst>
                <a:latin typeface="Arial" pitchFamily="34" charset="0"/>
                <a:cs typeface="Arial" pitchFamily="34" charset="0"/>
              </a:rPr>
              <a:t>Sorumluluk, Yetki Ve Görev Kavramlarının Grafiksel Tanımlanması</a:t>
            </a:r>
          </a:p>
        </p:txBody>
      </p:sp>
    </p:spTree>
    <p:extLst>
      <p:ext uri="{BB962C8B-B14F-4D97-AF65-F5344CB8AC3E}">
        <p14:creationId xmlns:p14="http://schemas.microsoft.com/office/powerpoint/2010/main" val="945045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3" name="Resim 2"/>
          <p:cNvPicPr>
            <a:picLocks noChangeAspect="1"/>
          </p:cNvPicPr>
          <p:nvPr/>
        </p:nvPicPr>
        <p:blipFill>
          <a:blip r:embed="rId2"/>
          <a:stretch>
            <a:fillRect/>
          </a:stretch>
        </p:blipFill>
        <p:spPr>
          <a:xfrm>
            <a:off x="518886" y="1885950"/>
            <a:ext cx="8244114" cy="4637314"/>
          </a:xfrm>
          <a:prstGeom prst="rect">
            <a:avLst/>
          </a:prstGeom>
        </p:spPr>
      </p:pic>
    </p:spTree>
    <p:extLst>
      <p:ext uri="{BB962C8B-B14F-4D97-AF65-F5344CB8AC3E}">
        <p14:creationId xmlns:p14="http://schemas.microsoft.com/office/powerpoint/2010/main" val="3614739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a:buNone/>
            </a:pPr>
            <a:r>
              <a:rPr lang="tr-TR" dirty="0"/>
              <a:t>Süreç Ekibi</a:t>
            </a:r>
          </a:p>
          <a:p>
            <a:pPr>
              <a:buNone/>
            </a:pPr>
            <a:r>
              <a:rPr lang="tr-TR" dirty="0"/>
              <a:t>	Fonksiyonel organizasyonlar için: Süreçte rol alan bölümler / sorumlular</a:t>
            </a:r>
          </a:p>
          <a:p>
            <a:pPr>
              <a:buNone/>
            </a:pPr>
            <a:r>
              <a:rPr lang="tr-TR" dirty="0"/>
              <a:t>	Süreç bazlı organizasyonlar için: Süreç ekibi</a:t>
            </a:r>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2187640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988840"/>
            <a:ext cx="8352927" cy="4464496"/>
          </a:xfrm>
        </p:spPr>
        <p:txBody>
          <a:bodyPr>
            <a:normAutofit fontScale="92500" lnSpcReduction="10000"/>
          </a:bodyPr>
          <a:lstStyle/>
          <a:p>
            <a:pPr>
              <a:lnSpc>
                <a:spcPct val="150000"/>
              </a:lnSpc>
              <a:buNone/>
            </a:pPr>
            <a:r>
              <a:rPr lang="tr-TR" sz="2000" dirty="0"/>
              <a:t>Kontrol Noktaları ve Kriterleri</a:t>
            </a:r>
          </a:p>
          <a:p>
            <a:pPr>
              <a:lnSpc>
                <a:spcPct val="150000"/>
              </a:lnSpc>
              <a:buNone/>
            </a:pPr>
            <a:endParaRPr lang="tr-TR" sz="2000" dirty="0"/>
          </a:p>
          <a:p>
            <a:pPr>
              <a:lnSpc>
                <a:spcPct val="150000"/>
              </a:lnSpc>
              <a:buNone/>
            </a:pPr>
            <a:r>
              <a:rPr lang="tr-TR" sz="2000" dirty="0"/>
              <a:t>Sürecin belirlenmiş çıktıları üretebilmesini güvence altına almak amacıyla yürütülen kontrol faaliyetleri ve bu faaliyetler sırasında verilecek karara esas teşkil eden kriterlerdir.</a:t>
            </a:r>
          </a:p>
          <a:p>
            <a:pPr>
              <a:lnSpc>
                <a:spcPct val="150000"/>
              </a:lnSpc>
              <a:buFont typeface="Wingdings" pitchFamily="2" charset="2"/>
              <a:buChar char="ü"/>
            </a:pPr>
            <a:r>
              <a:rPr lang="tr-TR" sz="2000" dirty="0"/>
              <a:t>Müşteri talepleri ve kabul kriterleri</a:t>
            </a:r>
          </a:p>
          <a:p>
            <a:pPr>
              <a:lnSpc>
                <a:spcPct val="150000"/>
              </a:lnSpc>
              <a:buFont typeface="Wingdings" pitchFamily="2" charset="2"/>
              <a:buChar char="ü"/>
            </a:pPr>
            <a:r>
              <a:rPr lang="tr-TR" sz="2000" dirty="0"/>
              <a:t>Ulusal / Uluslar arası Standartlar </a:t>
            </a:r>
          </a:p>
          <a:p>
            <a:pPr>
              <a:lnSpc>
                <a:spcPct val="150000"/>
              </a:lnSpc>
              <a:buFont typeface="Wingdings" pitchFamily="2" charset="2"/>
              <a:buChar char="ü"/>
            </a:pPr>
            <a:r>
              <a:rPr lang="tr-TR" sz="2000" dirty="0"/>
              <a:t>Yasa ve yönetmelikler </a:t>
            </a:r>
          </a:p>
          <a:p>
            <a:pPr>
              <a:lnSpc>
                <a:spcPct val="150000"/>
              </a:lnSpc>
              <a:buFont typeface="Wingdings" pitchFamily="2" charset="2"/>
              <a:buChar char="ü"/>
            </a:pPr>
            <a:r>
              <a:rPr lang="tr-TR" sz="2000" dirty="0"/>
              <a:t>Firma ihtiyaç ve beklentileri </a:t>
            </a:r>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2000205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988840"/>
            <a:ext cx="8280919" cy="4608512"/>
          </a:xfrm>
        </p:spPr>
        <p:txBody>
          <a:bodyPr>
            <a:normAutofit fontScale="55000" lnSpcReduction="20000"/>
          </a:bodyPr>
          <a:lstStyle/>
          <a:p>
            <a:pPr>
              <a:lnSpc>
                <a:spcPct val="160000"/>
              </a:lnSpc>
              <a:buNone/>
            </a:pPr>
            <a:r>
              <a:rPr lang="tr-TR" dirty="0"/>
              <a:t>Performans Göstergeleri</a:t>
            </a:r>
          </a:p>
          <a:p>
            <a:pPr>
              <a:lnSpc>
                <a:spcPct val="160000"/>
              </a:lnSpc>
              <a:buNone/>
            </a:pPr>
            <a:r>
              <a:rPr lang="tr-TR" dirty="0"/>
              <a:t>Performansı iyi olan bir süreç hem müşterinin hem de sürecin ihtiyaç ve beklentilerini karşılamalıdır.</a:t>
            </a:r>
          </a:p>
          <a:p>
            <a:pPr>
              <a:lnSpc>
                <a:spcPct val="160000"/>
              </a:lnSpc>
              <a:buNone/>
            </a:pPr>
            <a:r>
              <a:rPr lang="tr-TR" dirty="0"/>
              <a:t>	Müşterinin ihtiyaç ve beklentileri (Müşterinin Sesi)</a:t>
            </a:r>
          </a:p>
          <a:p>
            <a:pPr>
              <a:lnSpc>
                <a:spcPct val="160000"/>
              </a:lnSpc>
              <a:buNone/>
            </a:pPr>
            <a:r>
              <a:rPr lang="tr-TR" dirty="0"/>
              <a:t>	Sürecin ihtiyaç ve beklentileri (Sürecin Sesi)</a:t>
            </a:r>
          </a:p>
          <a:p>
            <a:pPr>
              <a:lnSpc>
                <a:spcPct val="160000"/>
              </a:lnSpc>
              <a:buNone/>
            </a:pPr>
            <a:endParaRPr lang="tr-TR" dirty="0"/>
          </a:p>
          <a:p>
            <a:pPr>
              <a:lnSpc>
                <a:spcPct val="160000"/>
              </a:lnSpc>
              <a:buNone/>
            </a:pPr>
            <a:r>
              <a:rPr lang="tr-TR" dirty="0"/>
              <a:t>Performans göstergeleri : 	</a:t>
            </a:r>
          </a:p>
          <a:p>
            <a:pPr>
              <a:lnSpc>
                <a:spcPct val="160000"/>
              </a:lnSpc>
              <a:buNone/>
            </a:pPr>
            <a:r>
              <a:rPr lang="tr-TR" dirty="0"/>
              <a:t>	Sürecin hedef ve stratejileri ile uyumlu </a:t>
            </a:r>
          </a:p>
          <a:p>
            <a:pPr>
              <a:lnSpc>
                <a:spcPct val="160000"/>
              </a:lnSpc>
              <a:buNone/>
            </a:pPr>
            <a:r>
              <a:rPr lang="tr-TR" dirty="0"/>
              <a:t>	İç ve dış müşteri beklentilerini gösteren</a:t>
            </a:r>
          </a:p>
          <a:p>
            <a:pPr>
              <a:lnSpc>
                <a:spcPct val="160000"/>
              </a:lnSpc>
              <a:buNone/>
            </a:pPr>
            <a:r>
              <a:rPr lang="tr-TR" dirty="0"/>
              <a:t>	Belirli bir tanımı / </a:t>
            </a:r>
            <a:r>
              <a:rPr lang="tr-TR" dirty="0" err="1"/>
              <a:t>formülasyonu</a:t>
            </a:r>
            <a:r>
              <a:rPr lang="tr-TR" dirty="0"/>
              <a:t> olan</a:t>
            </a:r>
          </a:p>
          <a:p>
            <a:pPr>
              <a:lnSpc>
                <a:spcPct val="160000"/>
              </a:lnSpc>
              <a:buNone/>
            </a:pPr>
            <a:r>
              <a:rPr lang="tr-TR" dirty="0"/>
              <a:t>	Farklı yorumlanması mümkün olmayan, spesifik</a:t>
            </a:r>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3969405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6084168" y="1700808"/>
            <a:ext cx="2483768" cy="4525963"/>
          </a:xfrm>
        </p:spPr>
        <p:txBody>
          <a:bodyPr>
            <a:normAutofit/>
          </a:bodyPr>
          <a:lstStyle/>
          <a:p>
            <a:pPr>
              <a:buNone/>
            </a:pPr>
            <a:r>
              <a:rPr lang="tr-TR" sz="2000" dirty="0"/>
              <a:t>İç Ölçümler</a:t>
            </a:r>
          </a:p>
          <a:p>
            <a:pPr>
              <a:buNone/>
            </a:pPr>
            <a:endParaRPr lang="tr-TR" sz="2000" dirty="0"/>
          </a:p>
          <a:p>
            <a:pPr>
              <a:buNone/>
            </a:pPr>
            <a:r>
              <a:rPr lang="tr-TR" sz="2000" dirty="0"/>
              <a:t>Sürecin kendi performansını gösterir </a:t>
            </a:r>
          </a:p>
          <a:p>
            <a:pPr>
              <a:buNone/>
            </a:pPr>
            <a:r>
              <a:rPr lang="tr-TR" sz="2000" dirty="0"/>
              <a:t>Cevap verme süresi </a:t>
            </a:r>
          </a:p>
          <a:p>
            <a:pPr>
              <a:buNone/>
            </a:pPr>
            <a:r>
              <a:rPr lang="tr-TR" sz="2000" dirty="0"/>
              <a:t>Çevrim süresi </a:t>
            </a:r>
          </a:p>
          <a:p>
            <a:pPr>
              <a:buNone/>
            </a:pPr>
            <a:r>
              <a:rPr lang="tr-TR" sz="2000" dirty="0"/>
              <a:t>İşlem süresi </a:t>
            </a:r>
          </a:p>
          <a:p>
            <a:pPr>
              <a:buNone/>
            </a:pPr>
            <a:r>
              <a:rPr lang="tr-TR" sz="2000" dirty="0"/>
              <a:t>İşletme  maliyeti </a:t>
            </a:r>
          </a:p>
          <a:p>
            <a:pPr>
              <a:buNone/>
            </a:pPr>
            <a:r>
              <a:rPr lang="tr-TR" sz="2000" dirty="0"/>
              <a:t>Verimlilik</a:t>
            </a:r>
          </a:p>
          <a:p>
            <a:pPr>
              <a:buNone/>
            </a:pPr>
            <a:endParaRPr lang="tr-TR" sz="2000" dirty="0"/>
          </a:p>
        </p:txBody>
      </p:sp>
      <p:sp>
        <p:nvSpPr>
          <p:cNvPr id="2" name="1 Başlık"/>
          <p:cNvSpPr>
            <a:spLocks noGrp="1"/>
          </p:cNvSpPr>
          <p:nvPr>
            <p:ph type="title"/>
          </p:nvPr>
        </p:nvSpPr>
        <p:spPr/>
        <p:txBody>
          <a:bodyPr/>
          <a:lstStyle/>
          <a:p>
            <a:r>
              <a:rPr lang="tr-TR" dirty="0"/>
              <a:t>SÜREÇLERİN TANIMLANMASI</a:t>
            </a:r>
          </a:p>
        </p:txBody>
      </p:sp>
      <p:sp>
        <p:nvSpPr>
          <p:cNvPr id="4" name="2 İçerik Yer Tutucusu"/>
          <p:cNvSpPr txBox="1">
            <a:spLocks/>
          </p:cNvSpPr>
          <p:nvPr/>
        </p:nvSpPr>
        <p:spPr>
          <a:xfrm>
            <a:off x="3131840" y="1711349"/>
            <a:ext cx="2376264"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Çıktı ölçümleri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Süreç çıktısının performansını gösterir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Miktar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Zamanında sevkiyat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Hata oranları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Tanımlara uygunluk</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Doğruluk</a:t>
            </a:r>
          </a:p>
        </p:txBody>
      </p:sp>
      <p:sp>
        <p:nvSpPr>
          <p:cNvPr id="5" name="2 İçerik Yer Tutucusu"/>
          <p:cNvSpPr txBox="1">
            <a:spLocks/>
          </p:cNvSpPr>
          <p:nvPr/>
        </p:nvSpPr>
        <p:spPr>
          <a:xfrm>
            <a:off x="323528" y="1772816"/>
            <a:ext cx="2736304" cy="4968552"/>
          </a:xfrm>
          <a:prstGeom prst="rect">
            <a:avLst/>
          </a:prstGeom>
        </p:spPr>
        <p:txBody>
          <a:bodyPr vert="horz" lIns="91440" tIns="45720" rIns="91440" bIns="45720" rtlCol="0">
            <a:normAutofit/>
          </a:bodyPr>
          <a:lstStyle/>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Müşteri memnuniyet ölçümleri</a:t>
            </a:r>
          </a:p>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Süreç performansını müşterinin nasıl algıladığını gösterir</a:t>
            </a:r>
          </a:p>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Güvenirlik </a:t>
            </a:r>
          </a:p>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Taleplere cevap</a:t>
            </a:r>
            <a:r>
              <a:rPr kumimoji="0" lang="tr-TR" sz="2000" b="0" i="0" u="none" strike="noStrike" kern="1200" cap="none" spc="0" normalizeH="0" noProof="0" dirty="0">
                <a:ln>
                  <a:noFill/>
                </a:ln>
                <a:solidFill>
                  <a:schemeClr val="tx1"/>
                </a:solidFill>
                <a:effectLst/>
                <a:uLnTx/>
                <a:uFillTx/>
                <a:latin typeface="+mn-lt"/>
                <a:ea typeface="+mn-ea"/>
                <a:cs typeface="+mn-cs"/>
              </a:rPr>
              <a:t> </a:t>
            </a:r>
            <a:r>
              <a:rPr kumimoji="0" lang="tr-TR" sz="2000" b="0" i="0" u="none" strike="noStrike" kern="1200" cap="none" spc="0" normalizeH="0" baseline="0" noProof="0" dirty="0">
                <a:ln>
                  <a:noFill/>
                </a:ln>
                <a:solidFill>
                  <a:schemeClr val="tx1"/>
                </a:solidFill>
                <a:effectLst/>
                <a:uLnTx/>
                <a:uFillTx/>
                <a:latin typeface="+mn-lt"/>
                <a:ea typeface="+mn-ea"/>
                <a:cs typeface="+mn-cs"/>
              </a:rPr>
              <a:t>verebilme </a:t>
            </a:r>
          </a:p>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Nezaket, iletişim</a:t>
            </a:r>
          </a:p>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Ödenen paraya karşılık alınan değer </a:t>
            </a:r>
          </a:p>
        </p:txBody>
      </p:sp>
    </p:spTree>
    <p:extLst>
      <p:ext uri="{BB962C8B-B14F-4D97-AF65-F5344CB8AC3E}">
        <p14:creationId xmlns:p14="http://schemas.microsoft.com/office/powerpoint/2010/main" val="1223444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971600" y="1988840"/>
            <a:ext cx="6923112" cy="3845024"/>
          </a:xfrm>
        </p:spPr>
        <p:txBody>
          <a:bodyPr/>
          <a:lstStyle/>
          <a:p>
            <a:pPr>
              <a:buNone/>
            </a:pPr>
            <a:r>
              <a:rPr lang="tr-TR" dirty="0"/>
              <a:t>Performans Hedefleri</a:t>
            </a:r>
          </a:p>
          <a:p>
            <a:pPr>
              <a:buNone/>
            </a:pPr>
            <a:endParaRPr lang="tr-TR" dirty="0"/>
          </a:p>
          <a:p>
            <a:r>
              <a:rPr lang="tr-TR" dirty="0"/>
              <a:t>Ölçülebilir				</a:t>
            </a:r>
          </a:p>
          <a:p>
            <a:r>
              <a:rPr lang="tr-TR" dirty="0"/>
              <a:t>Ulaşılabilir</a:t>
            </a:r>
          </a:p>
          <a:p>
            <a:r>
              <a:rPr lang="tr-TR" dirty="0"/>
              <a:t>Sonuca Yönelik 			</a:t>
            </a:r>
          </a:p>
          <a:p>
            <a:r>
              <a:rPr lang="tr-TR" dirty="0"/>
              <a:t>Dönemsel </a:t>
            </a:r>
          </a:p>
          <a:p>
            <a:pPr>
              <a:buNone/>
            </a:pPr>
            <a:endParaRPr lang="tr-TR" dirty="0"/>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885251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4"/>
          <p:cNvPicPr>
            <a:picLocks noChangeAspect="1" noChangeArrowheads="1"/>
          </p:cNvPicPr>
          <p:nvPr/>
        </p:nvPicPr>
        <p:blipFill>
          <a:blip r:embed="rId3" cstate="print"/>
          <a:srcRect/>
          <a:stretch>
            <a:fillRect/>
          </a:stretch>
        </p:blipFill>
        <p:spPr bwMode="auto">
          <a:xfrm>
            <a:off x="685800" y="1386840"/>
            <a:ext cx="7772400" cy="5410200"/>
          </a:xfrm>
          <a:prstGeom prst="rect">
            <a:avLst/>
          </a:prstGeom>
          <a:noFill/>
          <a:ln w="9525">
            <a:noFill/>
            <a:miter lim="800000"/>
            <a:headEnd/>
            <a:tailEnd/>
          </a:ln>
        </p:spPr>
      </p:pic>
      <p:sp>
        <p:nvSpPr>
          <p:cNvPr id="181251" name="Rectangle 3"/>
          <p:cNvSpPr>
            <a:spLocks noGrp="1" noChangeArrowheads="1"/>
          </p:cNvSpPr>
          <p:nvPr>
            <p:ph type="title"/>
          </p:nvPr>
        </p:nvSpPr>
        <p:spPr>
          <a:xfrm>
            <a:off x="714348" y="500042"/>
            <a:ext cx="8072494" cy="785834"/>
          </a:xfrm>
        </p:spPr>
        <p:txBody>
          <a:bodyPr>
            <a:normAutofit/>
          </a:bodyPr>
          <a:lstStyle/>
          <a:p>
            <a:pPr>
              <a:defRPr/>
            </a:pPr>
            <a:r>
              <a:rPr lang="en-US" sz="4000" b="1" dirty="0">
                <a:effectLst>
                  <a:outerShdw blurRad="38100" dist="38100" dir="2700000" algn="tl">
                    <a:srgbClr val="000000">
                      <a:alpha val="43137"/>
                    </a:srgbClr>
                  </a:outerShdw>
                </a:effectLst>
                <a:latin typeface="Calibri" pitchFamily="34" charset="0"/>
                <a:cs typeface="Calibri" pitchFamily="34" charset="0"/>
              </a:rPr>
              <a:t>SÜREÇLERİN TANIMLANMASI</a:t>
            </a:r>
            <a:endParaRPr lang="tr-TR" sz="40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3 Slayt Numarası Yer Tutucusu"/>
          <p:cNvSpPr>
            <a:spLocks noGrp="1"/>
          </p:cNvSpPr>
          <p:nvPr>
            <p:ph type="sldNum" sz="quarter" idx="12"/>
          </p:nvPr>
        </p:nvSpPr>
        <p:spPr/>
        <p:txBody>
          <a:bodyPr>
            <a:normAutofit fontScale="85000" lnSpcReduction="20000"/>
          </a:bodyPr>
          <a:lstStyle/>
          <a:p>
            <a:fld id="{B1DEFA8C-F947-479F-BE07-76B6B3F80BF1}" type="slidenum">
              <a:rPr lang="tr-TR" smtClean="0"/>
              <a:pPr/>
              <a:t>32</a:t>
            </a:fld>
            <a:endParaRPr lang="tr-TR"/>
          </a:p>
        </p:txBody>
      </p:sp>
    </p:spTree>
    <p:extLst>
      <p:ext uri="{BB962C8B-B14F-4D97-AF65-F5344CB8AC3E}">
        <p14:creationId xmlns:p14="http://schemas.microsoft.com/office/powerpoint/2010/main" val="368013526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a:off x="1071538" y="3422338"/>
            <a:ext cx="2357454"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215074" y="3422656"/>
            <a:ext cx="1928826"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289358" y="1982817"/>
            <a:ext cx="1778938"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tr-TR" sz="2400" b="1" dirty="0"/>
              <a:t>girdi</a:t>
            </a:r>
          </a:p>
        </p:txBody>
      </p:sp>
      <p:sp>
        <p:nvSpPr>
          <p:cNvPr id="11" name="TextBox 10"/>
          <p:cNvSpPr txBox="1"/>
          <p:nvPr/>
        </p:nvSpPr>
        <p:spPr>
          <a:xfrm>
            <a:off x="6467659" y="2007602"/>
            <a:ext cx="1423656"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tr-TR" sz="2400" b="1" dirty="0"/>
              <a:t>çıktı</a:t>
            </a:r>
          </a:p>
        </p:txBody>
      </p:sp>
      <p:sp>
        <p:nvSpPr>
          <p:cNvPr id="12" name="TextBox 11"/>
          <p:cNvSpPr txBox="1"/>
          <p:nvPr/>
        </p:nvSpPr>
        <p:spPr>
          <a:xfrm>
            <a:off x="1643042" y="3493776"/>
            <a:ext cx="1303358" cy="369332"/>
          </a:xfrm>
          <a:prstGeom prst="rect">
            <a:avLst/>
          </a:prstGeom>
          <a:noFill/>
        </p:spPr>
        <p:txBody>
          <a:bodyPr wrap="square" rtlCol="0">
            <a:spAutoFit/>
          </a:bodyPr>
          <a:lstStyle/>
          <a:p>
            <a:r>
              <a:rPr lang="tr-TR" b="1" dirty="0"/>
              <a:t>malzeme</a:t>
            </a:r>
          </a:p>
        </p:txBody>
      </p:sp>
      <p:sp>
        <p:nvSpPr>
          <p:cNvPr id="14" name="TextBox 13"/>
          <p:cNvSpPr txBox="1"/>
          <p:nvPr/>
        </p:nvSpPr>
        <p:spPr>
          <a:xfrm>
            <a:off x="1643042" y="3850966"/>
            <a:ext cx="857256" cy="369332"/>
          </a:xfrm>
          <a:prstGeom prst="rect">
            <a:avLst/>
          </a:prstGeom>
          <a:noFill/>
        </p:spPr>
        <p:txBody>
          <a:bodyPr wrap="square" rtlCol="0">
            <a:spAutoFit/>
          </a:bodyPr>
          <a:lstStyle/>
          <a:p>
            <a:r>
              <a:rPr lang="tr-TR" b="1" dirty="0"/>
              <a:t>insan</a:t>
            </a:r>
          </a:p>
        </p:txBody>
      </p:sp>
      <p:sp>
        <p:nvSpPr>
          <p:cNvPr id="15" name="TextBox 14"/>
          <p:cNvSpPr txBox="1"/>
          <p:nvPr/>
        </p:nvSpPr>
        <p:spPr>
          <a:xfrm>
            <a:off x="1643042" y="4565346"/>
            <a:ext cx="1071570" cy="369332"/>
          </a:xfrm>
          <a:prstGeom prst="rect">
            <a:avLst/>
          </a:prstGeom>
          <a:noFill/>
        </p:spPr>
        <p:txBody>
          <a:bodyPr wrap="square" rtlCol="0">
            <a:spAutoFit/>
          </a:bodyPr>
          <a:lstStyle/>
          <a:p>
            <a:r>
              <a:rPr lang="tr-TR" b="1" dirty="0"/>
              <a:t>para</a:t>
            </a:r>
          </a:p>
        </p:txBody>
      </p:sp>
      <p:sp>
        <p:nvSpPr>
          <p:cNvPr id="17" name="TextBox 16"/>
          <p:cNvSpPr txBox="1"/>
          <p:nvPr/>
        </p:nvSpPr>
        <p:spPr>
          <a:xfrm>
            <a:off x="1643042" y="4922536"/>
            <a:ext cx="857256" cy="369332"/>
          </a:xfrm>
          <a:prstGeom prst="rect">
            <a:avLst/>
          </a:prstGeom>
          <a:noFill/>
        </p:spPr>
        <p:txBody>
          <a:bodyPr wrap="square" rtlCol="0">
            <a:spAutoFit/>
          </a:bodyPr>
          <a:lstStyle/>
          <a:p>
            <a:r>
              <a:rPr lang="tr-TR" b="1" dirty="0"/>
              <a:t>bina</a:t>
            </a:r>
          </a:p>
        </p:txBody>
      </p:sp>
      <p:sp>
        <p:nvSpPr>
          <p:cNvPr id="18" name="TextBox 17"/>
          <p:cNvSpPr txBox="1"/>
          <p:nvPr/>
        </p:nvSpPr>
        <p:spPr>
          <a:xfrm>
            <a:off x="1643042" y="4208156"/>
            <a:ext cx="1000132" cy="369332"/>
          </a:xfrm>
          <a:prstGeom prst="rect">
            <a:avLst/>
          </a:prstGeom>
          <a:noFill/>
        </p:spPr>
        <p:txBody>
          <a:bodyPr wrap="square" rtlCol="0">
            <a:spAutoFit/>
          </a:bodyPr>
          <a:lstStyle/>
          <a:p>
            <a:r>
              <a:rPr lang="tr-TR" b="1" dirty="0"/>
              <a:t>makina</a:t>
            </a:r>
          </a:p>
        </p:txBody>
      </p:sp>
      <p:sp>
        <p:nvSpPr>
          <p:cNvPr id="19" name="TextBox 18"/>
          <p:cNvSpPr txBox="1"/>
          <p:nvPr/>
        </p:nvSpPr>
        <p:spPr>
          <a:xfrm>
            <a:off x="1643042" y="5279726"/>
            <a:ext cx="928694" cy="369332"/>
          </a:xfrm>
          <a:prstGeom prst="rect">
            <a:avLst/>
          </a:prstGeom>
          <a:noFill/>
        </p:spPr>
        <p:txBody>
          <a:bodyPr wrap="square" rtlCol="0">
            <a:spAutoFit/>
          </a:bodyPr>
          <a:lstStyle/>
          <a:p>
            <a:r>
              <a:rPr lang="tr-TR" b="1" dirty="0"/>
              <a:t>bilgi</a:t>
            </a:r>
          </a:p>
        </p:txBody>
      </p:sp>
      <p:sp>
        <p:nvSpPr>
          <p:cNvPr id="20" name="TextBox 19"/>
          <p:cNvSpPr txBox="1"/>
          <p:nvPr/>
        </p:nvSpPr>
        <p:spPr>
          <a:xfrm>
            <a:off x="6357950" y="3708090"/>
            <a:ext cx="1857388" cy="369332"/>
          </a:xfrm>
          <a:prstGeom prst="rect">
            <a:avLst/>
          </a:prstGeom>
          <a:noFill/>
        </p:spPr>
        <p:txBody>
          <a:bodyPr wrap="square" rtlCol="0">
            <a:spAutoFit/>
          </a:bodyPr>
          <a:lstStyle/>
          <a:p>
            <a:r>
              <a:rPr lang="tr-TR" b="1" dirty="0"/>
              <a:t>mal veya hizmet</a:t>
            </a:r>
          </a:p>
        </p:txBody>
      </p:sp>
      <p:sp>
        <p:nvSpPr>
          <p:cNvPr id="22" name="Title 21"/>
          <p:cNvSpPr>
            <a:spLocks noGrp="1"/>
          </p:cNvSpPr>
          <p:nvPr>
            <p:ph type="title"/>
          </p:nvPr>
        </p:nvSpPr>
        <p:spPr/>
        <p:txBody>
          <a:bodyPr anchor="ctr"/>
          <a:lstStyle/>
          <a:p>
            <a:pPr algn="ctr"/>
            <a:r>
              <a:rPr lang="tr-TR" sz="4800" b="1" dirty="0">
                <a:solidFill>
                  <a:schemeClr val="tx1"/>
                </a:solidFill>
                <a:latin typeface="Calibri" pitchFamily="34" charset="0"/>
                <a:cs typeface="Calibri" pitchFamily="34" charset="0"/>
              </a:rPr>
              <a:t>Process ??</a:t>
            </a:r>
            <a:endParaRPr lang="en-US" sz="4800" b="1" dirty="0">
              <a:solidFill>
                <a:schemeClr val="tx1"/>
              </a:solidFill>
              <a:latin typeface="Calibri" pitchFamily="34" charset="0"/>
              <a:cs typeface="Calibri" pitchFamily="34" charset="0"/>
            </a:endParaRPr>
          </a:p>
        </p:txBody>
      </p:sp>
      <p:sp>
        <p:nvSpPr>
          <p:cNvPr id="23" name="TextBox 22"/>
          <p:cNvSpPr txBox="1"/>
          <p:nvPr/>
        </p:nvSpPr>
        <p:spPr>
          <a:xfrm>
            <a:off x="3428992" y="1747520"/>
            <a:ext cx="2786082"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tr-TR" sz="2400" b="1" dirty="0"/>
              <a:t>KAYNAK</a:t>
            </a:r>
          </a:p>
        </p:txBody>
      </p:sp>
      <p:sp>
        <p:nvSpPr>
          <p:cNvPr id="24" name="TextBox 23"/>
          <p:cNvSpPr txBox="1"/>
          <p:nvPr/>
        </p:nvSpPr>
        <p:spPr>
          <a:xfrm>
            <a:off x="3428993" y="4630148"/>
            <a:ext cx="2786082" cy="1015663"/>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tr-TR" sz="2000" b="1" dirty="0">
                <a:solidFill>
                  <a:srgbClr val="FF0000"/>
                </a:solidFill>
              </a:rPr>
              <a:t>Doğal Kaynaklar</a:t>
            </a:r>
          </a:p>
          <a:p>
            <a:pPr algn="ctr"/>
            <a:r>
              <a:rPr lang="tr-TR" sz="2000" b="1" dirty="0"/>
              <a:t>İnsan, Taşınır, Taşınmaz, Zaman</a:t>
            </a:r>
          </a:p>
        </p:txBody>
      </p:sp>
      <p:sp>
        <p:nvSpPr>
          <p:cNvPr id="2" name="Rectangle 1"/>
          <p:cNvSpPr/>
          <p:nvPr/>
        </p:nvSpPr>
        <p:spPr>
          <a:xfrm>
            <a:off x="1048120" y="3053006"/>
            <a:ext cx="2047099" cy="369332"/>
          </a:xfrm>
          <a:prstGeom prst="rect">
            <a:avLst/>
          </a:prstGeom>
        </p:spPr>
        <p:txBody>
          <a:bodyPr wrap="none">
            <a:spAutoFit/>
          </a:bodyPr>
          <a:lstStyle/>
          <a:p>
            <a:r>
              <a:rPr lang="tr-TR" dirty="0"/>
              <a:t>Pull by the Customer</a:t>
            </a:r>
          </a:p>
        </p:txBody>
      </p:sp>
      <p:sp>
        <p:nvSpPr>
          <p:cNvPr id="26" name="Content Placeholder 2"/>
          <p:cNvSpPr>
            <a:spLocks noGrp="1"/>
          </p:cNvSpPr>
          <p:nvPr>
            <p:ph sz="quarter" idx="1"/>
          </p:nvPr>
        </p:nvSpPr>
        <p:spPr>
          <a:xfrm>
            <a:off x="3428992" y="2469267"/>
            <a:ext cx="2786081" cy="2002409"/>
          </a:xfrm>
        </p:spPr>
        <p:style>
          <a:lnRef idx="0">
            <a:schemeClr val="accent4"/>
          </a:lnRef>
          <a:fillRef idx="3">
            <a:schemeClr val="accent4"/>
          </a:fillRef>
          <a:effectRef idx="3">
            <a:schemeClr val="accent4"/>
          </a:effectRef>
          <a:fontRef idx="minor">
            <a:schemeClr val="lt1"/>
          </a:fontRef>
        </p:style>
        <p:txBody>
          <a:bodyPr>
            <a:normAutofit/>
          </a:bodyPr>
          <a:lstStyle/>
          <a:p>
            <a:r>
              <a:rPr lang="tr-TR" sz="1800" b="1" dirty="0">
                <a:effectLst>
                  <a:outerShdw blurRad="38100" dist="38100" dir="2700000" algn="tl">
                    <a:srgbClr val="000000">
                      <a:alpha val="43137"/>
                    </a:srgbClr>
                  </a:outerShdw>
                </a:effectLst>
                <a:latin typeface="Calibri" pitchFamily="34" charset="0"/>
                <a:cs typeface="Calibri" pitchFamily="34" charset="0"/>
              </a:rPr>
              <a:t>DÖNÜŞÜM KATMANI</a:t>
            </a:r>
          </a:p>
          <a:p>
            <a:r>
              <a:rPr lang="tr-TR" sz="1800" b="1" dirty="0">
                <a:effectLst>
                  <a:outerShdw blurRad="38100" dist="38100" dir="2700000" algn="tl">
                    <a:srgbClr val="000000">
                      <a:alpha val="43137"/>
                    </a:srgbClr>
                  </a:outerShdw>
                </a:effectLst>
                <a:latin typeface="Calibri" pitchFamily="34" charset="0"/>
                <a:cs typeface="Calibri" pitchFamily="34" charset="0"/>
              </a:rPr>
              <a:t>Fiziksel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Konumsal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Değersel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Bilgisel Dönüşüm</a:t>
            </a:r>
            <a:endParaRPr lang="tr-TR" sz="1800" dirty="0"/>
          </a:p>
        </p:txBody>
      </p:sp>
    </p:spTree>
    <p:extLst>
      <p:ext uri="{BB962C8B-B14F-4D97-AF65-F5344CB8AC3E}">
        <p14:creationId xmlns:p14="http://schemas.microsoft.com/office/powerpoint/2010/main" val="1138977449"/>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P spid="15" grpId="0"/>
      <p:bldP spid="17" grpId="0"/>
      <p:bldP spid="18" grpId="0"/>
      <p:bldP spid="19" grpId="0"/>
      <p:bldP spid="20" grpId="0"/>
      <p:bldP spid="23" grpId="0" animBg="1"/>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575556" y="3933056"/>
            <a:ext cx="3240360" cy="1944216"/>
          </a:xfrm>
        </p:spPr>
        <p:txBody>
          <a:bodyPr>
            <a:noAutofit/>
          </a:bodyPr>
          <a:lstStyle/>
          <a:p>
            <a:pPr>
              <a:buNone/>
            </a:pPr>
            <a:r>
              <a:rPr lang="tr-TR" sz="1600" dirty="0"/>
              <a:t>Performans Göstergesi 	</a:t>
            </a:r>
          </a:p>
          <a:p>
            <a:pPr>
              <a:buNone/>
            </a:pPr>
            <a:endParaRPr lang="tr-TR" sz="1600" dirty="0"/>
          </a:p>
          <a:p>
            <a:pPr>
              <a:buNone/>
            </a:pPr>
            <a:r>
              <a:rPr lang="tr-TR" sz="1600" dirty="0"/>
              <a:t>İşlem doğruluk oranı (%) </a:t>
            </a:r>
          </a:p>
          <a:p>
            <a:pPr>
              <a:buNone/>
            </a:pPr>
            <a:r>
              <a:rPr lang="tr-TR" sz="1600" dirty="0"/>
              <a:t>Ortalama işlem süresi (</a:t>
            </a:r>
            <a:r>
              <a:rPr lang="tr-TR" sz="1600" dirty="0" err="1"/>
              <a:t>dk</a:t>
            </a:r>
            <a:r>
              <a:rPr lang="tr-TR" sz="1600" dirty="0"/>
              <a:t> / kişi )</a:t>
            </a:r>
          </a:p>
          <a:p>
            <a:pPr>
              <a:buNone/>
            </a:pPr>
            <a:r>
              <a:rPr lang="tr-TR" sz="1600" dirty="0"/>
              <a:t>Müşteri bekleme süresi (</a:t>
            </a:r>
            <a:r>
              <a:rPr lang="tr-TR" sz="1600" dirty="0" err="1"/>
              <a:t>dk</a:t>
            </a:r>
            <a:r>
              <a:rPr lang="tr-TR" sz="1600" dirty="0"/>
              <a:t>)</a:t>
            </a:r>
          </a:p>
          <a:p>
            <a:pPr>
              <a:buNone/>
            </a:pPr>
            <a:r>
              <a:rPr lang="tr-TR" sz="1600" dirty="0"/>
              <a:t>Personel başına düşen müşteri adedi </a:t>
            </a:r>
          </a:p>
        </p:txBody>
      </p:sp>
      <p:sp>
        <p:nvSpPr>
          <p:cNvPr id="2" name="1 Başlık"/>
          <p:cNvSpPr>
            <a:spLocks noGrp="1"/>
          </p:cNvSpPr>
          <p:nvPr>
            <p:ph type="title"/>
          </p:nvPr>
        </p:nvSpPr>
        <p:spPr/>
        <p:txBody>
          <a:bodyPr/>
          <a:lstStyle/>
          <a:p>
            <a:r>
              <a:rPr lang="tr-TR" dirty="0"/>
              <a:t>SÜREÇLERİN TANIMLANMASI</a:t>
            </a:r>
          </a:p>
        </p:txBody>
      </p:sp>
      <p:sp>
        <p:nvSpPr>
          <p:cNvPr id="4" name="3 Dikdörtgen"/>
          <p:cNvSpPr/>
          <p:nvPr/>
        </p:nvSpPr>
        <p:spPr>
          <a:xfrm>
            <a:off x="251520" y="1556792"/>
            <a:ext cx="3888432" cy="2160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tr-TR" dirty="0"/>
              <a:t>Örnek : Telefon Bankacılığı Müşterinin ihtiyaç ve beklentileri nelerdir?</a:t>
            </a:r>
          </a:p>
          <a:p>
            <a:pPr>
              <a:buNone/>
            </a:pPr>
            <a:r>
              <a:rPr lang="tr-TR" dirty="0"/>
              <a:t>İşlem doğruluğu </a:t>
            </a:r>
          </a:p>
          <a:p>
            <a:pPr>
              <a:buNone/>
            </a:pPr>
            <a:r>
              <a:rPr lang="tr-TR" dirty="0"/>
              <a:t>Kısa sürede gerçekleştirilmesi </a:t>
            </a:r>
          </a:p>
          <a:p>
            <a:pPr>
              <a:buNone/>
            </a:pPr>
            <a:r>
              <a:rPr lang="tr-TR" dirty="0"/>
              <a:t>Banka şubesine gidişin engellenmesi </a:t>
            </a:r>
          </a:p>
        </p:txBody>
      </p:sp>
      <p:sp>
        <p:nvSpPr>
          <p:cNvPr id="5" name="4 Dikdörtgen"/>
          <p:cNvSpPr/>
          <p:nvPr/>
        </p:nvSpPr>
        <p:spPr>
          <a:xfrm>
            <a:off x="4427984" y="1628800"/>
            <a:ext cx="4176464" cy="2088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tr-TR" dirty="0"/>
              <a:t>Firmanın ihtiyaç ve beklentileri nelerdir?</a:t>
            </a:r>
          </a:p>
          <a:p>
            <a:pPr>
              <a:buNone/>
            </a:pPr>
            <a:r>
              <a:rPr lang="tr-TR" dirty="0"/>
              <a:t>Mümkün olan en az sayıda personel kullanımı</a:t>
            </a:r>
          </a:p>
          <a:p>
            <a:pPr>
              <a:buNone/>
            </a:pPr>
            <a:r>
              <a:rPr lang="tr-TR" dirty="0"/>
              <a:t>Yanlışlıklar nedeniyle ödenilen tazminatlar</a:t>
            </a:r>
          </a:p>
          <a:p>
            <a:pPr>
              <a:buNone/>
            </a:pPr>
            <a:r>
              <a:rPr lang="tr-TR" dirty="0"/>
              <a:t>Banka şubesine gelişin engellenmesi </a:t>
            </a:r>
          </a:p>
        </p:txBody>
      </p:sp>
      <p:sp>
        <p:nvSpPr>
          <p:cNvPr id="6" name="2 İçerik Yer Tutucusu"/>
          <p:cNvSpPr txBox="1">
            <a:spLocks/>
          </p:cNvSpPr>
          <p:nvPr/>
        </p:nvSpPr>
        <p:spPr>
          <a:xfrm>
            <a:off x="4427984" y="3861048"/>
            <a:ext cx="2016224" cy="187220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Mevcut Durum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(2002)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 78</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9,7 </a:t>
            </a:r>
            <a:r>
              <a:rPr kumimoji="0" lang="tr-TR" sz="1600" b="0" i="0" u="none" strike="noStrike" kern="1200" cap="none" spc="0" normalizeH="0" baseline="0" noProof="0" dirty="0" err="1">
                <a:ln>
                  <a:noFill/>
                </a:ln>
                <a:solidFill>
                  <a:schemeClr val="tx1"/>
                </a:solidFill>
                <a:effectLst/>
                <a:uLnTx/>
                <a:uFillTx/>
                <a:latin typeface="+mn-lt"/>
                <a:ea typeface="+mn-ea"/>
                <a:cs typeface="+mn-cs"/>
              </a:rPr>
              <a:t>dk</a:t>
            </a:r>
            <a:endParaRPr kumimoji="0" lang="tr-TR"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4 </a:t>
            </a:r>
            <a:r>
              <a:rPr kumimoji="0" lang="tr-TR" sz="1600" b="0" i="0" u="none" strike="noStrike" kern="1200" cap="none" spc="0" normalizeH="0" baseline="0" noProof="0" dirty="0" err="1">
                <a:ln>
                  <a:noFill/>
                </a:ln>
                <a:solidFill>
                  <a:schemeClr val="tx1"/>
                </a:solidFill>
                <a:effectLst/>
                <a:uLnTx/>
                <a:uFillTx/>
                <a:latin typeface="+mn-lt"/>
                <a:ea typeface="+mn-ea"/>
                <a:cs typeface="+mn-cs"/>
              </a:rPr>
              <a:t>dk</a:t>
            </a:r>
            <a:r>
              <a:rPr kumimoji="0" lang="tr-TR" sz="16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78 </a:t>
            </a:r>
          </a:p>
        </p:txBody>
      </p:sp>
      <p:sp>
        <p:nvSpPr>
          <p:cNvPr id="7" name="2 İçerik Yer Tutucusu"/>
          <p:cNvSpPr txBox="1">
            <a:spLocks/>
          </p:cNvSpPr>
          <p:nvPr/>
        </p:nvSpPr>
        <p:spPr>
          <a:xfrm>
            <a:off x="7092280" y="3861048"/>
            <a:ext cx="1728192" cy="20608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Hedef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tr-TR" sz="1600" dirty="0"/>
              <a:t>(</a:t>
            </a:r>
            <a:r>
              <a:rPr kumimoji="0" lang="tr-TR" sz="1600" b="0" i="0" u="none" strike="noStrike" kern="1200" cap="none" spc="0" normalizeH="0" baseline="0" noProof="0" dirty="0">
                <a:ln>
                  <a:noFill/>
                </a:ln>
                <a:solidFill>
                  <a:schemeClr val="tx1"/>
                </a:solidFill>
                <a:effectLst/>
                <a:uLnTx/>
                <a:uFillTx/>
                <a:latin typeface="+mn-lt"/>
                <a:ea typeface="+mn-ea"/>
                <a:cs typeface="+mn-cs"/>
              </a:rPr>
              <a:t>2003)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%90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6 </a:t>
            </a:r>
            <a:r>
              <a:rPr kumimoji="0" lang="tr-TR" sz="1600" b="0" i="0" u="none" strike="noStrike" kern="1200" cap="none" spc="0" normalizeH="0" baseline="0" noProof="0" dirty="0" err="1">
                <a:ln>
                  <a:noFill/>
                </a:ln>
                <a:solidFill>
                  <a:schemeClr val="tx1"/>
                </a:solidFill>
                <a:effectLst/>
                <a:uLnTx/>
                <a:uFillTx/>
                <a:latin typeface="+mn-lt"/>
                <a:ea typeface="+mn-ea"/>
                <a:cs typeface="+mn-cs"/>
              </a:rPr>
              <a:t>dk</a:t>
            </a:r>
            <a:endParaRPr kumimoji="0" lang="tr-TR"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2 </a:t>
            </a:r>
            <a:r>
              <a:rPr kumimoji="0" lang="tr-TR" sz="1600" b="0" i="0" u="none" strike="noStrike" kern="1200" cap="none" spc="0" normalizeH="0" baseline="0" noProof="0" dirty="0" err="1">
                <a:ln>
                  <a:noFill/>
                </a:ln>
                <a:solidFill>
                  <a:schemeClr val="tx1"/>
                </a:solidFill>
                <a:effectLst/>
                <a:uLnTx/>
                <a:uFillTx/>
                <a:latin typeface="+mn-lt"/>
                <a:ea typeface="+mn-ea"/>
                <a:cs typeface="+mn-cs"/>
              </a:rPr>
              <a:t>dk</a:t>
            </a:r>
            <a:r>
              <a:rPr kumimoji="0" lang="tr-TR" sz="16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85</a:t>
            </a:r>
          </a:p>
        </p:txBody>
      </p:sp>
      <p:sp>
        <p:nvSpPr>
          <p:cNvPr id="8" name="2 İçerik Yer Tutucusu"/>
          <p:cNvSpPr txBox="1">
            <a:spLocks/>
          </p:cNvSpPr>
          <p:nvPr/>
        </p:nvSpPr>
        <p:spPr>
          <a:xfrm>
            <a:off x="1691680" y="6093296"/>
            <a:ext cx="3960440"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tr-TR" sz="1600" b="0" i="0" u="none" strike="noStrike" kern="1200" cap="none" spc="0" normalizeH="0" baseline="0" noProof="0" dirty="0">
                <a:ln>
                  <a:noFill/>
                </a:ln>
                <a:solidFill>
                  <a:schemeClr val="tx1"/>
                </a:solidFill>
                <a:effectLst/>
                <a:uLnTx/>
                <a:uFillTx/>
                <a:latin typeface="+mn-lt"/>
                <a:ea typeface="+mn-ea"/>
                <a:cs typeface="+mn-cs"/>
              </a:rPr>
              <a:t>Diğer performans göstergeleri neler olabilir</a:t>
            </a:r>
          </a:p>
        </p:txBody>
      </p:sp>
    </p:spTree>
    <p:extLst>
      <p:ext uri="{BB962C8B-B14F-4D97-AF65-F5344CB8AC3E}">
        <p14:creationId xmlns:p14="http://schemas.microsoft.com/office/powerpoint/2010/main" val="2750128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755577" y="1772816"/>
            <a:ext cx="7524824" cy="4608512"/>
          </a:xfrm>
        </p:spPr>
        <p:txBody>
          <a:bodyPr>
            <a:normAutofit fontScale="92500" lnSpcReduction="10000"/>
          </a:bodyPr>
          <a:lstStyle/>
          <a:p>
            <a:pPr>
              <a:buNone/>
            </a:pPr>
            <a:r>
              <a:rPr lang="tr-TR" dirty="0"/>
              <a:t>SÜREÇLERİN TANIMLANMASI – </a:t>
            </a:r>
            <a:r>
              <a:rPr lang="tr-TR" sz="2000" dirty="0"/>
              <a:t>KAPLUMBAĞA DİYAGRAMI </a:t>
            </a:r>
          </a:p>
          <a:p>
            <a:pPr>
              <a:buNone/>
            </a:pPr>
            <a:r>
              <a:rPr lang="tr-TR" sz="2000" dirty="0"/>
              <a:t>NE İLE ?				           KİM İLE ? </a:t>
            </a:r>
          </a:p>
          <a:p>
            <a:pPr>
              <a:buNone/>
            </a:pPr>
            <a:r>
              <a:rPr lang="tr-TR" sz="1600" dirty="0"/>
              <a:t>Araç, gereç, ekipman ihtiyaçları nelerdir?	       Hangi nitelikte kaç personele ihtiyaç vardır?</a:t>
            </a:r>
          </a:p>
          <a:p>
            <a:pPr>
              <a:buNone/>
            </a:pPr>
            <a:endParaRPr lang="tr-TR" sz="1600" dirty="0"/>
          </a:p>
          <a:p>
            <a:pPr>
              <a:buNone/>
            </a:pPr>
            <a:endParaRPr lang="tr-TR" sz="1600" dirty="0"/>
          </a:p>
          <a:p>
            <a:pPr>
              <a:buNone/>
            </a:pPr>
            <a:endParaRPr lang="tr-TR" sz="1600" dirty="0"/>
          </a:p>
          <a:p>
            <a:pPr>
              <a:buNone/>
            </a:pPr>
            <a:endParaRPr lang="tr-TR" sz="1600" dirty="0"/>
          </a:p>
          <a:p>
            <a:pPr>
              <a:buNone/>
            </a:pPr>
            <a:endParaRPr lang="tr-TR" sz="1600" dirty="0"/>
          </a:p>
          <a:p>
            <a:pPr>
              <a:buNone/>
            </a:pPr>
            <a:endParaRPr lang="tr-TR" sz="1600" dirty="0"/>
          </a:p>
          <a:p>
            <a:pPr>
              <a:buNone/>
            </a:pPr>
            <a:endParaRPr lang="tr-TR" sz="1600" dirty="0"/>
          </a:p>
          <a:p>
            <a:pPr>
              <a:buNone/>
            </a:pPr>
            <a:endParaRPr lang="tr-TR" sz="1600" dirty="0"/>
          </a:p>
          <a:p>
            <a:pPr>
              <a:buNone/>
            </a:pPr>
            <a:r>
              <a:rPr lang="tr-TR" sz="2000" dirty="0"/>
              <a:t>NE KADAR? 			               NASIL?</a:t>
            </a:r>
          </a:p>
          <a:p>
            <a:pPr>
              <a:buNone/>
            </a:pPr>
            <a:r>
              <a:rPr lang="tr-TR" sz="1600" dirty="0"/>
              <a:t>Performans göstergeleri ve hedefleri nelerdir?    Sürecin etkin çalışması için hangi bilgi ve 						</a:t>
            </a:r>
            <a:r>
              <a:rPr lang="tr-TR" sz="1600" dirty="0" err="1"/>
              <a:t>dökümana</a:t>
            </a:r>
            <a:r>
              <a:rPr lang="tr-TR" sz="1600" dirty="0"/>
              <a:t> ihtiyaç var ?</a:t>
            </a:r>
          </a:p>
          <a:p>
            <a:pPr>
              <a:buNone/>
            </a:pPr>
            <a:endParaRPr lang="tr-TR" sz="2000" dirty="0"/>
          </a:p>
          <a:p>
            <a:pPr>
              <a:buNone/>
            </a:pPr>
            <a:endParaRPr lang="tr-TR" sz="2000" dirty="0"/>
          </a:p>
        </p:txBody>
      </p:sp>
      <p:sp>
        <p:nvSpPr>
          <p:cNvPr id="2" name="1 Başlık"/>
          <p:cNvSpPr>
            <a:spLocks noGrp="1"/>
          </p:cNvSpPr>
          <p:nvPr>
            <p:ph type="title"/>
          </p:nvPr>
        </p:nvSpPr>
        <p:spPr/>
        <p:txBody>
          <a:bodyPr/>
          <a:lstStyle/>
          <a:p>
            <a:r>
              <a:rPr lang="tr-TR" dirty="0"/>
              <a:t>SÜREÇLERİN TANIMLANMASI</a:t>
            </a:r>
          </a:p>
        </p:txBody>
      </p:sp>
      <p:sp>
        <p:nvSpPr>
          <p:cNvPr id="4" name="3 Oval"/>
          <p:cNvSpPr/>
          <p:nvPr/>
        </p:nvSpPr>
        <p:spPr>
          <a:xfrm>
            <a:off x="3419872" y="3356992"/>
            <a:ext cx="2160240" cy="12961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a:t>
            </a:r>
          </a:p>
        </p:txBody>
      </p:sp>
      <p:sp>
        <p:nvSpPr>
          <p:cNvPr id="5" name="4 Dikdörtgen"/>
          <p:cNvSpPr/>
          <p:nvPr/>
        </p:nvSpPr>
        <p:spPr>
          <a:xfrm rot="16200000">
            <a:off x="1349642" y="3627022"/>
            <a:ext cx="2016224" cy="756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GEREKLİLİKLER</a:t>
            </a:r>
          </a:p>
        </p:txBody>
      </p:sp>
      <p:sp>
        <p:nvSpPr>
          <p:cNvPr id="7" name="6 Dikdörtgen"/>
          <p:cNvSpPr/>
          <p:nvPr/>
        </p:nvSpPr>
        <p:spPr>
          <a:xfrm rot="16200000">
            <a:off x="5814138" y="3699030"/>
            <a:ext cx="2016224" cy="756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GEREKLİLİKLER</a:t>
            </a:r>
          </a:p>
        </p:txBody>
      </p:sp>
    </p:spTree>
    <p:extLst>
      <p:ext uri="{BB962C8B-B14F-4D97-AF65-F5344CB8AC3E}">
        <p14:creationId xmlns:p14="http://schemas.microsoft.com/office/powerpoint/2010/main" val="3475296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611560" y="980729"/>
            <a:ext cx="8075240" cy="4536504"/>
          </a:xfrm>
        </p:spPr>
        <p:txBody>
          <a:bodyPr/>
          <a:lstStyle/>
          <a:p>
            <a:pPr>
              <a:buNone/>
            </a:pPr>
            <a:r>
              <a:rPr lang="tr-TR" dirty="0"/>
              <a:t>Örnek : Süreç Analiz Tablosu</a:t>
            </a:r>
          </a:p>
        </p:txBody>
      </p:sp>
      <p:sp>
        <p:nvSpPr>
          <p:cNvPr id="2" name="1 Başlık"/>
          <p:cNvSpPr>
            <a:spLocks noGrp="1"/>
          </p:cNvSpPr>
          <p:nvPr>
            <p:ph type="title"/>
          </p:nvPr>
        </p:nvSpPr>
        <p:spPr>
          <a:xfrm>
            <a:off x="457200" y="274638"/>
            <a:ext cx="8229600" cy="634082"/>
          </a:xfrm>
        </p:spPr>
        <p:txBody>
          <a:bodyPr>
            <a:normAutofit fontScale="90000"/>
          </a:bodyPr>
          <a:lstStyle/>
          <a:p>
            <a:r>
              <a:rPr lang="tr-TR" dirty="0"/>
              <a:t>SÜREÇLERİN TANIMLANMASI</a:t>
            </a:r>
          </a:p>
        </p:txBody>
      </p:sp>
      <p:graphicFrame>
        <p:nvGraphicFramePr>
          <p:cNvPr id="4" name="3 Tablo"/>
          <p:cNvGraphicFramePr>
            <a:graphicFrameLocks noGrp="1"/>
          </p:cNvGraphicFramePr>
          <p:nvPr>
            <p:extLst/>
          </p:nvPr>
        </p:nvGraphicFramePr>
        <p:xfrm>
          <a:off x="467544" y="1556792"/>
          <a:ext cx="8208912" cy="5079486"/>
        </p:xfrm>
        <a:graphic>
          <a:graphicData uri="http://schemas.openxmlformats.org/drawingml/2006/table">
            <a:tbl>
              <a:tblPr firstRow="1" bandRow="1">
                <a:tableStyleId>{5C22544A-7EE6-4342-B048-85BDC9FD1C3A}</a:tableStyleId>
              </a:tblPr>
              <a:tblGrid>
                <a:gridCol w="3090306">
                  <a:extLst>
                    <a:ext uri="{9D8B030D-6E8A-4147-A177-3AD203B41FA5}">
                      <a16:colId xmlns:a16="http://schemas.microsoft.com/office/drawing/2014/main" val="20000"/>
                    </a:ext>
                  </a:extLst>
                </a:gridCol>
                <a:gridCol w="829313">
                  <a:extLst>
                    <a:ext uri="{9D8B030D-6E8A-4147-A177-3AD203B41FA5}">
                      <a16:colId xmlns:a16="http://schemas.microsoft.com/office/drawing/2014/main" val="20001"/>
                    </a:ext>
                  </a:extLst>
                </a:gridCol>
                <a:gridCol w="1108696">
                  <a:extLst>
                    <a:ext uri="{9D8B030D-6E8A-4147-A177-3AD203B41FA5}">
                      <a16:colId xmlns:a16="http://schemas.microsoft.com/office/drawing/2014/main" val="20002"/>
                    </a:ext>
                  </a:extLst>
                </a:gridCol>
                <a:gridCol w="1154115">
                  <a:extLst>
                    <a:ext uri="{9D8B030D-6E8A-4147-A177-3AD203B41FA5}">
                      <a16:colId xmlns:a16="http://schemas.microsoft.com/office/drawing/2014/main" val="20003"/>
                    </a:ext>
                  </a:extLst>
                </a:gridCol>
                <a:gridCol w="1365739">
                  <a:extLst>
                    <a:ext uri="{9D8B030D-6E8A-4147-A177-3AD203B41FA5}">
                      <a16:colId xmlns:a16="http://schemas.microsoft.com/office/drawing/2014/main" val="20004"/>
                    </a:ext>
                  </a:extLst>
                </a:gridCol>
                <a:gridCol w="660743">
                  <a:extLst>
                    <a:ext uri="{9D8B030D-6E8A-4147-A177-3AD203B41FA5}">
                      <a16:colId xmlns:a16="http://schemas.microsoft.com/office/drawing/2014/main" val="20005"/>
                    </a:ext>
                  </a:extLst>
                </a:gridCol>
              </a:tblGrid>
              <a:tr h="1007529">
                <a:tc>
                  <a:txBody>
                    <a:bodyPr/>
                    <a:lstStyle/>
                    <a:p>
                      <a:r>
                        <a:rPr lang="tr-TR" sz="1100" dirty="0"/>
                        <a:t>Süreç / Alt Süreç / Faaliyet </a:t>
                      </a:r>
                    </a:p>
                  </a:txBody>
                  <a:tcPr/>
                </a:tc>
                <a:tc>
                  <a:txBody>
                    <a:bodyPr/>
                    <a:lstStyle/>
                    <a:p>
                      <a:r>
                        <a:rPr lang="tr-TR" sz="1100" dirty="0"/>
                        <a:t>SORUMLU</a:t>
                      </a:r>
                    </a:p>
                  </a:txBody>
                  <a:tcPr/>
                </a:tc>
                <a:tc>
                  <a:txBody>
                    <a:bodyPr/>
                    <a:lstStyle/>
                    <a:p>
                      <a:r>
                        <a:rPr lang="tr-TR" sz="1100" dirty="0"/>
                        <a:t>GİRDİ</a:t>
                      </a:r>
                    </a:p>
                  </a:txBody>
                  <a:tcPr/>
                </a:tc>
                <a:tc>
                  <a:txBody>
                    <a:bodyPr/>
                    <a:lstStyle/>
                    <a:p>
                      <a:r>
                        <a:rPr lang="tr-TR" sz="1100" dirty="0"/>
                        <a:t>ÇIKTI</a:t>
                      </a:r>
                    </a:p>
                  </a:txBody>
                  <a:tcPr/>
                </a:tc>
                <a:tc>
                  <a:txBody>
                    <a:bodyPr/>
                    <a:lstStyle/>
                    <a:p>
                      <a:r>
                        <a:rPr lang="tr-TR" sz="1100" dirty="0"/>
                        <a:t>MÜŞTERİ </a:t>
                      </a:r>
                    </a:p>
                  </a:txBody>
                  <a:tcPr/>
                </a:tc>
                <a:tc>
                  <a:txBody>
                    <a:bodyPr/>
                    <a:lstStyle/>
                    <a:p>
                      <a:r>
                        <a:rPr lang="tr-TR" sz="1100" dirty="0"/>
                        <a:t>TEDARİKÇİ</a:t>
                      </a:r>
                    </a:p>
                  </a:txBody>
                  <a:tcPr/>
                </a:tc>
                <a:extLst>
                  <a:ext uri="{0D108BD9-81ED-4DB2-BD59-A6C34878D82A}">
                    <a16:rowId xmlns:a16="http://schemas.microsoft.com/office/drawing/2014/main" val="10000"/>
                  </a:ext>
                </a:extLst>
              </a:tr>
              <a:tr h="383155">
                <a:tc>
                  <a:txBody>
                    <a:bodyPr/>
                    <a:lstStyle/>
                    <a:p>
                      <a:r>
                        <a:rPr lang="tr-TR" sz="1100" dirty="0"/>
                        <a:t>1.SATINALMA</a:t>
                      </a:r>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extLst>
                  <a:ext uri="{0D108BD9-81ED-4DB2-BD59-A6C34878D82A}">
                    <a16:rowId xmlns:a16="http://schemas.microsoft.com/office/drawing/2014/main" val="10001"/>
                  </a:ext>
                </a:extLst>
              </a:tr>
              <a:tr h="419695">
                <a:tc>
                  <a:txBody>
                    <a:bodyPr/>
                    <a:lstStyle/>
                    <a:p>
                      <a:r>
                        <a:rPr lang="tr-TR" sz="1100" dirty="0"/>
                        <a:t>1.1.</a:t>
                      </a:r>
                      <a:r>
                        <a:rPr lang="tr-TR" sz="1100" baseline="0" dirty="0"/>
                        <a:t> TEDARİK </a:t>
                      </a:r>
                      <a:endParaRPr lang="tr-TR" sz="1100" dirty="0"/>
                    </a:p>
                  </a:txBody>
                  <a:tcPr/>
                </a:tc>
                <a:tc>
                  <a:txBody>
                    <a:bodyPr/>
                    <a:lstStyle/>
                    <a:p>
                      <a:endParaRPr lang="tr-TR" sz="1100" dirty="0"/>
                    </a:p>
                  </a:txBody>
                  <a:tcPr/>
                </a:tc>
                <a:tc>
                  <a:txBody>
                    <a:bodyPr/>
                    <a:lstStyle/>
                    <a:p>
                      <a:endParaRPr lang="tr-TR" sz="110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extLst>
                  <a:ext uri="{0D108BD9-81ED-4DB2-BD59-A6C34878D82A}">
                    <a16:rowId xmlns:a16="http://schemas.microsoft.com/office/drawing/2014/main" val="10002"/>
                  </a:ext>
                </a:extLst>
              </a:tr>
              <a:tr h="452595">
                <a:tc>
                  <a:txBody>
                    <a:bodyPr/>
                    <a:lstStyle/>
                    <a:p>
                      <a:r>
                        <a:rPr lang="tr-TR" sz="1100" dirty="0"/>
                        <a:t>1.1.1.</a:t>
                      </a:r>
                      <a:r>
                        <a:rPr lang="tr-TR" sz="1100" baseline="0" dirty="0"/>
                        <a:t> ŞARTNAME MEVCUDİYET KONTROLÜ</a:t>
                      </a:r>
                      <a:endParaRPr lang="tr-TR" sz="1100" dirty="0"/>
                    </a:p>
                  </a:txBody>
                  <a:tcPr/>
                </a:tc>
                <a:tc>
                  <a:txBody>
                    <a:bodyPr/>
                    <a:lstStyle/>
                    <a:p>
                      <a:endParaRPr lang="tr-TR" sz="1100"/>
                    </a:p>
                  </a:txBody>
                  <a:tcPr/>
                </a:tc>
                <a:tc>
                  <a:txBody>
                    <a:bodyPr/>
                    <a:lstStyle/>
                    <a:p>
                      <a:endParaRPr lang="tr-TR" sz="110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extLst>
                  <a:ext uri="{0D108BD9-81ED-4DB2-BD59-A6C34878D82A}">
                    <a16:rowId xmlns:a16="http://schemas.microsoft.com/office/drawing/2014/main" val="10003"/>
                  </a:ext>
                </a:extLst>
              </a:tr>
              <a:tr h="383155">
                <a:tc>
                  <a:txBody>
                    <a:bodyPr/>
                    <a:lstStyle/>
                    <a:p>
                      <a:r>
                        <a:rPr lang="tr-TR" sz="1100" dirty="0"/>
                        <a:t>1.1.2. ONAYLI TEDARİKÇİ MEVCUDİYET KONTROLÜ</a:t>
                      </a:r>
                    </a:p>
                  </a:txBody>
                  <a:tcPr/>
                </a:tc>
                <a:tc>
                  <a:txBody>
                    <a:bodyPr/>
                    <a:lstStyle/>
                    <a:p>
                      <a:endParaRPr lang="tr-TR" sz="1100"/>
                    </a:p>
                  </a:txBody>
                  <a:tcPr/>
                </a:tc>
                <a:tc>
                  <a:txBody>
                    <a:bodyPr/>
                    <a:lstStyle/>
                    <a:p>
                      <a:endParaRPr lang="tr-TR" sz="1100"/>
                    </a:p>
                  </a:txBody>
                  <a:tcPr/>
                </a:tc>
                <a:tc>
                  <a:txBody>
                    <a:bodyPr/>
                    <a:lstStyle/>
                    <a:p>
                      <a:endParaRPr lang="tr-TR" sz="1100"/>
                    </a:p>
                  </a:txBody>
                  <a:tcPr/>
                </a:tc>
                <a:tc>
                  <a:txBody>
                    <a:bodyPr/>
                    <a:lstStyle/>
                    <a:p>
                      <a:endParaRPr lang="tr-TR" sz="1100" dirty="0"/>
                    </a:p>
                  </a:txBody>
                  <a:tcPr/>
                </a:tc>
                <a:tc>
                  <a:txBody>
                    <a:bodyPr/>
                    <a:lstStyle/>
                    <a:p>
                      <a:endParaRPr lang="tr-TR" sz="1100"/>
                    </a:p>
                  </a:txBody>
                  <a:tcPr/>
                </a:tc>
                <a:extLst>
                  <a:ext uri="{0D108BD9-81ED-4DB2-BD59-A6C34878D82A}">
                    <a16:rowId xmlns:a16="http://schemas.microsoft.com/office/drawing/2014/main" val="10004"/>
                  </a:ext>
                </a:extLst>
              </a:tr>
              <a:tr h="408887">
                <a:tc>
                  <a:txBody>
                    <a:bodyPr/>
                    <a:lstStyle/>
                    <a:p>
                      <a:r>
                        <a:rPr lang="tr-TR" sz="1100" dirty="0"/>
                        <a:t>1.1.3. SA</a:t>
                      </a:r>
                      <a:r>
                        <a:rPr lang="tr-TR" sz="1100" baseline="0" dirty="0"/>
                        <a:t> SİPARİŞİ VERİLMESİ </a:t>
                      </a:r>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a:p>
                  </a:txBody>
                  <a:tcPr/>
                </a:tc>
                <a:tc>
                  <a:txBody>
                    <a:bodyPr/>
                    <a:lstStyle/>
                    <a:p>
                      <a:endParaRPr lang="tr-TR" sz="1100"/>
                    </a:p>
                  </a:txBody>
                  <a:tcPr/>
                </a:tc>
                <a:tc>
                  <a:txBody>
                    <a:bodyPr/>
                    <a:lstStyle/>
                    <a:p>
                      <a:endParaRPr lang="tr-TR" sz="1100" dirty="0"/>
                    </a:p>
                  </a:txBody>
                  <a:tcPr/>
                </a:tc>
                <a:extLst>
                  <a:ext uri="{0D108BD9-81ED-4DB2-BD59-A6C34878D82A}">
                    <a16:rowId xmlns:a16="http://schemas.microsoft.com/office/drawing/2014/main" val="10005"/>
                  </a:ext>
                </a:extLst>
              </a:tr>
              <a:tr h="383155">
                <a:tc>
                  <a:txBody>
                    <a:bodyPr/>
                    <a:lstStyle/>
                    <a:p>
                      <a:r>
                        <a:rPr lang="tr-TR" sz="1100" dirty="0"/>
                        <a:t>1.1.4. NAKLİYE</a:t>
                      </a:r>
                    </a:p>
                  </a:txBody>
                  <a:tcPr/>
                </a:tc>
                <a:tc>
                  <a:txBody>
                    <a:bodyPr/>
                    <a:lstStyle/>
                    <a:p>
                      <a:endParaRPr lang="tr-TR" sz="1100" dirty="0"/>
                    </a:p>
                  </a:txBody>
                  <a:tcPr/>
                </a:tc>
                <a:tc>
                  <a:txBody>
                    <a:bodyPr/>
                    <a:lstStyle/>
                    <a:p>
                      <a:endParaRPr lang="tr-TR" sz="1100"/>
                    </a:p>
                  </a:txBody>
                  <a:tcPr/>
                </a:tc>
                <a:tc>
                  <a:txBody>
                    <a:bodyPr/>
                    <a:lstStyle/>
                    <a:p>
                      <a:endParaRPr lang="tr-TR" sz="1100"/>
                    </a:p>
                  </a:txBody>
                  <a:tcPr/>
                </a:tc>
                <a:tc>
                  <a:txBody>
                    <a:bodyPr/>
                    <a:lstStyle/>
                    <a:p>
                      <a:endParaRPr lang="tr-TR" sz="1100"/>
                    </a:p>
                  </a:txBody>
                  <a:tcPr/>
                </a:tc>
                <a:tc>
                  <a:txBody>
                    <a:bodyPr/>
                    <a:lstStyle/>
                    <a:p>
                      <a:endParaRPr lang="tr-TR" sz="1100" dirty="0"/>
                    </a:p>
                  </a:txBody>
                  <a:tcPr/>
                </a:tc>
                <a:extLst>
                  <a:ext uri="{0D108BD9-81ED-4DB2-BD59-A6C34878D82A}">
                    <a16:rowId xmlns:a16="http://schemas.microsoft.com/office/drawing/2014/main" val="10006"/>
                  </a:ext>
                </a:extLst>
              </a:tr>
              <a:tr h="622625">
                <a:tc>
                  <a:txBody>
                    <a:bodyPr/>
                    <a:lstStyle/>
                    <a:p>
                      <a:r>
                        <a:rPr lang="tr-TR" sz="1100" dirty="0"/>
                        <a:t>1.2. ŞARTNAME HAZIRLAMA</a:t>
                      </a:r>
                      <a:r>
                        <a:rPr lang="tr-TR" sz="1100" baseline="0" dirty="0"/>
                        <a:t> </a:t>
                      </a:r>
                      <a:endParaRPr lang="tr-TR" sz="1100" dirty="0"/>
                    </a:p>
                  </a:txBody>
                  <a:tcPr/>
                </a:tc>
                <a:tc>
                  <a:txBody>
                    <a:bodyPr/>
                    <a:lstStyle/>
                    <a:p>
                      <a:r>
                        <a:rPr lang="tr-TR" sz="1100" dirty="0"/>
                        <a:t>Teknik</a:t>
                      </a:r>
                      <a:r>
                        <a:rPr lang="tr-TR" sz="1100" baseline="0" dirty="0"/>
                        <a:t> Md. </a:t>
                      </a:r>
                      <a:endParaRPr lang="tr-TR" sz="1100" dirty="0"/>
                    </a:p>
                  </a:txBody>
                  <a:tcPr/>
                </a:tc>
                <a:tc>
                  <a:txBody>
                    <a:bodyPr/>
                    <a:lstStyle/>
                    <a:p>
                      <a:r>
                        <a:rPr lang="tr-TR" sz="1100" dirty="0"/>
                        <a:t>Şartname</a:t>
                      </a:r>
                      <a:r>
                        <a:rPr lang="tr-TR" sz="1100" baseline="0" dirty="0"/>
                        <a:t> İsteği </a:t>
                      </a:r>
                      <a:endParaRPr lang="tr-TR" sz="1100" dirty="0"/>
                    </a:p>
                  </a:txBody>
                  <a:tcPr/>
                </a:tc>
                <a:tc>
                  <a:txBody>
                    <a:bodyPr/>
                    <a:lstStyle/>
                    <a:p>
                      <a:r>
                        <a:rPr lang="tr-TR" sz="1100" dirty="0"/>
                        <a:t>Onaylı Şartname </a:t>
                      </a:r>
                    </a:p>
                  </a:txBody>
                  <a:tcPr/>
                </a:tc>
                <a:tc>
                  <a:txBody>
                    <a:bodyPr/>
                    <a:lstStyle/>
                    <a:p>
                      <a:r>
                        <a:rPr lang="tr-TR" sz="1100" dirty="0"/>
                        <a:t>1.1. Tedarik Alt Süreci</a:t>
                      </a:r>
                    </a:p>
                  </a:txBody>
                  <a:tcPr/>
                </a:tc>
                <a:tc>
                  <a:txBody>
                    <a:bodyPr/>
                    <a:lstStyle/>
                    <a:p>
                      <a:r>
                        <a:rPr lang="tr-TR" sz="1100" dirty="0"/>
                        <a:t>1.1. Tedarik Alt Süreci</a:t>
                      </a:r>
                    </a:p>
                  </a:txBody>
                  <a:tcPr/>
                </a:tc>
                <a:extLst>
                  <a:ext uri="{0D108BD9-81ED-4DB2-BD59-A6C34878D82A}">
                    <a16:rowId xmlns:a16="http://schemas.microsoft.com/office/drawing/2014/main" val="10007"/>
                  </a:ext>
                </a:extLst>
              </a:tr>
              <a:tr h="383155">
                <a:tc>
                  <a:txBody>
                    <a:bodyPr/>
                    <a:lstStyle/>
                    <a:p>
                      <a:r>
                        <a:rPr lang="tr-TR" sz="1100" dirty="0"/>
                        <a:t>1.2.1.</a:t>
                      </a:r>
                      <a:r>
                        <a:rPr lang="tr-TR" sz="1100" baseline="0" dirty="0"/>
                        <a:t> SA ŞARTNAMESİ HAZIRLAMA</a:t>
                      </a:r>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extLst>
                  <a:ext uri="{0D108BD9-81ED-4DB2-BD59-A6C34878D82A}">
                    <a16:rowId xmlns:a16="http://schemas.microsoft.com/office/drawing/2014/main" val="10008"/>
                  </a:ext>
                </a:extLst>
              </a:tr>
              <a:tr h="452595">
                <a:tc>
                  <a:txBody>
                    <a:bodyPr/>
                    <a:lstStyle/>
                    <a:p>
                      <a:r>
                        <a:rPr lang="tr-TR" sz="1100" dirty="0"/>
                        <a:t>1.2.2.</a:t>
                      </a:r>
                      <a:r>
                        <a:rPr lang="tr-TR" sz="1100" baseline="0" dirty="0"/>
                        <a:t> SA ŞARTNAMESİ KONTROLÜ </a:t>
                      </a:r>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tc>
                  <a:txBody>
                    <a:bodyPr/>
                    <a:lstStyle/>
                    <a:p>
                      <a:endParaRPr lang="tr-TR" sz="11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45839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70000" lnSpcReduction="20000"/>
          </a:bodyPr>
          <a:lstStyle/>
          <a:p>
            <a:pPr>
              <a:buNone/>
            </a:pPr>
            <a:r>
              <a:rPr lang="tr-TR" dirty="0"/>
              <a:t>SÜREÇLERİN TANIMLANMASI VE PLANLANMASI İŞ AKIŞI (ISO N544)</a:t>
            </a:r>
          </a:p>
          <a:p>
            <a:pPr>
              <a:buNone/>
            </a:pPr>
            <a:r>
              <a:rPr lang="tr-TR" dirty="0"/>
              <a:t>Süreçlerin Tanımlanması 	</a:t>
            </a:r>
          </a:p>
          <a:p>
            <a:pPr>
              <a:buFont typeface="Wingdings" pitchFamily="2" charset="2"/>
              <a:buChar char="q"/>
            </a:pPr>
            <a:r>
              <a:rPr lang="tr-TR" dirty="0"/>
              <a:t>Kuruluş amaçlarının (müşteri ihtiyaç ve beklentilerinin) tanımlanması </a:t>
            </a:r>
          </a:p>
          <a:p>
            <a:pPr>
              <a:buFont typeface="Wingdings" pitchFamily="2" charset="2"/>
              <a:buChar char="q"/>
            </a:pPr>
            <a:r>
              <a:rPr lang="tr-TR" dirty="0"/>
              <a:t>Politika ve hedeflerin belirlenmesi </a:t>
            </a:r>
          </a:p>
          <a:p>
            <a:pPr>
              <a:buFont typeface="Wingdings" pitchFamily="2" charset="2"/>
              <a:buChar char="q"/>
            </a:pPr>
            <a:r>
              <a:rPr lang="tr-TR" dirty="0"/>
              <a:t>Süreçlerin belirlenmesi</a:t>
            </a:r>
          </a:p>
          <a:p>
            <a:pPr>
              <a:buFont typeface="Wingdings" pitchFamily="2" charset="2"/>
              <a:buChar char="q"/>
            </a:pPr>
            <a:r>
              <a:rPr lang="tr-TR" dirty="0"/>
              <a:t>Süreçlerin sırası ve etkileşiminin belirlenmesi </a:t>
            </a:r>
          </a:p>
          <a:p>
            <a:pPr>
              <a:buFont typeface="Wingdings" pitchFamily="2" charset="2"/>
              <a:buChar char="q"/>
            </a:pPr>
            <a:r>
              <a:rPr lang="tr-TR" dirty="0"/>
              <a:t>Süreç sahibinin belirlenmesi</a:t>
            </a:r>
          </a:p>
          <a:p>
            <a:pPr>
              <a:buFont typeface="Wingdings" pitchFamily="2" charset="2"/>
              <a:buChar char="q"/>
            </a:pPr>
            <a:r>
              <a:rPr lang="tr-TR" dirty="0"/>
              <a:t>Süreç </a:t>
            </a:r>
            <a:r>
              <a:rPr lang="tr-TR" dirty="0" err="1"/>
              <a:t>dökümantasyonunun</a:t>
            </a:r>
            <a:r>
              <a:rPr lang="tr-TR" dirty="0"/>
              <a:t> belirlenmesi </a:t>
            </a:r>
          </a:p>
          <a:p>
            <a:pPr>
              <a:buNone/>
            </a:pPr>
            <a:endParaRPr lang="tr-TR" dirty="0"/>
          </a:p>
          <a:p>
            <a:pPr>
              <a:buNone/>
            </a:pPr>
            <a:r>
              <a:rPr lang="tr-TR" dirty="0"/>
              <a:t>Süreçlerin Planlanması </a:t>
            </a:r>
          </a:p>
          <a:p>
            <a:pPr>
              <a:buFont typeface="Wingdings" pitchFamily="2" charset="2"/>
              <a:buChar char="q"/>
            </a:pPr>
            <a:r>
              <a:rPr lang="tr-TR" dirty="0"/>
              <a:t>Alt süreçlerin ve faaliyetlerin belirlenmesi </a:t>
            </a:r>
          </a:p>
          <a:p>
            <a:pPr>
              <a:buFont typeface="Wingdings" pitchFamily="2" charset="2"/>
              <a:buChar char="q"/>
            </a:pPr>
            <a:r>
              <a:rPr lang="tr-TR" dirty="0"/>
              <a:t>İzleme ve ölçme gerekliliklerinin belirlenmesi </a:t>
            </a:r>
          </a:p>
          <a:p>
            <a:pPr>
              <a:buFont typeface="Wingdings" pitchFamily="2" charset="2"/>
              <a:buChar char="q"/>
            </a:pPr>
            <a:r>
              <a:rPr lang="tr-TR" dirty="0"/>
              <a:t>Doğrulama </a:t>
            </a:r>
          </a:p>
          <a:p>
            <a:pPr>
              <a:buNone/>
            </a:pPr>
            <a:endParaRPr lang="tr-TR" dirty="0"/>
          </a:p>
        </p:txBody>
      </p:sp>
      <p:sp>
        <p:nvSpPr>
          <p:cNvPr id="2" name="1 Başlık"/>
          <p:cNvSpPr>
            <a:spLocks noGrp="1"/>
          </p:cNvSpPr>
          <p:nvPr>
            <p:ph type="title"/>
          </p:nvPr>
        </p:nvSpPr>
        <p:spPr/>
        <p:txBody>
          <a:bodyPr/>
          <a:lstStyle/>
          <a:p>
            <a:r>
              <a:rPr lang="tr-TR" dirty="0"/>
              <a:t>SÜREÇLERİN TANIMLANMASI</a:t>
            </a:r>
          </a:p>
        </p:txBody>
      </p:sp>
    </p:spTree>
    <p:extLst>
      <p:ext uri="{BB962C8B-B14F-4D97-AF65-F5344CB8AC3E}">
        <p14:creationId xmlns:p14="http://schemas.microsoft.com/office/powerpoint/2010/main" val="132527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İçerik Yer Tutucusu"/>
          <p:cNvSpPr>
            <a:spLocks noGrp="1"/>
          </p:cNvSpPr>
          <p:nvPr>
            <p:ph idx="1"/>
          </p:nvPr>
        </p:nvSpPr>
        <p:spPr>
          <a:xfrm>
            <a:off x="395536" y="2060848"/>
            <a:ext cx="8352927" cy="4248472"/>
          </a:xfrm>
        </p:spPr>
        <p:txBody>
          <a:bodyPr>
            <a:normAutofit/>
          </a:bodyPr>
          <a:lstStyle/>
          <a:p>
            <a:pPr>
              <a:buNone/>
            </a:pPr>
            <a:r>
              <a:rPr lang="tr-TR" b="1" dirty="0"/>
              <a:t>	SÜRECİN TEMEL İŞLEVİ</a:t>
            </a:r>
          </a:p>
          <a:p>
            <a:pPr>
              <a:buNone/>
            </a:pPr>
            <a:r>
              <a:rPr lang="tr-TR" sz="2400" dirty="0"/>
              <a:t>	Herhangi bir sürecin temel işlevi, var olan kaynaklar ve girdiler ile, en yalın ve en etkin bir şekilde, istenilen/amaçlanan dönüşümü sağlamak ve o sürecin müşterilerinin beklentilerini/gereksinimlerini karşılayarak müşteri tatmini oluşturmak ve geliştirmektir.</a:t>
            </a:r>
          </a:p>
          <a:p>
            <a:pPr>
              <a:buNone/>
            </a:pPr>
            <a:endParaRPr lang="tr-TR" sz="2400" dirty="0"/>
          </a:p>
          <a:p>
            <a:pPr algn="ctr">
              <a:buNone/>
            </a:pPr>
            <a:r>
              <a:rPr lang="tr-TR" sz="2800" b="1" dirty="0"/>
              <a:t>Her süreç, yarattığı katma değer kadar değerlidir!</a:t>
            </a:r>
          </a:p>
        </p:txBody>
      </p:sp>
      <p:sp>
        <p:nvSpPr>
          <p:cNvPr id="4" name="29 Başlık"/>
          <p:cNvSpPr>
            <a:spLocks noGrp="1"/>
          </p:cNvSpPr>
          <p:nvPr>
            <p:ph type="title"/>
          </p:nvPr>
        </p:nvSpPr>
        <p:spPr/>
        <p:txBody>
          <a:bodyPr>
            <a:normAutofit/>
          </a:bodyPr>
          <a:lstStyle/>
          <a:p>
            <a:r>
              <a:rPr lang="tr-TR" sz="3200" dirty="0"/>
              <a:t>TANIMLAR VE KAVRAMLAR</a:t>
            </a:r>
          </a:p>
        </p:txBody>
      </p:sp>
    </p:spTree>
    <p:extLst>
      <p:ext uri="{BB962C8B-B14F-4D97-AF65-F5344CB8AC3E}">
        <p14:creationId xmlns:p14="http://schemas.microsoft.com/office/powerpoint/2010/main" val="3399805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4" name="1 Başlık"/>
          <p:cNvSpPr>
            <a:spLocks noGrp="1"/>
          </p:cNvSpPr>
          <p:nvPr>
            <p:ph type="ctrTitle"/>
          </p:nvPr>
        </p:nvSpPr>
        <p:spPr/>
        <p:txBody>
          <a:bodyPr>
            <a:normAutofit/>
          </a:bodyPr>
          <a:lstStyle/>
          <a:p>
            <a:r>
              <a:rPr lang="tr-TR" dirty="0"/>
              <a:t>BÖLÜM 3</a:t>
            </a:r>
            <a:br>
              <a:rPr lang="tr-TR" dirty="0"/>
            </a:br>
            <a:endParaRPr lang="tr-TR" dirty="0"/>
          </a:p>
        </p:txBody>
      </p:sp>
      <p:sp>
        <p:nvSpPr>
          <p:cNvPr id="3" name="2 İçerik Yer Tutucusu"/>
          <p:cNvSpPr>
            <a:spLocks noGrp="1"/>
          </p:cNvSpPr>
          <p:nvPr>
            <p:ph type="subTitle" idx="1"/>
          </p:nvPr>
        </p:nvSpPr>
        <p:spPr/>
        <p:txBody>
          <a:bodyPr>
            <a:noAutofit/>
          </a:bodyPr>
          <a:lstStyle/>
          <a:p>
            <a:pPr algn="ctr">
              <a:buNone/>
            </a:pPr>
            <a:r>
              <a:rPr lang="tr-TR" sz="4400" dirty="0"/>
              <a:t>SÜREÇLERİN ÖZELLİKLERİ</a:t>
            </a:r>
          </a:p>
        </p:txBody>
      </p:sp>
    </p:spTree>
    <p:extLst>
      <p:ext uri="{BB962C8B-B14F-4D97-AF65-F5344CB8AC3E}">
        <p14:creationId xmlns:p14="http://schemas.microsoft.com/office/powerpoint/2010/main" val="2487933018"/>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latin typeface="Calibri" pitchFamily="34" charset="0"/>
                <a:cs typeface="Calibri" pitchFamily="34" charset="0"/>
              </a:rPr>
              <a:t>SÜREÇ HİYERARŞİSİ</a:t>
            </a:r>
            <a:endParaRPr lang="tr-TR" dirty="0"/>
          </a:p>
        </p:txBody>
      </p:sp>
      <p:sp>
        <p:nvSpPr>
          <p:cNvPr id="4" name="Content Placeholder 3"/>
          <p:cNvSpPr>
            <a:spLocks noGrp="1"/>
          </p:cNvSpPr>
          <p:nvPr>
            <p:ph sz="quarter" idx="1"/>
          </p:nvPr>
        </p:nvSpPr>
        <p:spPr/>
        <p:txBody>
          <a:bodyPr>
            <a:normAutofit/>
          </a:bodyPr>
          <a:lstStyle/>
          <a:p>
            <a:pPr>
              <a:lnSpc>
                <a:spcPct val="150000"/>
              </a:lnSpc>
            </a:pPr>
            <a:r>
              <a:rPr lang="tr-TR" sz="2400" b="1" dirty="0">
                <a:effectLst>
                  <a:outerShdw blurRad="38100" dist="38100" dir="2700000" algn="tl">
                    <a:srgbClr val="000000">
                      <a:alpha val="43137"/>
                    </a:srgbClr>
                  </a:outerShdw>
                </a:effectLst>
                <a:latin typeface="Calibri" pitchFamily="34" charset="0"/>
                <a:cs typeface="Calibri" pitchFamily="34" charset="0"/>
              </a:rPr>
              <a:t>Ana Süreç, bir çok bölümü kapsayan ve içerisinde birden çok sürecin bulunduğu süreçlerdir. </a:t>
            </a:r>
          </a:p>
          <a:p>
            <a:pPr>
              <a:lnSpc>
                <a:spcPct val="150000"/>
              </a:lnSpc>
            </a:pPr>
            <a:r>
              <a:rPr lang="tr-TR" sz="2400" b="1" dirty="0">
                <a:effectLst>
                  <a:outerShdw blurRad="38100" dist="38100" dir="2700000" algn="tl">
                    <a:srgbClr val="000000">
                      <a:alpha val="43137"/>
                    </a:srgbClr>
                  </a:outerShdw>
                </a:effectLst>
                <a:latin typeface="Calibri" pitchFamily="34" charset="0"/>
                <a:cs typeface="Calibri" pitchFamily="34" charset="0"/>
              </a:rPr>
              <a:t>Ana sürecin içerisinde yer alan süreçlere “alt süreç” adı verilir.</a:t>
            </a:r>
          </a:p>
          <a:p>
            <a:pPr>
              <a:lnSpc>
                <a:spcPct val="150000"/>
              </a:lnSpc>
            </a:pPr>
            <a:r>
              <a:rPr lang="tr-TR" sz="2400" b="1" dirty="0">
                <a:effectLst>
                  <a:outerShdw blurRad="38100" dist="38100" dir="2700000" algn="tl">
                    <a:srgbClr val="000000">
                      <a:alpha val="43137"/>
                    </a:srgbClr>
                  </a:outerShdw>
                </a:effectLst>
                <a:latin typeface="Calibri" pitchFamily="34" charset="0"/>
                <a:cs typeface="Calibri" pitchFamily="34" charset="0"/>
              </a:rPr>
              <a:t>Alt sürecin altında da süreçler bulunabilir. Bu süreçlere “alt alt süreç” veya “detay süreç” adı verilir.</a:t>
            </a:r>
          </a:p>
          <a:p>
            <a:pPr>
              <a:lnSpc>
                <a:spcPct val="150000"/>
              </a:lnSpc>
            </a:pPr>
            <a:r>
              <a:rPr lang="tr-TR" sz="2400" b="1" dirty="0">
                <a:effectLst>
                  <a:outerShdw blurRad="38100" dist="38100" dir="2700000" algn="tl">
                    <a:srgbClr val="000000">
                      <a:alpha val="43137"/>
                    </a:srgbClr>
                  </a:outerShdw>
                </a:effectLst>
                <a:latin typeface="Calibri" pitchFamily="34" charset="0"/>
                <a:cs typeface="Calibri" pitchFamily="34" charset="0"/>
              </a:rPr>
              <a:t>Sonunda bir çıktısı olmayan işlemlere faaliyet denir.</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endParaRPr lang="tr-TR" sz="2400" dirty="0"/>
          </a:p>
        </p:txBody>
      </p:sp>
    </p:spTree>
    <p:extLst>
      <p:ext uri="{BB962C8B-B14F-4D97-AF65-F5344CB8AC3E}">
        <p14:creationId xmlns:p14="http://schemas.microsoft.com/office/powerpoint/2010/main" val="3634947779"/>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p:nvPr/>
        </p:nvSpPr>
        <p:spPr>
          <a:xfrm>
            <a:off x="611560" y="260648"/>
            <a:ext cx="7552060" cy="769441"/>
          </a:xfrm>
          <a:prstGeom prst="rect">
            <a:avLst/>
          </a:prstGeom>
          <a:noFill/>
        </p:spPr>
        <p:txBody>
          <a:bodyPr wrap="square" rtlCol="0">
            <a:spAutoFit/>
          </a:bodyPr>
          <a:lstStyle/>
          <a:p>
            <a:pPr algn="ctr"/>
            <a:r>
              <a:rPr lang="en-US" sz="4400" b="1" dirty="0">
                <a:solidFill>
                  <a:srgbClr val="0000FF"/>
                </a:solidFill>
              </a:rPr>
              <a:t>SÜRE</a:t>
            </a:r>
            <a:r>
              <a:rPr lang="tr-TR" sz="4400" b="1" dirty="0">
                <a:solidFill>
                  <a:srgbClr val="0000FF"/>
                </a:solidFill>
              </a:rPr>
              <a:t>CİN SEVİYESİ</a:t>
            </a:r>
            <a:endParaRPr lang="en-US" sz="4400" b="1" dirty="0">
              <a:solidFill>
                <a:srgbClr val="0000FF"/>
              </a:solidFill>
            </a:endParaRPr>
          </a:p>
        </p:txBody>
      </p:sp>
      <p:sp>
        <p:nvSpPr>
          <p:cNvPr id="5" name="Freeform 14"/>
          <p:cNvSpPr>
            <a:spLocks/>
          </p:cNvSpPr>
          <p:nvPr/>
        </p:nvSpPr>
        <p:spPr bwMode="auto">
          <a:xfrm>
            <a:off x="2455333" y="1340768"/>
            <a:ext cx="4261555" cy="1872208"/>
          </a:xfrm>
          <a:custGeom>
            <a:avLst/>
            <a:gdLst>
              <a:gd name="T0" fmla="*/ 0 w 2285"/>
              <a:gd name="T1" fmla="*/ 1452 h 1453"/>
              <a:gd name="T2" fmla="*/ 2284 w 2285"/>
              <a:gd name="T3" fmla="*/ 1452 h 1453"/>
              <a:gd name="T4" fmla="*/ 1144 w 2285"/>
              <a:gd name="T5" fmla="*/ 0 h 1453"/>
              <a:gd name="T6" fmla="*/ 0 w 2285"/>
              <a:gd name="T7" fmla="*/ 1452 h 1453"/>
              <a:gd name="T8" fmla="*/ 0 60000 65536"/>
              <a:gd name="T9" fmla="*/ 0 60000 65536"/>
              <a:gd name="T10" fmla="*/ 0 60000 65536"/>
              <a:gd name="T11" fmla="*/ 0 60000 65536"/>
              <a:gd name="T12" fmla="*/ 0 w 2285"/>
              <a:gd name="T13" fmla="*/ 0 h 1453"/>
              <a:gd name="T14" fmla="*/ 2285 w 2285"/>
              <a:gd name="T15" fmla="*/ 1453 h 1453"/>
            </a:gdLst>
            <a:ahLst/>
            <a:cxnLst>
              <a:cxn ang="T8">
                <a:pos x="T0" y="T1"/>
              </a:cxn>
              <a:cxn ang="T9">
                <a:pos x="T2" y="T3"/>
              </a:cxn>
              <a:cxn ang="T10">
                <a:pos x="T4" y="T5"/>
              </a:cxn>
              <a:cxn ang="T11">
                <a:pos x="T6" y="T7"/>
              </a:cxn>
            </a:cxnLst>
            <a:rect l="T12" t="T13" r="T14" b="T15"/>
            <a:pathLst>
              <a:path w="2285" h="1453">
                <a:moveTo>
                  <a:pt x="0" y="1452"/>
                </a:moveTo>
                <a:lnTo>
                  <a:pt x="2284" y="1452"/>
                </a:lnTo>
                <a:lnTo>
                  <a:pt x="1144" y="0"/>
                </a:lnTo>
                <a:lnTo>
                  <a:pt x="0" y="1452"/>
                </a:lnTo>
              </a:path>
            </a:pathLst>
          </a:custGeom>
          <a:ln>
            <a:headEnd type="none" w="sm" len="sm"/>
            <a:tailEnd type="none" w="sm" len="sm"/>
          </a:ln>
        </p:spPr>
        <p:style>
          <a:lnRef idx="1">
            <a:schemeClr val="accent1"/>
          </a:lnRef>
          <a:fillRef idx="3">
            <a:schemeClr val="accent1"/>
          </a:fillRef>
          <a:effectRef idx="2">
            <a:schemeClr val="accent1"/>
          </a:effectRef>
          <a:fontRef idx="minor">
            <a:schemeClr val="lt1"/>
          </a:fontRef>
        </p:style>
        <p:txBody>
          <a:bodyPr>
            <a:prstTxWarp prst="textNoShape">
              <a:avLst/>
            </a:prstTxWarp>
          </a:bodyPr>
          <a:lstStyle/>
          <a:p>
            <a:endParaRPr lang="en-US"/>
          </a:p>
        </p:txBody>
      </p:sp>
      <p:sp>
        <p:nvSpPr>
          <p:cNvPr id="6" name="Freeform 11"/>
          <p:cNvSpPr>
            <a:spLocks/>
          </p:cNvSpPr>
          <p:nvPr/>
        </p:nvSpPr>
        <p:spPr bwMode="auto">
          <a:xfrm>
            <a:off x="1354666" y="3332303"/>
            <a:ext cx="6448779" cy="748062"/>
          </a:xfrm>
          <a:custGeom>
            <a:avLst/>
            <a:gdLst>
              <a:gd name="T0" fmla="*/ 0 w 3582"/>
              <a:gd name="T1" fmla="*/ 752 h 753"/>
              <a:gd name="T2" fmla="*/ 3581 w 3582"/>
              <a:gd name="T3" fmla="*/ 752 h 753"/>
              <a:gd name="T4" fmla="*/ 3040 w 3582"/>
              <a:gd name="T5" fmla="*/ 0 h 753"/>
              <a:gd name="T6" fmla="*/ 536 w 3582"/>
              <a:gd name="T7" fmla="*/ 0 h 753"/>
              <a:gd name="T8" fmla="*/ 0 w 3582"/>
              <a:gd name="T9" fmla="*/ 752 h 753"/>
              <a:gd name="T10" fmla="*/ 0 60000 65536"/>
              <a:gd name="T11" fmla="*/ 0 60000 65536"/>
              <a:gd name="T12" fmla="*/ 0 60000 65536"/>
              <a:gd name="T13" fmla="*/ 0 60000 65536"/>
              <a:gd name="T14" fmla="*/ 0 60000 65536"/>
              <a:gd name="T15" fmla="*/ 0 w 3582"/>
              <a:gd name="T16" fmla="*/ 0 h 753"/>
              <a:gd name="T17" fmla="*/ 3582 w 3582"/>
              <a:gd name="T18" fmla="*/ 753 h 753"/>
            </a:gdLst>
            <a:ahLst/>
            <a:cxnLst>
              <a:cxn ang="T10">
                <a:pos x="T0" y="T1"/>
              </a:cxn>
              <a:cxn ang="T11">
                <a:pos x="T2" y="T3"/>
              </a:cxn>
              <a:cxn ang="T12">
                <a:pos x="T4" y="T5"/>
              </a:cxn>
              <a:cxn ang="T13">
                <a:pos x="T6" y="T7"/>
              </a:cxn>
              <a:cxn ang="T14">
                <a:pos x="T8" y="T9"/>
              </a:cxn>
            </a:cxnLst>
            <a:rect l="T15" t="T16" r="T17" b="T18"/>
            <a:pathLst>
              <a:path w="3582" h="753">
                <a:moveTo>
                  <a:pt x="0" y="752"/>
                </a:moveTo>
                <a:lnTo>
                  <a:pt x="3581" y="752"/>
                </a:lnTo>
                <a:lnTo>
                  <a:pt x="3040" y="0"/>
                </a:lnTo>
                <a:lnTo>
                  <a:pt x="536" y="0"/>
                </a:lnTo>
                <a:lnTo>
                  <a:pt x="0" y="752"/>
                </a:lnTo>
              </a:path>
            </a:pathLst>
          </a:custGeom>
          <a:ln>
            <a:headEnd type="none" w="sm" len="sm"/>
            <a:tailEnd type="none" w="sm" len="sm"/>
          </a:ln>
        </p:spPr>
        <p:style>
          <a:lnRef idx="1">
            <a:schemeClr val="accent3"/>
          </a:lnRef>
          <a:fillRef idx="3">
            <a:schemeClr val="accent3"/>
          </a:fillRef>
          <a:effectRef idx="2">
            <a:schemeClr val="accent3"/>
          </a:effectRef>
          <a:fontRef idx="minor">
            <a:schemeClr val="lt1"/>
          </a:fontRef>
        </p:style>
        <p:txBody>
          <a:bodyPr>
            <a:prstTxWarp prst="textNoShape">
              <a:avLst/>
            </a:prstTxWarp>
          </a:bodyPr>
          <a:lstStyle/>
          <a:p>
            <a:endParaRPr lang="en-US"/>
          </a:p>
        </p:txBody>
      </p:sp>
      <p:sp>
        <p:nvSpPr>
          <p:cNvPr id="7" name="Freeform 7"/>
          <p:cNvSpPr>
            <a:spLocks/>
          </p:cNvSpPr>
          <p:nvPr/>
        </p:nvSpPr>
        <p:spPr bwMode="auto">
          <a:xfrm>
            <a:off x="344429" y="4193080"/>
            <a:ext cx="8380900" cy="790222"/>
          </a:xfrm>
          <a:custGeom>
            <a:avLst/>
            <a:gdLst>
              <a:gd name="T0" fmla="*/ 0 w 4817"/>
              <a:gd name="T1" fmla="*/ 771 h 772"/>
              <a:gd name="T2" fmla="*/ 4816 w 4817"/>
              <a:gd name="T3" fmla="*/ 771 h 772"/>
              <a:gd name="T4" fmla="*/ 4279 w 4817"/>
              <a:gd name="T5" fmla="*/ 0 h 772"/>
              <a:gd name="T6" fmla="*/ 527 w 4817"/>
              <a:gd name="T7" fmla="*/ 0 h 772"/>
              <a:gd name="T8" fmla="*/ 0 w 4817"/>
              <a:gd name="T9" fmla="*/ 771 h 772"/>
              <a:gd name="T10" fmla="*/ 0 60000 65536"/>
              <a:gd name="T11" fmla="*/ 0 60000 65536"/>
              <a:gd name="T12" fmla="*/ 0 60000 65536"/>
              <a:gd name="T13" fmla="*/ 0 60000 65536"/>
              <a:gd name="T14" fmla="*/ 0 60000 65536"/>
              <a:gd name="T15" fmla="*/ 0 w 4817"/>
              <a:gd name="T16" fmla="*/ 0 h 772"/>
              <a:gd name="T17" fmla="*/ 4817 w 4817"/>
              <a:gd name="T18" fmla="*/ 772 h 772"/>
            </a:gdLst>
            <a:ahLst/>
            <a:cxnLst>
              <a:cxn ang="T10">
                <a:pos x="T0" y="T1"/>
              </a:cxn>
              <a:cxn ang="T11">
                <a:pos x="T2" y="T3"/>
              </a:cxn>
              <a:cxn ang="T12">
                <a:pos x="T4" y="T5"/>
              </a:cxn>
              <a:cxn ang="T13">
                <a:pos x="T6" y="T7"/>
              </a:cxn>
              <a:cxn ang="T14">
                <a:pos x="T8" y="T9"/>
              </a:cxn>
            </a:cxnLst>
            <a:rect l="T15" t="T16" r="T17" b="T18"/>
            <a:pathLst>
              <a:path w="4817" h="772">
                <a:moveTo>
                  <a:pt x="0" y="771"/>
                </a:moveTo>
                <a:lnTo>
                  <a:pt x="4816" y="771"/>
                </a:lnTo>
                <a:lnTo>
                  <a:pt x="4279" y="0"/>
                </a:lnTo>
                <a:lnTo>
                  <a:pt x="527" y="0"/>
                </a:lnTo>
                <a:lnTo>
                  <a:pt x="0" y="771"/>
                </a:lnTo>
              </a:path>
            </a:pathLst>
          </a:custGeom>
          <a:ln>
            <a:headEnd type="none" w="sm" len="sm"/>
            <a:tailEnd type="none" w="sm" len="sm"/>
          </a:ln>
        </p:spPr>
        <p:style>
          <a:lnRef idx="1">
            <a:schemeClr val="accent4"/>
          </a:lnRef>
          <a:fillRef idx="3">
            <a:schemeClr val="accent4"/>
          </a:fillRef>
          <a:effectRef idx="2">
            <a:schemeClr val="accent4"/>
          </a:effectRef>
          <a:fontRef idx="minor">
            <a:schemeClr val="lt1"/>
          </a:fontRef>
        </p:style>
        <p:txBody>
          <a:bodyPr>
            <a:prstTxWarp prst="textNoShape">
              <a:avLst/>
            </a:prstTxWarp>
          </a:bodyPr>
          <a:lstStyle/>
          <a:p>
            <a:endParaRPr lang="en-US"/>
          </a:p>
        </p:txBody>
      </p:sp>
      <p:sp>
        <p:nvSpPr>
          <p:cNvPr id="8" name="TextBox 15"/>
          <p:cNvSpPr txBox="1"/>
          <p:nvPr/>
        </p:nvSpPr>
        <p:spPr>
          <a:xfrm>
            <a:off x="3795888" y="2030900"/>
            <a:ext cx="1608667" cy="369332"/>
          </a:xfrm>
          <a:prstGeom prst="rect">
            <a:avLst/>
          </a:prstGeom>
          <a:noFill/>
        </p:spPr>
        <p:txBody>
          <a:bodyPr wrap="square" rtlCol="0">
            <a:spAutoFit/>
          </a:bodyPr>
          <a:lstStyle/>
          <a:p>
            <a:pPr algn="ctr"/>
            <a:r>
              <a:rPr lang="en-US" b="1" dirty="0">
                <a:solidFill>
                  <a:srgbClr val="0000FF"/>
                </a:solidFill>
              </a:rPr>
              <a:t>Ana </a:t>
            </a:r>
            <a:r>
              <a:rPr lang="en-US" b="1" dirty="0" err="1">
                <a:solidFill>
                  <a:srgbClr val="0000FF"/>
                </a:solidFill>
              </a:rPr>
              <a:t>Süreçler</a:t>
            </a:r>
            <a:endParaRPr lang="en-US" b="1" dirty="0">
              <a:solidFill>
                <a:srgbClr val="0000FF"/>
              </a:solidFill>
            </a:endParaRPr>
          </a:p>
        </p:txBody>
      </p:sp>
      <p:sp>
        <p:nvSpPr>
          <p:cNvPr id="9" name="TextBox 16"/>
          <p:cNvSpPr txBox="1"/>
          <p:nvPr/>
        </p:nvSpPr>
        <p:spPr>
          <a:xfrm>
            <a:off x="3386667" y="3487524"/>
            <a:ext cx="2342444" cy="369332"/>
          </a:xfrm>
          <a:prstGeom prst="rect">
            <a:avLst/>
          </a:prstGeom>
          <a:noFill/>
        </p:spPr>
        <p:txBody>
          <a:bodyPr wrap="square" rtlCol="0">
            <a:spAutoFit/>
          </a:bodyPr>
          <a:lstStyle/>
          <a:p>
            <a:pPr algn="ctr"/>
            <a:r>
              <a:rPr lang="en-US" b="1" dirty="0">
                <a:solidFill>
                  <a:srgbClr val="0000FF"/>
                </a:solidFill>
              </a:rPr>
              <a:t>Alt </a:t>
            </a:r>
            <a:r>
              <a:rPr lang="en-US" b="1" dirty="0" err="1">
                <a:solidFill>
                  <a:srgbClr val="0000FF"/>
                </a:solidFill>
              </a:rPr>
              <a:t>Süreçler</a:t>
            </a:r>
            <a:endParaRPr lang="en-US" b="1" dirty="0">
              <a:solidFill>
                <a:srgbClr val="0000FF"/>
              </a:solidFill>
            </a:endParaRPr>
          </a:p>
        </p:txBody>
      </p:sp>
      <p:sp>
        <p:nvSpPr>
          <p:cNvPr id="10" name="TextBox 17"/>
          <p:cNvSpPr txBox="1"/>
          <p:nvPr/>
        </p:nvSpPr>
        <p:spPr>
          <a:xfrm>
            <a:off x="3146780" y="4362412"/>
            <a:ext cx="2935111" cy="369332"/>
          </a:xfrm>
          <a:prstGeom prst="rect">
            <a:avLst/>
          </a:prstGeom>
          <a:noFill/>
        </p:spPr>
        <p:txBody>
          <a:bodyPr wrap="square" rtlCol="0">
            <a:spAutoFit/>
          </a:bodyPr>
          <a:lstStyle/>
          <a:p>
            <a:pPr algn="ctr"/>
            <a:r>
              <a:rPr lang="tr-TR" b="1" dirty="0">
                <a:solidFill>
                  <a:srgbClr val="0000FF"/>
                </a:solidFill>
              </a:rPr>
              <a:t>Faaliyetler</a:t>
            </a:r>
            <a:endParaRPr lang="en-US" b="1" dirty="0">
              <a:solidFill>
                <a:srgbClr val="0000FF"/>
              </a:solidFill>
            </a:endParaRPr>
          </a:p>
        </p:txBody>
      </p:sp>
    </p:spTree>
    <p:extLst>
      <p:ext uri="{BB962C8B-B14F-4D97-AF65-F5344CB8AC3E}">
        <p14:creationId xmlns:p14="http://schemas.microsoft.com/office/powerpoint/2010/main" val="4103648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28 Dikdörtgen"/>
          <p:cNvSpPr/>
          <p:nvPr/>
        </p:nvSpPr>
        <p:spPr>
          <a:xfrm>
            <a:off x="1763688" y="2852936"/>
            <a:ext cx="1944216" cy="18722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30" name="29 Dikdörtgen"/>
          <p:cNvSpPr/>
          <p:nvPr/>
        </p:nvSpPr>
        <p:spPr>
          <a:xfrm>
            <a:off x="4499992" y="2924944"/>
            <a:ext cx="1944216"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28" name="27 Dikdörtgen"/>
          <p:cNvSpPr/>
          <p:nvPr/>
        </p:nvSpPr>
        <p:spPr>
          <a:xfrm>
            <a:off x="1547664" y="4869160"/>
            <a:ext cx="1944216" cy="15841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3" name="2 İçerik Yer Tutucusu"/>
          <p:cNvSpPr>
            <a:spLocks noGrp="1"/>
          </p:cNvSpPr>
          <p:nvPr>
            <p:ph idx="1"/>
          </p:nvPr>
        </p:nvSpPr>
        <p:spPr>
          <a:xfrm>
            <a:off x="457200" y="764704"/>
            <a:ext cx="8229600" cy="5904656"/>
          </a:xfrm>
          <a:scene3d>
            <a:camera prst="orthographicFront">
              <a:rot lat="0" lon="0" rev="0"/>
            </a:camera>
            <a:lightRig rig="threePt" dir="t"/>
          </a:scene3d>
        </p:spPr>
        <p:txBody>
          <a:bodyPr vert="horz">
            <a:normAutofit lnSpcReduction="10000"/>
            <a:flatTx/>
          </a:bodyPr>
          <a:lstStyle/>
          <a:p>
            <a:pPr>
              <a:buNone/>
            </a:pPr>
            <a:r>
              <a:rPr lang="tr-TR" sz="2800" dirty="0"/>
              <a:t>SÜRECİN SEVİYESİ</a:t>
            </a:r>
          </a:p>
          <a:p>
            <a:pPr>
              <a:buNone/>
            </a:pPr>
            <a:r>
              <a:rPr lang="tr-TR" dirty="0"/>
              <a:t>	</a:t>
            </a:r>
            <a:r>
              <a:rPr lang="tr-TR" sz="2400" dirty="0"/>
              <a:t>Faaliyetler birleşerek alt süreçleri, alt süreçler birleşerek süreçleri oluşturur.</a:t>
            </a:r>
          </a:p>
          <a:p>
            <a:pPr>
              <a:buNone/>
            </a:pPr>
            <a:endParaRPr lang="tr-TR" sz="2400" b="1" dirty="0"/>
          </a:p>
          <a:p>
            <a:pPr>
              <a:buNone/>
            </a:pPr>
            <a:r>
              <a:rPr lang="tr-TR" sz="1600" b="1" dirty="0"/>
              <a:t>                                                            </a:t>
            </a:r>
          </a:p>
          <a:p>
            <a:pPr>
              <a:buNone/>
            </a:pPr>
            <a:r>
              <a:rPr lang="tr-TR" sz="1600" b="1" dirty="0"/>
              <a:t>                                                             Alt Süreçler 1                                     Alt süreçler 2</a:t>
            </a:r>
          </a:p>
          <a:p>
            <a:pPr>
              <a:buNone/>
            </a:pPr>
            <a:endParaRPr lang="tr-TR" sz="1600" b="1" dirty="0"/>
          </a:p>
          <a:p>
            <a:pPr>
              <a:buNone/>
            </a:pPr>
            <a:endParaRPr lang="tr-TR" sz="1600" b="1" dirty="0"/>
          </a:p>
          <a:p>
            <a:pPr>
              <a:buNone/>
            </a:pPr>
            <a:endParaRPr lang="tr-TR" sz="1600" b="1" dirty="0"/>
          </a:p>
          <a:p>
            <a:pPr>
              <a:buNone/>
            </a:pPr>
            <a:endParaRPr lang="tr-TR" sz="1600" b="1" dirty="0"/>
          </a:p>
          <a:p>
            <a:pPr>
              <a:buNone/>
            </a:pPr>
            <a:endParaRPr lang="tr-TR" sz="1600" b="1" dirty="0"/>
          </a:p>
          <a:p>
            <a:pPr>
              <a:buNone/>
            </a:pPr>
            <a:endParaRPr lang="tr-TR" sz="1600" b="1" dirty="0"/>
          </a:p>
          <a:p>
            <a:pPr>
              <a:buNone/>
            </a:pPr>
            <a:r>
              <a:rPr lang="tr-TR" sz="1600" b="1" dirty="0"/>
              <a:t>                                                             Alt Süreçler 3</a:t>
            </a:r>
          </a:p>
          <a:p>
            <a:pPr>
              <a:buNone/>
            </a:pPr>
            <a:endParaRPr lang="tr-TR" sz="1600" b="1" dirty="0"/>
          </a:p>
          <a:p>
            <a:pPr>
              <a:buNone/>
            </a:pPr>
            <a:endParaRPr lang="tr-TR" sz="1600" b="1" dirty="0"/>
          </a:p>
          <a:p>
            <a:pPr>
              <a:buNone/>
            </a:pPr>
            <a:r>
              <a:rPr lang="tr-TR" sz="1600" b="1" dirty="0"/>
              <a:t>                                                                                                                        </a:t>
            </a:r>
            <a:r>
              <a:rPr lang="tr-TR" sz="2000" b="1" dirty="0"/>
              <a:t>Süreç</a:t>
            </a:r>
          </a:p>
        </p:txBody>
      </p:sp>
      <p:sp>
        <p:nvSpPr>
          <p:cNvPr id="4" name="29 Başlık"/>
          <p:cNvSpPr>
            <a:spLocks noGrp="1"/>
          </p:cNvSpPr>
          <p:nvPr>
            <p:ph type="title"/>
          </p:nvPr>
        </p:nvSpPr>
        <p:spPr>
          <a:xfrm>
            <a:off x="457200" y="274638"/>
            <a:ext cx="8229600" cy="490066"/>
          </a:xfrm>
        </p:spPr>
        <p:txBody>
          <a:bodyPr>
            <a:normAutofit fontScale="90000"/>
          </a:bodyPr>
          <a:lstStyle/>
          <a:p>
            <a:r>
              <a:rPr lang="tr-TR" sz="3200" dirty="0"/>
              <a:t>TANIMLAR VE KAVRAMLAR</a:t>
            </a:r>
          </a:p>
        </p:txBody>
      </p:sp>
      <p:sp>
        <p:nvSpPr>
          <p:cNvPr id="5" name="4 Dikdörtgen"/>
          <p:cNvSpPr/>
          <p:nvPr/>
        </p:nvSpPr>
        <p:spPr>
          <a:xfrm>
            <a:off x="1979712" y="3068960"/>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6" name="5 Dikdörtgen"/>
          <p:cNvSpPr/>
          <p:nvPr/>
        </p:nvSpPr>
        <p:spPr>
          <a:xfrm>
            <a:off x="1979712" y="3717032"/>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7" name="6 Dikdörtgen"/>
          <p:cNvSpPr/>
          <p:nvPr/>
        </p:nvSpPr>
        <p:spPr>
          <a:xfrm>
            <a:off x="4788024" y="3717032"/>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8" name="7 Dikdörtgen"/>
          <p:cNvSpPr/>
          <p:nvPr/>
        </p:nvSpPr>
        <p:spPr>
          <a:xfrm>
            <a:off x="4788024" y="4293096"/>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9" name="8 Dikdörtgen"/>
          <p:cNvSpPr/>
          <p:nvPr/>
        </p:nvSpPr>
        <p:spPr>
          <a:xfrm>
            <a:off x="4788024" y="3140968"/>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10" name="9 Dikdörtgen"/>
          <p:cNvSpPr/>
          <p:nvPr/>
        </p:nvSpPr>
        <p:spPr>
          <a:xfrm>
            <a:off x="1979712" y="5949280"/>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11" name="10 Dikdörtgen"/>
          <p:cNvSpPr/>
          <p:nvPr/>
        </p:nvSpPr>
        <p:spPr>
          <a:xfrm>
            <a:off x="1979712" y="5229200"/>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sp>
        <p:nvSpPr>
          <p:cNvPr id="12" name="11 Dikdörtgen"/>
          <p:cNvSpPr/>
          <p:nvPr/>
        </p:nvSpPr>
        <p:spPr>
          <a:xfrm>
            <a:off x="1979712" y="4293096"/>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Faaliyet 1</a:t>
            </a:r>
          </a:p>
        </p:txBody>
      </p:sp>
      <p:cxnSp>
        <p:nvCxnSpPr>
          <p:cNvPr id="19" name="18 Düz Bağlayıcı"/>
          <p:cNvCxnSpPr/>
          <p:nvPr/>
        </p:nvCxnSpPr>
        <p:spPr>
          <a:xfrm>
            <a:off x="971600" y="2708920"/>
            <a:ext cx="69127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Düz Bağlayıcı"/>
          <p:cNvCxnSpPr/>
          <p:nvPr/>
        </p:nvCxnSpPr>
        <p:spPr>
          <a:xfrm rot="5400000">
            <a:off x="-972616" y="4653136"/>
            <a:ext cx="38884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Düz Bağlayıcı"/>
          <p:cNvCxnSpPr/>
          <p:nvPr/>
        </p:nvCxnSpPr>
        <p:spPr>
          <a:xfrm>
            <a:off x="971600" y="6597352"/>
            <a:ext cx="69127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25 Düz Bağlayıcı"/>
          <p:cNvCxnSpPr/>
          <p:nvPr/>
        </p:nvCxnSpPr>
        <p:spPr>
          <a:xfrm rot="5400000">
            <a:off x="5940152" y="4653136"/>
            <a:ext cx="388843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52263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836712"/>
            <a:ext cx="8291264" cy="5832648"/>
          </a:xfrm>
        </p:spPr>
        <p:txBody>
          <a:bodyPr>
            <a:normAutofit fontScale="92500" lnSpcReduction="10000"/>
          </a:bodyPr>
          <a:lstStyle/>
          <a:p>
            <a:pPr>
              <a:buNone/>
            </a:pPr>
            <a:r>
              <a:rPr lang="tr-TR" sz="2800" dirty="0"/>
              <a:t>SÜREÇ SEVİYESİ-</a:t>
            </a:r>
            <a:r>
              <a:rPr lang="tr-TR" dirty="0"/>
              <a:t> </a:t>
            </a:r>
            <a:r>
              <a:rPr lang="tr-TR" sz="2400" i="1" dirty="0"/>
              <a:t>Örnek : </a:t>
            </a:r>
            <a:r>
              <a:rPr lang="tr-TR" sz="2400" i="1" dirty="0" err="1"/>
              <a:t>Satınalma</a:t>
            </a:r>
            <a:r>
              <a:rPr lang="tr-TR" sz="2400" i="1" dirty="0"/>
              <a:t> Süreci</a:t>
            </a:r>
          </a:p>
          <a:p>
            <a:pPr algn="ctr">
              <a:buNone/>
            </a:pPr>
            <a:r>
              <a:rPr lang="tr-TR" sz="2400" dirty="0" err="1"/>
              <a:t>Satınalma</a:t>
            </a:r>
            <a:r>
              <a:rPr lang="tr-TR" sz="2400" dirty="0"/>
              <a:t> Talep Formu</a:t>
            </a:r>
          </a:p>
          <a:p>
            <a:pPr algn="ctr">
              <a:buNone/>
            </a:pPr>
            <a:r>
              <a:rPr lang="tr-TR" sz="2800" dirty="0"/>
              <a:t>                                      </a:t>
            </a:r>
            <a:r>
              <a:rPr lang="tr-TR" sz="1400" dirty="0"/>
              <a:t> Tedarik Alt Süreci</a:t>
            </a:r>
          </a:p>
          <a:p>
            <a:pPr>
              <a:buNone/>
            </a:pPr>
            <a:r>
              <a:rPr lang="tr-TR" sz="1600" dirty="0"/>
              <a:t>                                                                H</a:t>
            </a:r>
          </a:p>
          <a:p>
            <a:pPr algn="ctr">
              <a:buNone/>
            </a:pPr>
            <a:endParaRPr lang="tr-TR" sz="1600" dirty="0"/>
          </a:p>
          <a:p>
            <a:pPr algn="ctr">
              <a:buNone/>
            </a:pPr>
            <a:r>
              <a:rPr lang="tr-TR" sz="1600" dirty="0"/>
              <a:t>E                                                                                                           </a:t>
            </a:r>
            <a:endParaRPr lang="tr-TR" sz="1200" dirty="0"/>
          </a:p>
          <a:p>
            <a:pPr algn="ctr">
              <a:buNone/>
            </a:pPr>
            <a:r>
              <a:rPr lang="tr-TR" sz="1200" dirty="0"/>
              <a:t>       H                                                                                                                                       Tedarikçi Seçimi Alt Süreci</a:t>
            </a:r>
          </a:p>
          <a:p>
            <a:pPr>
              <a:buNone/>
            </a:pPr>
            <a:r>
              <a:rPr lang="tr-TR" sz="1200" dirty="0"/>
              <a:t>                                     H                                                                                                         H</a:t>
            </a:r>
          </a:p>
          <a:p>
            <a:pPr algn="ctr">
              <a:buNone/>
            </a:pPr>
            <a:endParaRPr lang="tr-TR" sz="1200" dirty="0"/>
          </a:p>
          <a:p>
            <a:pPr>
              <a:buNone/>
            </a:pPr>
            <a:r>
              <a:rPr lang="tr-TR" sz="1200" dirty="0"/>
              <a:t>                                                         E</a:t>
            </a:r>
          </a:p>
          <a:p>
            <a:pPr>
              <a:buNone/>
            </a:pPr>
            <a:r>
              <a:rPr lang="tr-TR" sz="1200" dirty="0"/>
              <a:t>                       Şartname Hazırlama Alt Süreci                                  E</a:t>
            </a:r>
          </a:p>
          <a:p>
            <a:pPr>
              <a:buNone/>
            </a:pPr>
            <a:r>
              <a:rPr lang="tr-TR" sz="1200" dirty="0"/>
              <a:t>                                                                                                       </a:t>
            </a:r>
          </a:p>
          <a:p>
            <a:pPr>
              <a:buNone/>
            </a:pPr>
            <a:endParaRPr lang="tr-TR" sz="1200" dirty="0"/>
          </a:p>
          <a:p>
            <a:pPr>
              <a:buNone/>
            </a:pPr>
            <a:r>
              <a:rPr lang="tr-TR" sz="1200" dirty="0"/>
              <a:t>                                                                                                                </a:t>
            </a:r>
          </a:p>
          <a:p>
            <a:pPr>
              <a:buNone/>
            </a:pPr>
            <a:endParaRPr lang="tr-TR" sz="1200" dirty="0"/>
          </a:p>
          <a:p>
            <a:pPr>
              <a:buNone/>
            </a:pPr>
            <a:endParaRPr lang="tr-TR" sz="1200" dirty="0"/>
          </a:p>
          <a:p>
            <a:pPr>
              <a:buNone/>
            </a:pPr>
            <a:endParaRPr lang="tr-TR" sz="1200" dirty="0"/>
          </a:p>
          <a:p>
            <a:pPr>
              <a:buNone/>
            </a:pPr>
            <a:r>
              <a:rPr lang="tr-TR" sz="1200" dirty="0"/>
              <a:t>                                                Girdi Muayenesi           H</a:t>
            </a:r>
          </a:p>
          <a:p>
            <a:pPr>
              <a:buNone/>
            </a:pPr>
            <a:r>
              <a:rPr lang="tr-TR" sz="1200" dirty="0"/>
              <a:t>                                                     Alt Süreci</a:t>
            </a:r>
          </a:p>
          <a:p>
            <a:pPr>
              <a:buNone/>
            </a:pPr>
            <a:r>
              <a:rPr lang="tr-TR" sz="1200" dirty="0"/>
              <a:t>                                                                                  </a:t>
            </a:r>
          </a:p>
          <a:p>
            <a:pPr>
              <a:buNone/>
            </a:pPr>
            <a:r>
              <a:rPr lang="tr-TR" sz="1200" dirty="0"/>
              <a:t>                                                                                          </a:t>
            </a:r>
            <a:r>
              <a:rPr lang="tr-TR" sz="1200" dirty="0" err="1"/>
              <a:t>Satınalınan</a:t>
            </a:r>
            <a:r>
              <a:rPr lang="tr-TR" sz="1200" dirty="0"/>
              <a:t> onaylanmış ürün         </a:t>
            </a:r>
          </a:p>
          <a:p>
            <a:pPr>
              <a:buNone/>
            </a:pPr>
            <a:endParaRPr lang="tr-TR" sz="2800" dirty="0"/>
          </a:p>
        </p:txBody>
      </p:sp>
      <p:sp>
        <p:nvSpPr>
          <p:cNvPr id="125" name="29 Başlık"/>
          <p:cNvSpPr>
            <a:spLocks noGrp="1"/>
          </p:cNvSpPr>
          <p:nvPr>
            <p:ph type="title"/>
          </p:nvPr>
        </p:nvSpPr>
        <p:spPr>
          <a:xfrm>
            <a:off x="457200" y="274638"/>
            <a:ext cx="8229600" cy="490537"/>
          </a:xfrm>
        </p:spPr>
        <p:txBody>
          <a:bodyPr>
            <a:normAutofit fontScale="90000"/>
          </a:bodyPr>
          <a:lstStyle/>
          <a:p>
            <a:r>
              <a:rPr lang="tr-TR" sz="3200" dirty="0"/>
              <a:t>TANIMLAR VE KAVRAMLAR</a:t>
            </a:r>
          </a:p>
        </p:txBody>
      </p:sp>
      <p:sp>
        <p:nvSpPr>
          <p:cNvPr id="4" name="3 Dikdörtgen"/>
          <p:cNvSpPr/>
          <p:nvPr/>
        </p:nvSpPr>
        <p:spPr>
          <a:xfrm>
            <a:off x="1547664" y="2492896"/>
            <a:ext cx="151216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latin typeface="Times New Roman" pitchFamily="18" charset="0"/>
                <a:cs typeface="Times New Roman" pitchFamily="18" charset="0"/>
              </a:rPr>
              <a:t>SA Şartnamesinin hazırlanması</a:t>
            </a:r>
          </a:p>
        </p:txBody>
      </p:sp>
      <p:sp>
        <p:nvSpPr>
          <p:cNvPr id="5" name="4 Elmas"/>
          <p:cNvSpPr/>
          <p:nvPr/>
        </p:nvSpPr>
        <p:spPr>
          <a:xfrm>
            <a:off x="1547664" y="3212976"/>
            <a:ext cx="1512168" cy="7920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Şartname</a:t>
            </a:r>
          </a:p>
          <a:p>
            <a:pPr algn="ctr"/>
            <a:r>
              <a:rPr lang="tr-TR" sz="1100" dirty="0"/>
              <a:t>Kontrolü</a:t>
            </a:r>
          </a:p>
        </p:txBody>
      </p:sp>
      <p:sp>
        <p:nvSpPr>
          <p:cNvPr id="6" name="5 Elmas"/>
          <p:cNvSpPr/>
          <p:nvPr/>
        </p:nvSpPr>
        <p:spPr>
          <a:xfrm>
            <a:off x="3635896" y="5589240"/>
            <a:ext cx="1944216" cy="64807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Girdi muayenesi</a:t>
            </a:r>
          </a:p>
        </p:txBody>
      </p:sp>
      <p:sp>
        <p:nvSpPr>
          <p:cNvPr id="7" name="6 Elmas"/>
          <p:cNvSpPr/>
          <p:nvPr/>
        </p:nvSpPr>
        <p:spPr>
          <a:xfrm>
            <a:off x="3635896" y="3429000"/>
            <a:ext cx="2016224" cy="72008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Onaylı</a:t>
            </a:r>
          </a:p>
          <a:p>
            <a:pPr algn="ctr"/>
            <a:r>
              <a:rPr lang="tr-TR" sz="1100" dirty="0"/>
              <a:t>Tedarikçi mevcut mu</a:t>
            </a:r>
          </a:p>
        </p:txBody>
      </p:sp>
      <p:sp>
        <p:nvSpPr>
          <p:cNvPr id="8" name="7 Elmas"/>
          <p:cNvSpPr/>
          <p:nvPr/>
        </p:nvSpPr>
        <p:spPr>
          <a:xfrm>
            <a:off x="3563888" y="2276872"/>
            <a:ext cx="2160240" cy="72008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SA Şartnamesi mevcut mu</a:t>
            </a:r>
          </a:p>
        </p:txBody>
      </p:sp>
      <p:sp>
        <p:nvSpPr>
          <p:cNvPr id="10" name="9 Dikdörtgen"/>
          <p:cNvSpPr/>
          <p:nvPr/>
        </p:nvSpPr>
        <p:spPr>
          <a:xfrm>
            <a:off x="3851920" y="4437112"/>
            <a:ext cx="151216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latin typeface="Times New Roman" pitchFamily="18" charset="0"/>
                <a:cs typeface="Times New Roman" pitchFamily="18" charset="0"/>
              </a:rPr>
              <a:t>SA sipariş edilmesi</a:t>
            </a:r>
          </a:p>
        </p:txBody>
      </p:sp>
      <p:sp>
        <p:nvSpPr>
          <p:cNvPr id="11" name="10 Dikdörtgen"/>
          <p:cNvSpPr/>
          <p:nvPr/>
        </p:nvSpPr>
        <p:spPr>
          <a:xfrm>
            <a:off x="3851920" y="5013176"/>
            <a:ext cx="1512168"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latin typeface="Times New Roman" pitchFamily="18" charset="0"/>
                <a:cs typeface="Times New Roman" pitchFamily="18" charset="0"/>
              </a:rPr>
              <a:t>Nakliye</a:t>
            </a:r>
          </a:p>
        </p:txBody>
      </p:sp>
      <p:sp>
        <p:nvSpPr>
          <p:cNvPr id="12" name="11 Dikdörtgen"/>
          <p:cNvSpPr/>
          <p:nvPr/>
        </p:nvSpPr>
        <p:spPr>
          <a:xfrm>
            <a:off x="6300192" y="4293096"/>
            <a:ext cx="151216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latin typeface="Times New Roman" pitchFamily="18" charset="0"/>
                <a:cs typeface="Times New Roman" pitchFamily="18" charset="0"/>
              </a:rPr>
              <a:t>Tedarikçi Değerlendirme</a:t>
            </a:r>
          </a:p>
        </p:txBody>
      </p:sp>
      <p:sp>
        <p:nvSpPr>
          <p:cNvPr id="13" name="12 Dikdörtgen"/>
          <p:cNvSpPr/>
          <p:nvPr/>
        </p:nvSpPr>
        <p:spPr>
          <a:xfrm>
            <a:off x="6300192" y="3573016"/>
            <a:ext cx="151216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latin typeface="Times New Roman" pitchFamily="18" charset="0"/>
                <a:cs typeface="Times New Roman" pitchFamily="18" charset="0"/>
              </a:rPr>
              <a:t>Tedarikçi Araştırma</a:t>
            </a:r>
          </a:p>
        </p:txBody>
      </p:sp>
      <p:sp>
        <p:nvSpPr>
          <p:cNvPr id="14" name="13 Dikdörtgen"/>
          <p:cNvSpPr/>
          <p:nvPr/>
        </p:nvSpPr>
        <p:spPr>
          <a:xfrm>
            <a:off x="6300192" y="5085184"/>
            <a:ext cx="151216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latin typeface="Times New Roman" pitchFamily="18" charset="0"/>
                <a:cs typeface="Times New Roman" pitchFamily="18" charset="0"/>
              </a:rPr>
              <a:t>Tedarikçi Seçimi</a:t>
            </a:r>
          </a:p>
        </p:txBody>
      </p:sp>
      <p:cxnSp>
        <p:nvCxnSpPr>
          <p:cNvPr id="16" name="15 Düz Ok Bağlayıcısı"/>
          <p:cNvCxnSpPr>
            <a:stCxn id="7" idx="3"/>
            <a:endCxn id="13" idx="1"/>
          </p:cNvCxnSpPr>
          <p:nvPr/>
        </p:nvCxnSpPr>
        <p:spPr>
          <a:xfrm>
            <a:off x="5652120" y="3789040"/>
            <a:ext cx="6480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28 Düz Bağlayıcı"/>
          <p:cNvCxnSpPr/>
          <p:nvPr/>
        </p:nvCxnSpPr>
        <p:spPr>
          <a:xfrm rot="5400000">
            <a:off x="6876256" y="5733256"/>
            <a:ext cx="2880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Düz Bağlayıcı"/>
          <p:cNvCxnSpPr/>
          <p:nvPr/>
        </p:nvCxnSpPr>
        <p:spPr>
          <a:xfrm>
            <a:off x="7020272" y="5877272"/>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32 Düz Bağlayıcı"/>
          <p:cNvCxnSpPr/>
          <p:nvPr/>
        </p:nvCxnSpPr>
        <p:spPr>
          <a:xfrm rot="5400000" flipH="1" flipV="1">
            <a:off x="6552220" y="4473116"/>
            <a:ext cx="26642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a:endCxn id="7" idx="0"/>
          </p:cNvCxnSpPr>
          <p:nvPr/>
        </p:nvCxnSpPr>
        <p:spPr>
          <a:xfrm rot="5400000">
            <a:off x="4463988" y="3248980"/>
            <a:ext cx="3600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10800000">
            <a:off x="4644008" y="3140968"/>
            <a:ext cx="32403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43 Düz Ok Bağlayıcısı"/>
          <p:cNvCxnSpPr>
            <a:stCxn id="13" idx="2"/>
            <a:endCxn id="12" idx="0"/>
          </p:cNvCxnSpPr>
          <p:nvPr/>
        </p:nvCxnSpPr>
        <p:spPr>
          <a:xfrm rot="5400000">
            <a:off x="6912260" y="4149080"/>
            <a:ext cx="2880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2" idx="2"/>
            <a:endCxn id="14" idx="0"/>
          </p:cNvCxnSpPr>
          <p:nvPr/>
        </p:nvCxnSpPr>
        <p:spPr>
          <a:xfrm rot="5400000">
            <a:off x="6876256" y="4905164"/>
            <a:ext cx="3600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Bağlayıcı"/>
          <p:cNvCxnSpPr>
            <a:stCxn id="6" idx="1"/>
          </p:cNvCxnSpPr>
          <p:nvPr/>
        </p:nvCxnSpPr>
        <p:spPr>
          <a:xfrm rot="10800000" flipV="1">
            <a:off x="3419872" y="5913276"/>
            <a:ext cx="216024" cy="36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49 Düz Bağlayıcı"/>
          <p:cNvCxnSpPr/>
          <p:nvPr/>
        </p:nvCxnSpPr>
        <p:spPr>
          <a:xfrm rot="5400000" flipH="1" flipV="1">
            <a:off x="2339752" y="4869160"/>
            <a:ext cx="2160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51 Düz Ok Bağlayıcısı"/>
          <p:cNvCxnSpPr>
            <a:endCxn id="7" idx="1"/>
          </p:cNvCxnSpPr>
          <p:nvPr/>
        </p:nvCxnSpPr>
        <p:spPr>
          <a:xfrm>
            <a:off x="3419872" y="3789040"/>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53 Düz Ok Bağlayıcısı"/>
          <p:cNvCxnSpPr>
            <a:stCxn id="8" idx="1"/>
          </p:cNvCxnSpPr>
          <p:nvPr/>
        </p:nvCxnSpPr>
        <p:spPr>
          <a:xfrm rot="10800000">
            <a:off x="3131840" y="2636912"/>
            <a:ext cx="43204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71 Düz Bağlayıcı"/>
          <p:cNvCxnSpPr/>
          <p:nvPr/>
        </p:nvCxnSpPr>
        <p:spPr>
          <a:xfrm rot="10800000" flipV="1">
            <a:off x="1259632" y="3616888"/>
            <a:ext cx="288032" cy="28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73 Düz Bağlayıcı"/>
          <p:cNvCxnSpPr/>
          <p:nvPr/>
        </p:nvCxnSpPr>
        <p:spPr>
          <a:xfrm rot="5400000" flipH="1" flipV="1">
            <a:off x="827584" y="3212976"/>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76 Düz Ok Bağlayıcısı"/>
          <p:cNvCxnSpPr/>
          <p:nvPr/>
        </p:nvCxnSpPr>
        <p:spPr>
          <a:xfrm>
            <a:off x="1259632" y="2780928"/>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80 Düz Bağlayıcı"/>
          <p:cNvCxnSpPr/>
          <p:nvPr/>
        </p:nvCxnSpPr>
        <p:spPr>
          <a:xfrm rot="5400000">
            <a:off x="2231740" y="4113076"/>
            <a:ext cx="144016" cy="72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82 Düz Bağlayıcı"/>
          <p:cNvCxnSpPr/>
          <p:nvPr/>
        </p:nvCxnSpPr>
        <p:spPr>
          <a:xfrm rot="10800000">
            <a:off x="1043608" y="4221088"/>
            <a:ext cx="12241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84 Düz Bağlayıcı"/>
          <p:cNvCxnSpPr/>
          <p:nvPr/>
        </p:nvCxnSpPr>
        <p:spPr>
          <a:xfrm rot="5400000" flipH="1" flipV="1">
            <a:off x="71500" y="3248980"/>
            <a:ext cx="19442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86 Düz Ok Bağlayıcısı"/>
          <p:cNvCxnSpPr/>
          <p:nvPr/>
        </p:nvCxnSpPr>
        <p:spPr>
          <a:xfrm>
            <a:off x="1043608" y="2276872"/>
            <a:ext cx="345638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93 Düz Ok Bağlayıcısı"/>
          <p:cNvCxnSpPr>
            <a:stCxn id="7" idx="2"/>
            <a:endCxn id="10" idx="0"/>
          </p:cNvCxnSpPr>
          <p:nvPr/>
        </p:nvCxnSpPr>
        <p:spPr>
          <a:xfrm rot="5400000">
            <a:off x="4481990" y="4275094"/>
            <a:ext cx="288032" cy="360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95 Düz Ok Bağlayıcısı"/>
          <p:cNvCxnSpPr>
            <a:stCxn id="10" idx="2"/>
            <a:endCxn id="11" idx="0"/>
          </p:cNvCxnSpPr>
          <p:nvPr/>
        </p:nvCxnSpPr>
        <p:spPr>
          <a:xfrm rot="5400000">
            <a:off x="4499992" y="4905164"/>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 name="101 Düz Ok Bağlayıcısı"/>
          <p:cNvCxnSpPr>
            <a:stCxn id="11" idx="2"/>
            <a:endCxn id="6" idx="0"/>
          </p:cNvCxnSpPr>
          <p:nvPr/>
        </p:nvCxnSpPr>
        <p:spPr>
          <a:xfrm rot="5400000">
            <a:off x="4463988" y="5445224"/>
            <a:ext cx="2880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106 Düz Bağlayıcı"/>
          <p:cNvCxnSpPr/>
          <p:nvPr/>
        </p:nvCxnSpPr>
        <p:spPr>
          <a:xfrm>
            <a:off x="611560" y="2204864"/>
            <a:ext cx="7920880" cy="0"/>
          </a:xfrm>
          <a:prstGeom prst="line">
            <a:avLst/>
          </a:prstGeom>
        </p:spPr>
        <p:style>
          <a:lnRef idx="1">
            <a:schemeClr val="dk1"/>
          </a:lnRef>
          <a:fillRef idx="0">
            <a:schemeClr val="dk1"/>
          </a:fillRef>
          <a:effectRef idx="0">
            <a:schemeClr val="dk1"/>
          </a:effectRef>
          <a:fontRef idx="minor">
            <a:schemeClr val="tx1"/>
          </a:fontRef>
        </p:style>
      </p:cxnSp>
      <p:cxnSp>
        <p:nvCxnSpPr>
          <p:cNvPr id="109" name="108 Düz Bağlayıcı"/>
          <p:cNvCxnSpPr/>
          <p:nvPr/>
        </p:nvCxnSpPr>
        <p:spPr>
          <a:xfrm>
            <a:off x="611560" y="6525344"/>
            <a:ext cx="7848872" cy="0"/>
          </a:xfrm>
          <a:prstGeom prst="line">
            <a:avLst/>
          </a:prstGeom>
        </p:spPr>
        <p:style>
          <a:lnRef idx="1">
            <a:schemeClr val="dk1"/>
          </a:lnRef>
          <a:fillRef idx="0">
            <a:schemeClr val="dk1"/>
          </a:fillRef>
          <a:effectRef idx="0">
            <a:schemeClr val="dk1"/>
          </a:effectRef>
          <a:fontRef idx="minor">
            <a:schemeClr val="tx1"/>
          </a:fontRef>
        </p:style>
      </p:cxnSp>
      <p:cxnSp>
        <p:nvCxnSpPr>
          <p:cNvPr id="115" name="114 Düz Ok Bağlayıcısı"/>
          <p:cNvCxnSpPr>
            <a:stCxn id="6" idx="2"/>
          </p:cNvCxnSpPr>
          <p:nvPr/>
        </p:nvCxnSpPr>
        <p:spPr>
          <a:xfrm rot="5400000">
            <a:off x="4517994" y="6291318"/>
            <a:ext cx="144016" cy="360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4" name="123 Düz Ok Bağlayıcısı"/>
          <p:cNvCxnSpPr/>
          <p:nvPr/>
        </p:nvCxnSpPr>
        <p:spPr>
          <a:xfrm rot="5400000">
            <a:off x="4499992" y="1988840"/>
            <a:ext cx="2880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3519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Dikdörtgen"/>
          <p:cNvSpPr/>
          <p:nvPr/>
        </p:nvSpPr>
        <p:spPr>
          <a:xfrm>
            <a:off x="467544" y="1484784"/>
            <a:ext cx="7272808" cy="216024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 name="4 İçerik Yer Tutucusu"/>
          <p:cNvSpPr>
            <a:spLocks noGrp="1"/>
          </p:cNvSpPr>
          <p:nvPr>
            <p:ph idx="1"/>
          </p:nvPr>
        </p:nvSpPr>
        <p:spPr>
          <a:xfrm>
            <a:off x="457200" y="1484784"/>
            <a:ext cx="8219256" cy="4608512"/>
          </a:xfrm>
        </p:spPr>
        <p:txBody>
          <a:bodyPr>
            <a:normAutofit/>
          </a:bodyPr>
          <a:lstStyle/>
          <a:p>
            <a:pPr>
              <a:buFont typeface="Wingdings" pitchFamily="2" charset="2"/>
              <a:buChar char="Ø"/>
            </a:pPr>
            <a:r>
              <a:rPr lang="tr-TR" sz="2000" dirty="0"/>
              <a:t>Tüm süreçlerin izlenmesi, ölçülmesi, analizi, değerlendirilmesi ve yönlendirilmesine yönelik süreçlerdir.</a:t>
            </a:r>
          </a:p>
          <a:p>
            <a:pPr>
              <a:buFont typeface="Wingdings" pitchFamily="2" charset="2"/>
              <a:buChar char="Ø"/>
            </a:pPr>
            <a:r>
              <a:rPr lang="tr-TR" sz="2000" dirty="0"/>
              <a:t>Tüm süreçlerle ilgili hedef ve amaçları belirlerler.</a:t>
            </a:r>
          </a:p>
          <a:p>
            <a:pPr>
              <a:buFont typeface="Wingdings" pitchFamily="2" charset="2"/>
              <a:buChar char="Ø"/>
            </a:pPr>
            <a:r>
              <a:rPr lang="tr-TR" sz="2000" dirty="0"/>
              <a:t>Tüm süreçlerin performans değerlendirmelerini yaparlar.</a:t>
            </a:r>
          </a:p>
          <a:p>
            <a:pPr>
              <a:buFont typeface="Wingdings" pitchFamily="2" charset="2"/>
              <a:buChar char="Ø"/>
            </a:pPr>
            <a:r>
              <a:rPr lang="tr-TR" sz="2000" dirty="0"/>
              <a:t>Gereken durumlarda kuruluşun rotasını değiştirirler.</a:t>
            </a:r>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ü"/>
            </a:pPr>
            <a:r>
              <a:rPr lang="tr-TR" sz="2000" dirty="0"/>
              <a:t>Politikaların oluşturulması		</a:t>
            </a:r>
          </a:p>
          <a:p>
            <a:pPr>
              <a:buFont typeface="Wingdings" pitchFamily="2" charset="2"/>
              <a:buChar char="ü"/>
            </a:pPr>
            <a:r>
              <a:rPr lang="tr-TR" sz="2000" dirty="0"/>
              <a:t>Performans izleme			</a:t>
            </a:r>
          </a:p>
          <a:p>
            <a:pPr>
              <a:buFont typeface="Wingdings" pitchFamily="2" charset="2"/>
              <a:buChar char="ü"/>
            </a:pPr>
            <a:r>
              <a:rPr lang="tr-TR" sz="2000" dirty="0"/>
              <a:t>Raporlama 				</a:t>
            </a:r>
          </a:p>
          <a:p>
            <a:pPr>
              <a:buFont typeface="Wingdings" pitchFamily="2" charset="2"/>
              <a:buChar char="ü"/>
            </a:pPr>
            <a:r>
              <a:rPr lang="tr-TR" sz="2000" dirty="0"/>
              <a:t>Denetim 				</a:t>
            </a:r>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a:p>
            <a:pPr>
              <a:buFont typeface="Wingdings" pitchFamily="2" charset="2"/>
              <a:buChar char="Ø"/>
            </a:pPr>
            <a:endParaRPr lang="tr-TR" sz="2000" dirty="0"/>
          </a:p>
        </p:txBody>
      </p:sp>
      <p:sp>
        <p:nvSpPr>
          <p:cNvPr id="4" name="3 Başlık"/>
          <p:cNvSpPr>
            <a:spLocks noGrp="1"/>
          </p:cNvSpPr>
          <p:nvPr>
            <p:ph type="title"/>
          </p:nvPr>
        </p:nvSpPr>
        <p:spPr/>
        <p:txBody>
          <a:bodyPr/>
          <a:lstStyle/>
          <a:p>
            <a:r>
              <a:rPr lang="tr-TR" dirty="0"/>
              <a:t>YÖNETSEL SÜREÇLER (MP)</a:t>
            </a:r>
          </a:p>
        </p:txBody>
      </p:sp>
      <p:sp>
        <p:nvSpPr>
          <p:cNvPr id="6" name="4 İçerik Yer Tutucusu"/>
          <p:cNvSpPr txBox="1">
            <a:spLocks/>
          </p:cNvSpPr>
          <p:nvPr/>
        </p:nvSpPr>
        <p:spPr>
          <a:xfrm>
            <a:off x="4067944" y="3717032"/>
            <a:ext cx="4464496" cy="216024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ü"/>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ü"/>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Stratejik planlama </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ü"/>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Hedef yönetimi</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ü"/>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YGG</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ü"/>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Düzeltici/Önleyici Faaliyet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2275354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381000" y="3413372"/>
            <a:ext cx="8302625" cy="539251"/>
          </a:xfrm>
          <a:prstGeom prst="rect">
            <a:avLst/>
          </a:prstGeom>
          <a:noFill/>
          <a:ln w="9525">
            <a:noFill/>
            <a:miter lim="800000"/>
            <a:headEnd/>
            <a:tailEnd/>
          </a:ln>
        </p:spPr>
        <p:txBody>
          <a:bodyPr wrap="square" lIns="92075" tIns="46038" rIns="92075" bIns="46038">
            <a:prstTxWarp prst="textNoShape">
              <a:avLst/>
            </a:prstTxWarp>
            <a:spAutoFit/>
          </a:bodyPr>
          <a:lstStyle/>
          <a:p>
            <a:pPr algn="just" eaLnBrk="0" hangingPunct="0">
              <a:lnSpc>
                <a:spcPct val="125000"/>
              </a:lnSpc>
            </a:pPr>
            <a:endParaRPr lang="tr-TR" sz="2400" b="1" dirty="0">
              <a:solidFill>
                <a:srgbClr val="0000FF"/>
              </a:solidFill>
              <a:latin typeface="+mj-lt"/>
            </a:endParaRPr>
          </a:p>
        </p:txBody>
      </p:sp>
      <p:sp>
        <p:nvSpPr>
          <p:cNvPr id="2" name="Title 1"/>
          <p:cNvSpPr>
            <a:spLocks noGrp="1"/>
          </p:cNvSpPr>
          <p:nvPr>
            <p:ph type="title"/>
          </p:nvPr>
        </p:nvSpPr>
        <p:spPr/>
        <p:txBody>
          <a:bodyPr/>
          <a:lstStyle/>
          <a:p>
            <a:r>
              <a:rPr lang="en-US" b="1" dirty="0" err="1">
                <a:effectLst>
                  <a:outerShdw blurRad="38100" dist="38100" dir="2700000" algn="tl">
                    <a:srgbClr val="000000">
                      <a:alpha val="43137"/>
                    </a:srgbClr>
                  </a:outerShdw>
                </a:effectLst>
                <a:latin typeface="Calibri" pitchFamily="34" charset="0"/>
                <a:cs typeface="Calibri" pitchFamily="34" charset="0"/>
              </a:rPr>
              <a:t>Tanımlanabilme</a:t>
            </a:r>
            <a:endParaRPr lang="tr-TR" dirty="0"/>
          </a:p>
        </p:txBody>
      </p:sp>
      <p:sp>
        <p:nvSpPr>
          <p:cNvPr id="3" name="Content Placeholder 2"/>
          <p:cNvSpPr>
            <a:spLocks noGrp="1"/>
          </p:cNvSpPr>
          <p:nvPr>
            <p:ph sz="quarter" idx="1"/>
          </p:nvPr>
        </p:nvSpPr>
        <p:spPr/>
        <p:txBody>
          <a:bodyPr/>
          <a:lstStyle/>
          <a:p>
            <a:pPr marL="441960" indent="-285750" fontAlgn="base">
              <a:lnSpc>
                <a:spcPct val="150000"/>
              </a:lnSpc>
              <a:spcBef>
                <a:spcPct val="20000"/>
              </a:spcBef>
              <a:spcAft>
                <a:spcPct val="0"/>
              </a:spcAft>
              <a:buClr>
                <a:srgbClr val="66FF66"/>
              </a:buClr>
              <a:buSzPct val="50000"/>
              <a:defRPr/>
            </a:pPr>
            <a:r>
              <a:rPr lang="tr-TR" sz="2300" b="1" kern="0" dirty="0">
                <a:effectLst>
                  <a:outerShdw blurRad="38100" dist="38100" dir="2700000" algn="tl">
                    <a:srgbClr val="000000"/>
                  </a:outerShdw>
                </a:effectLst>
                <a:latin typeface="Calibri" pitchFamily="34" charset="0"/>
                <a:ea typeface="ＭＳ Ｐゴシック" charset="-128"/>
                <a:cs typeface="Calibri" pitchFamily="34" charset="0"/>
              </a:rPr>
              <a:t>Tedarikçiler,</a:t>
            </a:r>
          </a:p>
          <a:p>
            <a:pPr marL="441960" indent="-285750" fontAlgn="base">
              <a:lnSpc>
                <a:spcPct val="150000"/>
              </a:lnSpc>
              <a:spcBef>
                <a:spcPct val="20000"/>
              </a:spcBef>
              <a:spcAft>
                <a:spcPct val="0"/>
              </a:spcAft>
              <a:buClr>
                <a:srgbClr val="66FF66"/>
              </a:buClr>
              <a:buSzPct val="50000"/>
              <a:defRPr/>
            </a:pPr>
            <a:r>
              <a:rPr lang="tr-TR" sz="2300" b="1" kern="0" dirty="0">
                <a:effectLst>
                  <a:outerShdw blurRad="38100" dist="38100" dir="2700000" algn="tl">
                    <a:srgbClr val="000000"/>
                  </a:outerShdw>
                </a:effectLst>
                <a:latin typeface="Calibri" pitchFamily="34" charset="0"/>
                <a:ea typeface="ＭＳ Ｐゴシック" charset="-128"/>
                <a:cs typeface="Calibri" pitchFamily="34" charset="0"/>
              </a:rPr>
              <a:t>Girdiler (Bilgi, Metot, Hizmet Alanının Talebi),</a:t>
            </a:r>
          </a:p>
          <a:p>
            <a:pPr marL="441960" indent="-285750" fontAlgn="base">
              <a:lnSpc>
                <a:spcPct val="150000"/>
              </a:lnSpc>
              <a:spcBef>
                <a:spcPct val="20000"/>
              </a:spcBef>
              <a:spcAft>
                <a:spcPct val="0"/>
              </a:spcAft>
              <a:buClr>
                <a:srgbClr val="66FF66"/>
              </a:buClr>
              <a:buSzPct val="50000"/>
              <a:defRPr/>
            </a:pPr>
            <a:r>
              <a:rPr lang="tr-TR" sz="2300" b="1" kern="0" dirty="0">
                <a:effectLst>
                  <a:outerShdw blurRad="38100" dist="38100" dir="2700000" algn="tl">
                    <a:srgbClr val="000000"/>
                  </a:outerShdw>
                </a:effectLst>
                <a:latin typeface="Calibri" pitchFamily="34" charset="0"/>
                <a:ea typeface="ＭＳ Ｐゴシック" charset="-128"/>
                <a:cs typeface="Calibri" pitchFamily="34" charset="0"/>
              </a:rPr>
              <a:t>Çıktılar (Rapor, Bilgi, Hizmet),</a:t>
            </a:r>
          </a:p>
          <a:p>
            <a:pPr marL="441960" indent="-285750" fontAlgn="base">
              <a:lnSpc>
                <a:spcPct val="150000"/>
              </a:lnSpc>
              <a:spcBef>
                <a:spcPct val="20000"/>
              </a:spcBef>
              <a:spcAft>
                <a:spcPct val="0"/>
              </a:spcAft>
              <a:buClr>
                <a:srgbClr val="66FF66"/>
              </a:buClr>
              <a:buSzPct val="50000"/>
              <a:defRPr/>
            </a:pPr>
            <a:r>
              <a:rPr lang="tr-TR" sz="2300" b="1" kern="0" dirty="0">
                <a:effectLst>
                  <a:outerShdw blurRad="38100" dist="38100" dir="2700000" algn="tl">
                    <a:srgbClr val="000000"/>
                  </a:outerShdw>
                </a:effectLst>
                <a:latin typeface="Calibri" pitchFamily="34" charset="0"/>
                <a:ea typeface="ＭＳ Ｐゴシック" charset="-128"/>
                <a:cs typeface="Calibri" pitchFamily="34" charset="0"/>
              </a:rPr>
              <a:t>Hizmet Alanlar,</a:t>
            </a:r>
          </a:p>
          <a:p>
            <a:pPr marL="441960" indent="-285750" fontAlgn="base">
              <a:lnSpc>
                <a:spcPct val="150000"/>
              </a:lnSpc>
              <a:spcBef>
                <a:spcPct val="20000"/>
              </a:spcBef>
              <a:spcAft>
                <a:spcPct val="0"/>
              </a:spcAft>
              <a:buClr>
                <a:srgbClr val="66FF66"/>
              </a:buClr>
              <a:buSzPct val="50000"/>
              <a:defRPr/>
            </a:pPr>
            <a:r>
              <a:rPr lang="tr-TR" sz="2300" b="1" kern="0" dirty="0">
                <a:effectLst>
                  <a:outerShdw blurRad="38100" dist="38100" dir="2700000" algn="tl">
                    <a:srgbClr val="000000"/>
                  </a:outerShdw>
                </a:effectLst>
                <a:latin typeface="Calibri" pitchFamily="34" charset="0"/>
                <a:ea typeface="ＭＳ Ｐゴシック" charset="-128"/>
                <a:cs typeface="Calibri" pitchFamily="34" charset="0"/>
              </a:rPr>
              <a:t>Süreç performans ölçümleri (Hizmet Alanların sesi),</a:t>
            </a:r>
          </a:p>
          <a:p>
            <a:pPr marL="441960" indent="-285750" fontAlgn="base">
              <a:lnSpc>
                <a:spcPct val="150000"/>
              </a:lnSpc>
              <a:spcBef>
                <a:spcPct val="20000"/>
              </a:spcBef>
              <a:spcAft>
                <a:spcPct val="0"/>
              </a:spcAft>
              <a:buClr>
                <a:srgbClr val="66FF66"/>
              </a:buClr>
              <a:buSzPct val="50000"/>
              <a:defRPr/>
            </a:pPr>
            <a:r>
              <a:rPr lang="tr-TR" sz="2300" b="1" kern="0" dirty="0">
                <a:effectLst>
                  <a:outerShdw blurRad="38100" dist="38100" dir="2700000" algn="tl">
                    <a:srgbClr val="000000"/>
                  </a:outerShdw>
                </a:effectLst>
                <a:latin typeface="Calibri" pitchFamily="34" charset="0"/>
                <a:ea typeface="ＭＳ Ｐゴシック" charset="-128"/>
                <a:cs typeface="Calibri" pitchFamily="34" charset="0"/>
              </a:rPr>
              <a:t>Süreci oluşturan faaliyetler,</a:t>
            </a:r>
          </a:p>
        </p:txBody>
      </p:sp>
    </p:spTree>
    <p:extLst>
      <p:ext uri="{BB962C8B-B14F-4D97-AF65-F5344CB8AC3E}">
        <p14:creationId xmlns:p14="http://schemas.microsoft.com/office/powerpoint/2010/main" val="332512632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381000" y="3413372"/>
            <a:ext cx="8302625" cy="554640"/>
          </a:xfrm>
          <a:prstGeom prst="rect">
            <a:avLst/>
          </a:prstGeom>
          <a:noFill/>
          <a:ln w="9525">
            <a:noFill/>
            <a:miter lim="800000"/>
            <a:headEnd/>
            <a:tailEnd/>
          </a:ln>
        </p:spPr>
        <p:txBody>
          <a:bodyPr wrap="square" lIns="92075" tIns="46038" rIns="92075" bIns="46038">
            <a:prstTxWarp prst="textNoShape">
              <a:avLst/>
            </a:prstTxWarp>
            <a:spAutoFit/>
          </a:bodyPr>
          <a:lstStyle/>
          <a:p>
            <a:pPr algn="just" eaLnBrk="0" hangingPunct="0">
              <a:lnSpc>
                <a:spcPct val="125000"/>
              </a:lnSpc>
            </a:pPr>
            <a:endParaRPr lang="tr-TR" sz="2400" b="1" dirty="0">
              <a:latin typeface="+mj-lt"/>
            </a:endParaRPr>
          </a:p>
        </p:txBody>
      </p:sp>
      <p:sp>
        <p:nvSpPr>
          <p:cNvPr id="2" name="Title 1"/>
          <p:cNvSpPr>
            <a:spLocks noGrp="1"/>
          </p:cNvSpPr>
          <p:nvPr>
            <p:ph type="title"/>
          </p:nvPr>
        </p:nvSpPr>
        <p:spPr/>
        <p:txBody>
          <a:bodyPr>
            <a:normAutofit/>
          </a:bodyPr>
          <a:lstStyle/>
          <a:p>
            <a:r>
              <a:rPr lang="en-US" b="1" dirty="0" err="1">
                <a:effectLst>
                  <a:outerShdw blurRad="38100" dist="38100" dir="2700000" algn="tl">
                    <a:srgbClr val="000000">
                      <a:alpha val="43137"/>
                    </a:srgbClr>
                  </a:outerShdw>
                </a:effectLst>
                <a:latin typeface="Calibri" pitchFamily="34" charset="0"/>
                <a:cs typeface="Calibri" pitchFamily="34" charset="0"/>
              </a:rPr>
              <a:t>Ölçülebilme</a:t>
            </a:r>
            <a:endParaRPr lang="tr-TR" dirty="0"/>
          </a:p>
        </p:txBody>
      </p:sp>
      <p:sp>
        <p:nvSpPr>
          <p:cNvPr id="5" name="Content Placeholder 4"/>
          <p:cNvSpPr>
            <a:spLocks noGrp="1"/>
          </p:cNvSpPr>
          <p:nvPr>
            <p:ph sz="quarter" idx="1"/>
          </p:nvPr>
        </p:nvSpPr>
        <p:spPr>
          <a:xfrm>
            <a:off x="609600" y="1682012"/>
            <a:ext cx="7223760" cy="4572000"/>
          </a:xfrm>
        </p:spPr>
        <p:txBody>
          <a:bodyPr/>
          <a:lstStyle/>
          <a:p>
            <a:r>
              <a:rPr lang="en-US" dirty="0" err="1">
                <a:effectLst>
                  <a:outerShdw blurRad="38100" dist="38100" dir="2700000" algn="tl">
                    <a:srgbClr val="000000">
                      <a:alpha val="43137"/>
                    </a:srgbClr>
                  </a:outerShdw>
                </a:effectLst>
              </a:rPr>
              <a:t>Hizmet</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Alanın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Memnuniyet</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Ölçümleri</a:t>
            </a:r>
            <a:r>
              <a:rPr lang="tr-TR"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a:t>
            </a:r>
            <a:r>
              <a:rPr lang="en-US" sz="2400" dirty="0" err="1">
                <a:effectLst>
                  <a:outerShdw blurRad="38100" dist="38100" dir="2700000" algn="tl">
                    <a:srgbClr val="000000">
                      <a:alpha val="43137"/>
                    </a:srgbClr>
                  </a:outerShdw>
                </a:effectLst>
              </a:rPr>
              <a:t>Süreç</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performansının</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nasıl</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algılandığını</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gösterir</a:t>
            </a:r>
            <a:r>
              <a:rPr lang="en-US" sz="2400" dirty="0">
                <a:effectLst>
                  <a:outerShdw blurRad="38100" dist="38100" dir="2700000" algn="tl">
                    <a:srgbClr val="000000">
                      <a:alpha val="43137"/>
                    </a:srgbClr>
                  </a:outerShdw>
                </a:effectLst>
              </a:rPr>
              <a:t>)</a:t>
            </a:r>
          </a:p>
          <a:p>
            <a:endParaRPr lang="en-US" dirty="0">
              <a:effectLst>
                <a:outerShdw blurRad="38100" dist="38100" dir="2700000" algn="tl">
                  <a:srgbClr val="000000">
                    <a:alpha val="43137"/>
                  </a:srgbClr>
                </a:outerShdw>
              </a:effectLst>
            </a:endParaRPr>
          </a:p>
          <a:p>
            <a:r>
              <a:rPr lang="en-US" dirty="0" err="1">
                <a:effectLst>
                  <a:outerShdw blurRad="38100" dist="38100" dir="2700000" algn="tl">
                    <a:srgbClr val="000000">
                      <a:alpha val="43137"/>
                    </a:srgbClr>
                  </a:outerShdw>
                </a:effectLst>
              </a:rPr>
              <a:t>Güvenilirlik</a:t>
            </a:r>
            <a:r>
              <a:rPr lang="tr-TR" dirty="0">
                <a:effectLst>
                  <a:outerShdw blurRad="38100" dist="38100" dir="2700000" algn="tl">
                    <a:srgbClr val="000000">
                      <a:alpha val="43137"/>
                    </a:srgbClr>
                  </a:outerShdw>
                </a:effectLst>
              </a:rPr>
              <a:t> (Vaad edilenin yerine getirilme oranı)</a:t>
            </a:r>
            <a:endParaRPr lang="en-US" dirty="0">
              <a:effectLst>
                <a:outerShdw blurRad="38100" dist="38100" dir="2700000" algn="tl">
                  <a:srgbClr val="000000">
                    <a:alpha val="43137"/>
                  </a:srgbClr>
                </a:outerShdw>
              </a:effectLst>
            </a:endParaRPr>
          </a:p>
          <a:p>
            <a:r>
              <a:rPr lang="tr-TR" dirty="0">
                <a:effectLst>
                  <a:outerShdw blurRad="38100" dist="38100" dir="2700000" algn="tl">
                    <a:srgbClr val="000000">
                      <a:alpha val="43137"/>
                    </a:srgbClr>
                  </a:outerShdw>
                </a:effectLst>
              </a:rPr>
              <a:t>Beklentiyi karşılayabilme</a:t>
            </a:r>
            <a:endParaRPr lang="tr-TR" dirty="0"/>
          </a:p>
        </p:txBody>
      </p:sp>
    </p:spTree>
    <p:extLst>
      <p:ext uri="{BB962C8B-B14F-4D97-AF65-F5344CB8AC3E}">
        <p14:creationId xmlns:p14="http://schemas.microsoft.com/office/powerpoint/2010/main" val="24198853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381000" y="3413372"/>
            <a:ext cx="8302625" cy="554640"/>
          </a:xfrm>
          <a:prstGeom prst="rect">
            <a:avLst/>
          </a:prstGeom>
          <a:noFill/>
          <a:ln w="9525">
            <a:noFill/>
            <a:miter lim="800000"/>
            <a:headEnd/>
            <a:tailEnd/>
          </a:ln>
        </p:spPr>
        <p:txBody>
          <a:bodyPr wrap="square" lIns="92075" tIns="46038" rIns="92075" bIns="46038">
            <a:prstTxWarp prst="textNoShape">
              <a:avLst/>
            </a:prstTxWarp>
            <a:spAutoFit/>
          </a:bodyPr>
          <a:lstStyle/>
          <a:p>
            <a:pPr eaLnBrk="0" hangingPunct="0">
              <a:lnSpc>
                <a:spcPct val="125000"/>
              </a:lnSpc>
            </a:pPr>
            <a:endParaRPr lang="tr-TR" sz="2400" b="1" dirty="0">
              <a:latin typeface="+mj-lt"/>
            </a:endParaRPr>
          </a:p>
        </p:txBody>
      </p:sp>
      <p:sp>
        <p:nvSpPr>
          <p:cNvPr id="2" name="Title 1"/>
          <p:cNvSpPr>
            <a:spLocks noGrp="1"/>
          </p:cNvSpPr>
          <p:nvPr>
            <p:ph type="title"/>
          </p:nvPr>
        </p:nvSpPr>
        <p:spPr/>
        <p:txBody>
          <a:bodyPr>
            <a:normAutofit/>
          </a:bodyPr>
          <a:lstStyle/>
          <a:p>
            <a:r>
              <a:rPr lang="en-US" b="1" dirty="0" err="1">
                <a:effectLst>
                  <a:outerShdw blurRad="38100" dist="38100" dir="2700000" algn="tl">
                    <a:srgbClr val="000000">
                      <a:alpha val="43137"/>
                    </a:srgbClr>
                  </a:outerShdw>
                </a:effectLst>
                <a:latin typeface="Calibri" pitchFamily="34" charset="0"/>
                <a:cs typeface="Calibri" pitchFamily="34" charset="0"/>
              </a:rPr>
              <a:t>Ölçülebilme</a:t>
            </a:r>
            <a:endParaRPr lang="tr-TR" dirty="0"/>
          </a:p>
        </p:txBody>
      </p:sp>
      <p:sp>
        <p:nvSpPr>
          <p:cNvPr id="4" name="Content Placeholder 3"/>
          <p:cNvSpPr>
            <a:spLocks noGrp="1"/>
          </p:cNvSpPr>
          <p:nvPr>
            <p:ph sz="quarter" idx="1"/>
          </p:nvPr>
        </p:nvSpPr>
        <p:spPr>
          <a:xfrm>
            <a:off x="924560" y="1544320"/>
            <a:ext cx="7086600" cy="4572000"/>
          </a:xfrm>
        </p:spPr>
        <p:txBody>
          <a:bodyPr>
            <a:normAutofit/>
          </a:bodyPr>
          <a:lstStyle/>
          <a:p>
            <a:r>
              <a:rPr lang="tr-TR" dirty="0">
                <a:effectLst>
                  <a:outerShdw blurRad="38100" dist="38100" dir="2700000" algn="tl">
                    <a:srgbClr val="000000">
                      <a:alpha val="43137"/>
                    </a:srgbClr>
                  </a:outerShdw>
                </a:effectLst>
                <a:latin typeface="Calibri" pitchFamily="34" charset="0"/>
                <a:cs typeface="Calibri" pitchFamily="34" charset="0"/>
              </a:rPr>
              <a:t>İ</a:t>
            </a:r>
            <a:r>
              <a:rPr lang="en-US" dirty="0">
                <a:effectLst>
                  <a:outerShdw blurRad="38100" dist="38100" dir="2700000" algn="tl">
                    <a:srgbClr val="000000">
                      <a:alpha val="43137"/>
                    </a:srgbClr>
                  </a:outerShdw>
                </a:effectLst>
                <a:latin typeface="Calibri" pitchFamily="34" charset="0"/>
                <a:cs typeface="Calibri" pitchFamily="34" charset="0"/>
              </a:rPr>
              <a:t>ç </a:t>
            </a:r>
            <a:r>
              <a:rPr lang="en-US" dirty="0" err="1">
                <a:effectLst>
                  <a:outerShdw blurRad="38100" dist="38100" dir="2700000" algn="tl">
                    <a:srgbClr val="000000">
                      <a:alpha val="43137"/>
                    </a:srgbClr>
                  </a:outerShdw>
                </a:effectLst>
                <a:latin typeface="Calibri" pitchFamily="34" charset="0"/>
                <a:cs typeface="Calibri" pitchFamily="34" charset="0"/>
              </a:rPr>
              <a:t>Ölçümler</a:t>
            </a:r>
            <a:r>
              <a:rPr lang="tr-TR" dirty="0">
                <a:effectLst>
                  <a:outerShdw blurRad="38100" dist="38100" dir="2700000" algn="tl">
                    <a:srgbClr val="000000">
                      <a:alpha val="43137"/>
                    </a:srgbClr>
                  </a:outerShdw>
                </a:effectLst>
                <a:latin typeface="Calibri" pitchFamily="34" charset="0"/>
                <a:cs typeface="Calibri" pitchFamily="34" charset="0"/>
              </a:rPr>
              <a:t> </a:t>
            </a:r>
            <a:r>
              <a:rPr lang="en-US" sz="2000" dirty="0">
                <a:effectLst>
                  <a:outerShdw blurRad="38100" dist="38100" dir="2700000" algn="tl">
                    <a:srgbClr val="000000">
                      <a:alpha val="43137"/>
                    </a:srgbClr>
                  </a:outerShdw>
                </a:effectLst>
                <a:latin typeface="Calibri" pitchFamily="34" charset="0"/>
                <a:cs typeface="Calibri" pitchFamily="34" charset="0"/>
              </a:rPr>
              <a:t>(</a:t>
            </a:r>
            <a:r>
              <a:rPr lang="en-US" sz="2000" dirty="0" err="1">
                <a:effectLst>
                  <a:outerShdw blurRad="38100" dist="38100" dir="2700000" algn="tl">
                    <a:srgbClr val="000000">
                      <a:alpha val="43137"/>
                    </a:srgbClr>
                  </a:outerShdw>
                </a:effectLst>
                <a:latin typeface="Calibri" pitchFamily="34" charset="0"/>
                <a:cs typeface="Calibri" pitchFamily="34" charset="0"/>
              </a:rPr>
              <a:t>Sürecin</a:t>
            </a:r>
            <a:r>
              <a:rPr lang="en-US" sz="2000" dirty="0">
                <a:effectLst>
                  <a:outerShdw blurRad="38100" dist="38100" dir="2700000" algn="tl">
                    <a:srgbClr val="000000">
                      <a:alpha val="43137"/>
                    </a:srgbClr>
                  </a:outerShdw>
                </a:effectLst>
                <a:latin typeface="Calibri" pitchFamily="34" charset="0"/>
                <a:cs typeface="Calibri" pitchFamily="34" charset="0"/>
              </a:rPr>
              <a:t> </a:t>
            </a:r>
            <a:r>
              <a:rPr lang="en-US" sz="2000" dirty="0" err="1">
                <a:effectLst>
                  <a:outerShdw blurRad="38100" dist="38100" dir="2700000" algn="tl">
                    <a:srgbClr val="000000">
                      <a:alpha val="43137"/>
                    </a:srgbClr>
                  </a:outerShdw>
                </a:effectLst>
                <a:latin typeface="Calibri" pitchFamily="34" charset="0"/>
                <a:cs typeface="Calibri" pitchFamily="34" charset="0"/>
              </a:rPr>
              <a:t>kendi</a:t>
            </a:r>
            <a:r>
              <a:rPr lang="en-US" sz="2000" dirty="0">
                <a:effectLst>
                  <a:outerShdw blurRad="38100" dist="38100" dir="2700000" algn="tl">
                    <a:srgbClr val="000000">
                      <a:alpha val="43137"/>
                    </a:srgbClr>
                  </a:outerShdw>
                </a:effectLst>
                <a:latin typeface="Calibri" pitchFamily="34" charset="0"/>
                <a:cs typeface="Calibri" pitchFamily="34" charset="0"/>
              </a:rPr>
              <a:t> </a:t>
            </a:r>
            <a:r>
              <a:rPr lang="en-US" sz="2000" dirty="0" err="1">
                <a:effectLst>
                  <a:outerShdw blurRad="38100" dist="38100" dir="2700000" algn="tl">
                    <a:srgbClr val="000000">
                      <a:alpha val="43137"/>
                    </a:srgbClr>
                  </a:outerShdw>
                </a:effectLst>
                <a:latin typeface="Calibri" pitchFamily="34" charset="0"/>
                <a:cs typeface="Calibri" pitchFamily="34" charset="0"/>
              </a:rPr>
              <a:t>performansını</a:t>
            </a:r>
            <a:r>
              <a:rPr lang="en-US" sz="2000" dirty="0">
                <a:effectLst>
                  <a:outerShdw blurRad="38100" dist="38100" dir="2700000" algn="tl">
                    <a:srgbClr val="000000">
                      <a:alpha val="43137"/>
                    </a:srgbClr>
                  </a:outerShdw>
                </a:effectLst>
                <a:latin typeface="Calibri" pitchFamily="34" charset="0"/>
                <a:cs typeface="Calibri" pitchFamily="34" charset="0"/>
              </a:rPr>
              <a:t> </a:t>
            </a:r>
            <a:r>
              <a:rPr lang="en-US" sz="2000" dirty="0" err="1">
                <a:effectLst>
                  <a:outerShdw blurRad="38100" dist="38100" dir="2700000" algn="tl">
                    <a:srgbClr val="000000">
                      <a:alpha val="43137"/>
                    </a:srgbClr>
                  </a:outerShdw>
                </a:effectLst>
                <a:latin typeface="Calibri" pitchFamily="34" charset="0"/>
                <a:cs typeface="Calibri" pitchFamily="34" charset="0"/>
              </a:rPr>
              <a:t>gösterir</a:t>
            </a:r>
            <a:r>
              <a:rPr lang="en-US" sz="2000" dirty="0">
                <a:effectLst>
                  <a:outerShdw blurRad="38100" dist="38100" dir="2700000" algn="tl">
                    <a:srgbClr val="000000">
                      <a:alpha val="43137"/>
                    </a:srgbClr>
                  </a:outerShdw>
                </a:effectLst>
                <a:latin typeface="Calibri" pitchFamily="34" charset="0"/>
                <a:cs typeface="Calibri" pitchFamily="34" charset="0"/>
              </a:rPr>
              <a:t>)</a:t>
            </a:r>
            <a:endParaRPr lang="en-US" dirty="0">
              <a:effectLst>
                <a:outerShdw blurRad="38100" dist="38100" dir="2700000" algn="tl">
                  <a:srgbClr val="000000">
                    <a:alpha val="43137"/>
                  </a:srgbClr>
                </a:outerShdw>
              </a:effectLst>
              <a:latin typeface="Calibri" pitchFamily="34" charset="0"/>
              <a:cs typeface="Calibri" pitchFamily="34" charset="0"/>
            </a:endParaRPr>
          </a:p>
          <a:p>
            <a:endParaRPr lang="en-US" dirty="0">
              <a:effectLst>
                <a:outerShdw blurRad="38100" dist="38100" dir="2700000" algn="tl">
                  <a:srgbClr val="000000">
                    <a:alpha val="43137"/>
                  </a:srgbClr>
                </a:outerShdw>
              </a:effectLst>
              <a:latin typeface="Calibri" pitchFamily="34" charset="0"/>
              <a:cs typeface="Calibri" pitchFamily="34" charset="0"/>
            </a:endParaRPr>
          </a:p>
          <a:p>
            <a:r>
              <a:rPr lang="tr-TR" dirty="0">
                <a:effectLst>
                  <a:outerShdw blurRad="38100" dist="38100" dir="2700000" algn="tl">
                    <a:srgbClr val="000000">
                      <a:alpha val="43137"/>
                    </a:srgbClr>
                  </a:outerShdw>
                </a:effectLst>
                <a:latin typeface="Calibri" pitchFamily="34" charset="0"/>
                <a:cs typeface="Calibri" pitchFamily="34" charset="0"/>
              </a:rPr>
              <a:t>Girdiye ilk cevap süresi</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İşlem</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süresi</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Çevrim</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süresi</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Maliyetler</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Verimlilik</a:t>
            </a:r>
            <a:endParaRPr lang="en-US" dirty="0">
              <a:effectLst>
                <a:outerShdw blurRad="38100" dist="38100" dir="2700000" algn="tl">
                  <a:srgbClr val="000000">
                    <a:alpha val="43137"/>
                  </a:srgbClr>
                </a:outerShdw>
              </a:effectLst>
              <a:latin typeface="Calibri" pitchFamily="34" charset="0"/>
              <a:cs typeface="Calibri" pitchFamily="34" charset="0"/>
            </a:endParaRPr>
          </a:p>
          <a:p>
            <a:pPr>
              <a:buFontTx/>
              <a:buNone/>
            </a:pPr>
            <a:endParaRPr lang="en-US" dirty="0">
              <a:effectLst>
                <a:outerShdw blurRad="38100" dist="38100" dir="2700000" algn="tl">
                  <a:srgbClr val="000000">
                    <a:alpha val="43137"/>
                  </a:srgbClr>
                </a:outerShdw>
              </a:effectLst>
              <a:latin typeface="Calibri" pitchFamily="34" charset="0"/>
              <a:cs typeface="Calibri" pitchFamily="34" charset="0"/>
            </a:endParaRPr>
          </a:p>
          <a:p>
            <a:endParaRPr lang="tr-TR" dirty="0"/>
          </a:p>
        </p:txBody>
      </p:sp>
    </p:spTree>
    <p:extLst>
      <p:ext uri="{BB962C8B-B14F-4D97-AF65-F5344CB8AC3E}">
        <p14:creationId xmlns:p14="http://schemas.microsoft.com/office/powerpoint/2010/main" val="2395955118"/>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effectLst>
                  <a:outerShdw blurRad="38100" dist="38100" dir="2700000" algn="tl">
                    <a:srgbClr val="000000">
                      <a:alpha val="43137"/>
                    </a:srgbClr>
                  </a:outerShdw>
                </a:effectLst>
                <a:latin typeface="Calibri" pitchFamily="34" charset="0"/>
                <a:cs typeface="Calibri" pitchFamily="34" charset="0"/>
              </a:rPr>
              <a:t>Ölçülebilme</a:t>
            </a:r>
            <a:endParaRPr lang="tr-TR" dirty="0"/>
          </a:p>
        </p:txBody>
      </p:sp>
      <p:sp>
        <p:nvSpPr>
          <p:cNvPr id="3" name="Content Placeholder 2"/>
          <p:cNvSpPr>
            <a:spLocks noGrp="1"/>
          </p:cNvSpPr>
          <p:nvPr>
            <p:ph sz="quarter" idx="1"/>
          </p:nvPr>
        </p:nvSpPr>
        <p:spPr>
          <a:xfrm>
            <a:off x="731520" y="1544321"/>
            <a:ext cx="8031480" cy="5026257"/>
          </a:xfrm>
        </p:spPr>
        <p:txBody>
          <a:bodyPr>
            <a:normAutofit/>
          </a:bodyPr>
          <a:lstStyle/>
          <a:p>
            <a:r>
              <a:rPr lang="en-US" dirty="0" err="1">
                <a:effectLst>
                  <a:outerShdw blurRad="38100" dist="38100" dir="2700000" algn="tl">
                    <a:srgbClr val="000000">
                      <a:alpha val="43137"/>
                    </a:srgbClr>
                  </a:outerShdw>
                </a:effectLst>
                <a:latin typeface="Calibri" pitchFamily="34" charset="0"/>
                <a:cs typeface="Calibri" pitchFamily="34" charset="0"/>
              </a:rPr>
              <a:t>Çıktı</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Ölçümleri</a:t>
            </a:r>
            <a:r>
              <a:rPr lang="tr-TR" dirty="0">
                <a:effectLst>
                  <a:outerShdw blurRad="38100" dist="38100" dir="2700000" algn="tl">
                    <a:srgbClr val="000000">
                      <a:alpha val="43137"/>
                    </a:srgbClr>
                  </a:outerShdw>
                </a:effectLst>
                <a:latin typeface="Calibri" pitchFamily="34" charset="0"/>
                <a:cs typeface="Calibri" pitchFamily="34" charset="0"/>
              </a:rPr>
              <a:t> </a:t>
            </a:r>
            <a:r>
              <a:rPr lang="en-US" dirty="0">
                <a:effectLst>
                  <a:outerShdw blurRad="38100" dist="38100" dir="2700000" algn="tl">
                    <a:srgbClr val="000000">
                      <a:alpha val="43137"/>
                    </a:srgbClr>
                  </a:outerShdw>
                </a:effectLst>
                <a:latin typeface="Calibri" pitchFamily="34" charset="0"/>
                <a:cs typeface="Calibri" pitchFamily="34" charset="0"/>
              </a:rPr>
              <a:t>(</a:t>
            </a:r>
            <a:r>
              <a:rPr lang="en-US" dirty="0" err="1">
                <a:effectLst>
                  <a:outerShdw blurRad="38100" dist="38100" dir="2700000" algn="tl">
                    <a:srgbClr val="000000">
                      <a:alpha val="43137"/>
                    </a:srgbClr>
                  </a:outerShdw>
                </a:effectLst>
                <a:latin typeface="Calibri" pitchFamily="34" charset="0"/>
                <a:cs typeface="Calibri" pitchFamily="34" charset="0"/>
              </a:rPr>
              <a:t>Süreç</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çıktısının</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performansını</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gösterir</a:t>
            </a:r>
            <a:r>
              <a:rPr lang="en-US" dirty="0">
                <a:effectLst>
                  <a:outerShdw blurRad="38100" dist="38100" dir="2700000" algn="tl">
                    <a:srgbClr val="000000">
                      <a:alpha val="43137"/>
                    </a:srgbClr>
                  </a:outerShdw>
                </a:effectLst>
                <a:latin typeface="Calibri" pitchFamily="34" charset="0"/>
                <a:cs typeface="Calibri" pitchFamily="34" charset="0"/>
              </a:rPr>
              <a:t>)</a:t>
            </a:r>
          </a:p>
          <a:p>
            <a:endParaRPr lang="tr-TR"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Miktar</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Zamanlama</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Hata</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Oranları</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Tanımlara</a:t>
            </a:r>
            <a:r>
              <a:rPr lang="en-US" dirty="0">
                <a:effectLst>
                  <a:outerShdw blurRad="38100" dist="38100" dir="2700000" algn="tl">
                    <a:srgbClr val="000000">
                      <a:alpha val="43137"/>
                    </a:srgbClr>
                  </a:outerShdw>
                </a:effectLst>
                <a:latin typeface="Calibri" pitchFamily="34" charset="0"/>
                <a:cs typeface="Calibri" pitchFamily="34" charset="0"/>
              </a:rPr>
              <a:t> </a:t>
            </a:r>
            <a:r>
              <a:rPr lang="en-US" dirty="0" err="1">
                <a:effectLst>
                  <a:outerShdw blurRad="38100" dist="38100" dir="2700000" algn="tl">
                    <a:srgbClr val="000000">
                      <a:alpha val="43137"/>
                    </a:srgbClr>
                  </a:outerShdw>
                </a:effectLst>
                <a:latin typeface="Calibri" pitchFamily="34" charset="0"/>
                <a:cs typeface="Calibri" pitchFamily="34" charset="0"/>
              </a:rPr>
              <a:t>Uygunluk</a:t>
            </a:r>
            <a:endParaRPr lang="en-US" dirty="0">
              <a:effectLst>
                <a:outerShdw blurRad="38100" dist="38100" dir="2700000" algn="tl">
                  <a:srgbClr val="000000">
                    <a:alpha val="43137"/>
                  </a:srgbClr>
                </a:outerShdw>
              </a:effectLst>
              <a:latin typeface="Calibri" pitchFamily="34" charset="0"/>
              <a:cs typeface="Calibri" pitchFamily="34" charset="0"/>
            </a:endParaRPr>
          </a:p>
          <a:p>
            <a:r>
              <a:rPr lang="en-US" dirty="0" err="1">
                <a:effectLst>
                  <a:outerShdw blurRad="38100" dist="38100" dir="2700000" algn="tl">
                    <a:srgbClr val="000000">
                      <a:alpha val="43137"/>
                    </a:srgbClr>
                  </a:outerShdw>
                </a:effectLst>
                <a:latin typeface="Calibri" pitchFamily="34" charset="0"/>
                <a:cs typeface="Calibri" pitchFamily="34" charset="0"/>
              </a:rPr>
              <a:t>Doğrulu</a:t>
            </a:r>
            <a:r>
              <a:rPr lang="tr-TR" dirty="0">
                <a:effectLst>
                  <a:outerShdw blurRad="38100" dist="38100" dir="2700000" algn="tl">
                    <a:srgbClr val="000000">
                      <a:alpha val="43137"/>
                    </a:srgbClr>
                  </a:outerShdw>
                </a:effectLst>
                <a:latin typeface="Calibri" pitchFamily="34" charset="0"/>
                <a:cs typeface="Calibri" pitchFamily="34" charset="0"/>
              </a:rPr>
              <a:t>k</a:t>
            </a:r>
            <a:endParaRPr lang="tr-TR" dirty="0"/>
          </a:p>
        </p:txBody>
      </p:sp>
    </p:spTree>
    <p:extLst>
      <p:ext uri="{BB962C8B-B14F-4D97-AF65-F5344CB8AC3E}">
        <p14:creationId xmlns:p14="http://schemas.microsoft.com/office/powerpoint/2010/main" val="2769294557"/>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lstStyle/>
          <a:p>
            <a:r>
              <a:rPr lang="tr-TR" dirty="0"/>
              <a:t>BÖLÜM 4</a:t>
            </a:r>
          </a:p>
        </p:txBody>
      </p:sp>
      <p:sp>
        <p:nvSpPr>
          <p:cNvPr id="3" name="2 Alt Başlık"/>
          <p:cNvSpPr>
            <a:spLocks noGrp="1"/>
          </p:cNvSpPr>
          <p:nvPr>
            <p:ph type="subTitle" idx="1"/>
          </p:nvPr>
        </p:nvSpPr>
        <p:spPr/>
        <p:txBody>
          <a:bodyPr>
            <a:noAutofit/>
          </a:bodyPr>
          <a:lstStyle/>
          <a:p>
            <a:r>
              <a:rPr lang="tr-TR" sz="3600" dirty="0"/>
              <a:t>SÜREÇLERİN DÖKÜMANTASYONU</a:t>
            </a:r>
          </a:p>
        </p:txBody>
      </p:sp>
    </p:spTree>
    <p:extLst>
      <p:ext uri="{BB962C8B-B14F-4D97-AF65-F5344CB8AC3E}">
        <p14:creationId xmlns:p14="http://schemas.microsoft.com/office/powerpoint/2010/main" val="30890328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99720"/>
            <a:ext cx="8153400" cy="990600"/>
          </a:xfrm>
        </p:spPr>
        <p:txBody>
          <a:bodyPr>
            <a:normAutofit/>
          </a:bodyPr>
          <a:lstStyle/>
          <a:p>
            <a:r>
              <a:rPr lang="en-US" b="1" dirty="0">
                <a:effectLst>
                  <a:outerShdw blurRad="38100" dist="38100" dir="2700000" algn="tl">
                    <a:srgbClr val="000000">
                      <a:alpha val="43137"/>
                    </a:srgbClr>
                  </a:outerShdw>
                </a:effectLst>
                <a:latin typeface="Calibri" pitchFamily="34" charset="0"/>
                <a:cs typeface="Calibri" pitchFamily="34" charset="0"/>
              </a:rPr>
              <a:t>SÜREÇLERİN DÖKÜMANTASYONU</a:t>
            </a:r>
            <a:endParaRPr lang="tr-TR" dirty="0"/>
          </a:p>
        </p:txBody>
      </p:sp>
      <p:sp>
        <p:nvSpPr>
          <p:cNvPr id="3" name="Content Placeholder 2"/>
          <p:cNvSpPr>
            <a:spLocks noGrp="1"/>
          </p:cNvSpPr>
          <p:nvPr>
            <p:ph sz="quarter" idx="1"/>
          </p:nvPr>
        </p:nvSpPr>
        <p:spPr/>
        <p:txBody>
          <a:bodyPr>
            <a:normAutofit/>
          </a:bodyPr>
          <a:lstStyle/>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Grafiksel</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sunumlar</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Akış</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Diyagramları</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Yazılı</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Talimatlar</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Görsel</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Medya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Araçları</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Kontrol</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Listeleri</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Elektronik</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Yöntemler</a:t>
            </a:r>
            <a:endParaRPr lang="en-US" sz="2400" b="1" dirty="0">
              <a:effectLst>
                <a:outerShdw blurRad="38100" dist="38100" dir="2700000" algn="tl">
                  <a:srgbClr val="000000">
                    <a:alpha val="43137"/>
                  </a:srgbClr>
                </a:outerShdw>
              </a:effectLst>
              <a:latin typeface="Calibri" pitchFamily="34" charset="0"/>
              <a:cs typeface="Calibri" pitchFamily="34" charset="0"/>
            </a:endParaRPr>
          </a:p>
        </p:txBody>
      </p:sp>
    </p:spTree>
    <p:extLst>
      <p:ext uri="{BB962C8B-B14F-4D97-AF65-F5344CB8AC3E}">
        <p14:creationId xmlns:p14="http://schemas.microsoft.com/office/powerpoint/2010/main" val="3195034849"/>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70000" lnSpcReduction="20000"/>
          </a:bodyPr>
          <a:lstStyle/>
          <a:p>
            <a:pPr>
              <a:buNone/>
            </a:pPr>
            <a:r>
              <a:rPr lang="tr-TR" dirty="0"/>
              <a:t>		Her kuruluş müşterisine uygulanabilir yasal ve mevzuat şartlarına, faaliyetlerinin yapısına ve genel kuruluş stratejisine göre hangi süreçlerin </a:t>
            </a:r>
            <a:r>
              <a:rPr lang="tr-TR" dirty="0" err="1"/>
              <a:t>dökümante</a:t>
            </a:r>
            <a:r>
              <a:rPr lang="tr-TR" dirty="0"/>
              <a:t> edileceğine karar vermelidir. </a:t>
            </a:r>
          </a:p>
          <a:p>
            <a:pPr>
              <a:buNone/>
            </a:pPr>
            <a:r>
              <a:rPr lang="tr-TR" dirty="0" err="1"/>
              <a:t>Dökümantasyonun</a:t>
            </a:r>
            <a:r>
              <a:rPr lang="tr-TR" dirty="0"/>
              <a:t> oluşturulması, kullanımı ve kontrolü kuruluşun etkin ve verimli çalışması için değerlendirilmelidir. Bu karar sırasında dikkate alınabilecek faktörlere örnekler;</a:t>
            </a:r>
          </a:p>
          <a:p>
            <a:pPr>
              <a:buNone/>
            </a:pPr>
            <a:endParaRPr lang="tr-TR" dirty="0"/>
          </a:p>
          <a:p>
            <a:r>
              <a:rPr lang="tr-TR" dirty="0"/>
              <a:t>Kalite üzerindeki etkisi</a:t>
            </a:r>
          </a:p>
          <a:p>
            <a:r>
              <a:rPr lang="tr-TR" dirty="0"/>
              <a:t>Müşteri tatminsizliği riski</a:t>
            </a:r>
          </a:p>
          <a:p>
            <a:r>
              <a:rPr lang="tr-TR" dirty="0"/>
              <a:t>Yasal ve/veya mevzuat şartları</a:t>
            </a:r>
          </a:p>
          <a:p>
            <a:r>
              <a:rPr lang="tr-TR" dirty="0"/>
              <a:t>Ekonomik risk</a:t>
            </a:r>
          </a:p>
          <a:p>
            <a:r>
              <a:rPr lang="tr-TR" dirty="0"/>
              <a:t>Etkinlik ve verim</a:t>
            </a:r>
          </a:p>
          <a:p>
            <a:r>
              <a:rPr lang="tr-TR" dirty="0"/>
              <a:t>Personel yetkinliği</a:t>
            </a:r>
          </a:p>
          <a:p>
            <a:r>
              <a:rPr lang="tr-TR" dirty="0"/>
              <a:t>Süreçlerin karmaşıklığı</a:t>
            </a:r>
          </a:p>
        </p:txBody>
      </p:sp>
      <p:sp>
        <p:nvSpPr>
          <p:cNvPr id="2" name="1 Başlık"/>
          <p:cNvSpPr>
            <a:spLocks noGrp="1"/>
          </p:cNvSpPr>
          <p:nvPr>
            <p:ph type="title"/>
          </p:nvPr>
        </p:nvSpPr>
        <p:spPr/>
        <p:txBody>
          <a:bodyPr>
            <a:normAutofit/>
          </a:bodyPr>
          <a:lstStyle/>
          <a:p>
            <a:r>
              <a:rPr lang="tr-TR" dirty="0"/>
              <a:t>SÜREÇLERİN DÖKÜMANTASYONU</a:t>
            </a:r>
          </a:p>
        </p:txBody>
      </p:sp>
      <p:sp>
        <p:nvSpPr>
          <p:cNvPr id="4" name="3 Dikdörtgen"/>
          <p:cNvSpPr/>
          <p:nvPr/>
        </p:nvSpPr>
        <p:spPr>
          <a:xfrm>
            <a:off x="4932040" y="3861048"/>
            <a:ext cx="3744416" cy="2592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ISO 9001-2008</a:t>
            </a:r>
          </a:p>
          <a:p>
            <a:pPr algn="ctr"/>
            <a:r>
              <a:rPr lang="tr-TR" u="sng" dirty="0"/>
              <a:t>4.2.2. Kalite El Kitabı</a:t>
            </a:r>
          </a:p>
          <a:p>
            <a:pPr algn="ctr"/>
            <a:r>
              <a:rPr lang="tr-TR" dirty="0"/>
              <a:t>c) Kalite Yönetim Sistemi Süreçlerinin birbirlerine olan etkilerinin tarif edilmesini içermektedir</a:t>
            </a:r>
          </a:p>
        </p:txBody>
      </p:sp>
    </p:spTree>
    <p:extLst>
      <p:ext uri="{BB962C8B-B14F-4D97-AF65-F5344CB8AC3E}">
        <p14:creationId xmlns:p14="http://schemas.microsoft.com/office/powerpoint/2010/main" val="3353121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85000" lnSpcReduction="20000"/>
          </a:bodyPr>
          <a:lstStyle/>
          <a:p>
            <a:pPr>
              <a:buNone/>
            </a:pPr>
            <a:r>
              <a:rPr lang="tr-TR" dirty="0" err="1"/>
              <a:t>Dökümantasyonun</a:t>
            </a:r>
            <a:r>
              <a:rPr lang="tr-TR" dirty="0"/>
              <a:t> yapısı ve miktarı şunlara bağlıdır:</a:t>
            </a:r>
          </a:p>
          <a:p>
            <a:r>
              <a:rPr lang="tr-TR" dirty="0"/>
              <a:t>Sözleşme ve mevzuat şartları ile yasal şartlar</a:t>
            </a:r>
          </a:p>
          <a:p>
            <a:r>
              <a:rPr lang="tr-TR" dirty="0"/>
              <a:t>Müşterilerin beklentileri ve ihtiyaçları</a:t>
            </a:r>
          </a:p>
          <a:p>
            <a:r>
              <a:rPr lang="tr-TR" dirty="0"/>
              <a:t>İlgili tarafların beklentileri ve ihtiyaçları</a:t>
            </a:r>
          </a:p>
          <a:p>
            <a:pPr>
              <a:buNone/>
            </a:pPr>
            <a:r>
              <a:rPr lang="tr-TR" dirty="0"/>
              <a:t>Süreçleri </a:t>
            </a:r>
            <a:r>
              <a:rPr lang="tr-TR" dirty="0" err="1"/>
              <a:t>dökümante</a:t>
            </a:r>
            <a:r>
              <a:rPr lang="tr-TR" dirty="0"/>
              <a:t> etmek için değişik yöntemler</a:t>
            </a:r>
          </a:p>
          <a:p>
            <a:r>
              <a:rPr lang="tr-TR" dirty="0"/>
              <a:t>Grafiksel sunumlar</a:t>
            </a:r>
          </a:p>
          <a:p>
            <a:r>
              <a:rPr lang="tr-TR" dirty="0"/>
              <a:t>Yazılı talimatlar</a:t>
            </a:r>
          </a:p>
          <a:p>
            <a:r>
              <a:rPr lang="tr-TR" dirty="0"/>
              <a:t>Kontrol listeleri</a:t>
            </a:r>
          </a:p>
          <a:p>
            <a:r>
              <a:rPr lang="tr-TR" dirty="0"/>
              <a:t>Akış diyagramları</a:t>
            </a:r>
          </a:p>
          <a:p>
            <a:r>
              <a:rPr lang="tr-TR" dirty="0"/>
              <a:t>Görsel medya</a:t>
            </a:r>
          </a:p>
          <a:p>
            <a:r>
              <a:rPr lang="tr-TR" dirty="0"/>
              <a:t>Elektronik yöntemler</a:t>
            </a:r>
          </a:p>
        </p:txBody>
      </p:sp>
      <p:sp>
        <p:nvSpPr>
          <p:cNvPr id="4" name="1 Başlık"/>
          <p:cNvSpPr>
            <a:spLocks noGrp="1"/>
          </p:cNvSpPr>
          <p:nvPr>
            <p:ph type="title"/>
          </p:nvPr>
        </p:nvSpPr>
        <p:spPr/>
        <p:txBody>
          <a:bodyPr>
            <a:normAutofit/>
          </a:bodyPr>
          <a:lstStyle/>
          <a:p>
            <a:r>
              <a:rPr lang="tr-TR" dirty="0"/>
              <a:t>SÜREÇLERİN DÖKÜMANTASYONU</a:t>
            </a:r>
          </a:p>
        </p:txBody>
      </p:sp>
    </p:spTree>
    <p:extLst>
      <p:ext uri="{BB962C8B-B14F-4D97-AF65-F5344CB8AC3E}">
        <p14:creationId xmlns:p14="http://schemas.microsoft.com/office/powerpoint/2010/main" val="1378111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SÜREÇ AKIŞ ŞEMALARI</a:t>
            </a:r>
          </a:p>
        </p:txBody>
      </p:sp>
      <p:sp>
        <p:nvSpPr>
          <p:cNvPr id="4" name="3 Dikdörtgen"/>
          <p:cNvSpPr/>
          <p:nvPr/>
        </p:nvSpPr>
        <p:spPr>
          <a:xfrm>
            <a:off x="1691680" y="1412776"/>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4 Dikdörtgen"/>
          <p:cNvSpPr/>
          <p:nvPr/>
        </p:nvSpPr>
        <p:spPr>
          <a:xfrm>
            <a:off x="1691680" y="2060848"/>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5 Dikdörtgen"/>
          <p:cNvSpPr/>
          <p:nvPr/>
        </p:nvSpPr>
        <p:spPr>
          <a:xfrm>
            <a:off x="3131840" y="1412776"/>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6 Dikdörtgen"/>
          <p:cNvSpPr/>
          <p:nvPr/>
        </p:nvSpPr>
        <p:spPr>
          <a:xfrm>
            <a:off x="4499992" y="1412776"/>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7 Dikdörtgen"/>
          <p:cNvSpPr/>
          <p:nvPr/>
        </p:nvSpPr>
        <p:spPr>
          <a:xfrm>
            <a:off x="5796136" y="1412776"/>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8 Dikdörtgen"/>
          <p:cNvSpPr/>
          <p:nvPr/>
        </p:nvSpPr>
        <p:spPr>
          <a:xfrm>
            <a:off x="3131840" y="1916832"/>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9 Dikdörtgen"/>
          <p:cNvSpPr/>
          <p:nvPr/>
        </p:nvSpPr>
        <p:spPr>
          <a:xfrm>
            <a:off x="3131840" y="2420888"/>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10 Dikdörtgen"/>
          <p:cNvSpPr/>
          <p:nvPr/>
        </p:nvSpPr>
        <p:spPr>
          <a:xfrm>
            <a:off x="3131840" y="2924944"/>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11 Dikdörtgen"/>
          <p:cNvSpPr/>
          <p:nvPr/>
        </p:nvSpPr>
        <p:spPr>
          <a:xfrm>
            <a:off x="3131840" y="3429000"/>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12 Dikdörtgen"/>
          <p:cNvSpPr/>
          <p:nvPr/>
        </p:nvSpPr>
        <p:spPr>
          <a:xfrm>
            <a:off x="3131840" y="5877272"/>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13 Dikdörtgen"/>
          <p:cNvSpPr/>
          <p:nvPr/>
        </p:nvSpPr>
        <p:spPr>
          <a:xfrm>
            <a:off x="3131840" y="5301208"/>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14 Dikdörtgen"/>
          <p:cNvSpPr/>
          <p:nvPr/>
        </p:nvSpPr>
        <p:spPr>
          <a:xfrm>
            <a:off x="3131840" y="4725144"/>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15 Dikdörtgen"/>
          <p:cNvSpPr/>
          <p:nvPr/>
        </p:nvSpPr>
        <p:spPr>
          <a:xfrm>
            <a:off x="5796136" y="4005064"/>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16 Dikdörtgen"/>
          <p:cNvSpPr/>
          <p:nvPr/>
        </p:nvSpPr>
        <p:spPr>
          <a:xfrm>
            <a:off x="5796136" y="3356992"/>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17 Dikdörtgen"/>
          <p:cNvSpPr/>
          <p:nvPr/>
        </p:nvSpPr>
        <p:spPr>
          <a:xfrm>
            <a:off x="5796136" y="1988840"/>
            <a:ext cx="936104"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18 İkizkenar Üçgen"/>
          <p:cNvSpPr/>
          <p:nvPr/>
        </p:nvSpPr>
        <p:spPr>
          <a:xfrm rot="10800000">
            <a:off x="6084200" y="4581128"/>
            <a:ext cx="288000" cy="180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19 İkizkenar Üçgen"/>
          <p:cNvSpPr/>
          <p:nvPr/>
        </p:nvSpPr>
        <p:spPr>
          <a:xfrm rot="10800000">
            <a:off x="7200392" y="3321008"/>
            <a:ext cx="288000" cy="180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20 İkizkenar Üçgen"/>
          <p:cNvSpPr/>
          <p:nvPr/>
        </p:nvSpPr>
        <p:spPr>
          <a:xfrm rot="10800000">
            <a:off x="1979712" y="3429000"/>
            <a:ext cx="288000" cy="180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21 İkizkenar Üçgen"/>
          <p:cNvSpPr/>
          <p:nvPr/>
        </p:nvSpPr>
        <p:spPr>
          <a:xfrm rot="10800000">
            <a:off x="827584" y="3501008"/>
            <a:ext cx="288000" cy="180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22 Aşağı Ok"/>
          <p:cNvSpPr/>
          <p:nvPr/>
        </p:nvSpPr>
        <p:spPr>
          <a:xfrm flipH="1">
            <a:off x="3347864" y="6425952"/>
            <a:ext cx="432047" cy="3874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23 Elmas"/>
          <p:cNvSpPr/>
          <p:nvPr/>
        </p:nvSpPr>
        <p:spPr>
          <a:xfrm>
            <a:off x="3167944" y="4005064"/>
            <a:ext cx="900000" cy="4320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25 Elmas"/>
          <p:cNvSpPr/>
          <p:nvPr/>
        </p:nvSpPr>
        <p:spPr>
          <a:xfrm>
            <a:off x="5796136" y="2636912"/>
            <a:ext cx="900000" cy="4320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26 Elmas"/>
          <p:cNvSpPr/>
          <p:nvPr/>
        </p:nvSpPr>
        <p:spPr>
          <a:xfrm>
            <a:off x="1655776" y="2708920"/>
            <a:ext cx="900000" cy="4320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9" name="28 Düz Ok Bağlayıcısı"/>
          <p:cNvCxnSpPr/>
          <p:nvPr/>
        </p:nvCxnSpPr>
        <p:spPr>
          <a:xfrm rot="5400000">
            <a:off x="2052514" y="1916038"/>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30 Düz Ok Bağlayıcısı"/>
          <p:cNvCxnSpPr/>
          <p:nvPr/>
        </p:nvCxnSpPr>
        <p:spPr>
          <a:xfrm rot="5400000">
            <a:off x="1980506" y="2564110"/>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31 Düz Ok Bağlayıcısı"/>
          <p:cNvCxnSpPr/>
          <p:nvPr/>
        </p:nvCxnSpPr>
        <p:spPr>
          <a:xfrm rot="5400000">
            <a:off x="3420666" y="1772022"/>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32 Düz Ok Bağlayıcısı"/>
          <p:cNvCxnSpPr/>
          <p:nvPr/>
        </p:nvCxnSpPr>
        <p:spPr>
          <a:xfrm rot="5400000">
            <a:off x="3420666" y="2276078"/>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Düz Ok Bağlayıcısı"/>
          <p:cNvCxnSpPr/>
          <p:nvPr/>
        </p:nvCxnSpPr>
        <p:spPr>
          <a:xfrm rot="5400000">
            <a:off x="3420666" y="2780134"/>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34 Düz Ok Bağlayıcısı"/>
          <p:cNvCxnSpPr/>
          <p:nvPr/>
        </p:nvCxnSpPr>
        <p:spPr>
          <a:xfrm rot="5400000">
            <a:off x="3420666" y="3284984"/>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Düz Ok Bağlayıcısı"/>
          <p:cNvCxnSpPr/>
          <p:nvPr/>
        </p:nvCxnSpPr>
        <p:spPr>
          <a:xfrm rot="5400000">
            <a:off x="3491880" y="3860254"/>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36 Düz Ok Bağlayıcısı"/>
          <p:cNvCxnSpPr/>
          <p:nvPr/>
        </p:nvCxnSpPr>
        <p:spPr>
          <a:xfrm rot="5400000">
            <a:off x="3492674" y="4580334"/>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37 Düz Ok Bağlayıcısı"/>
          <p:cNvCxnSpPr/>
          <p:nvPr/>
        </p:nvCxnSpPr>
        <p:spPr>
          <a:xfrm rot="5400000">
            <a:off x="3420666" y="5156398"/>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38 Düz Ok Bağlayıcısı"/>
          <p:cNvCxnSpPr/>
          <p:nvPr/>
        </p:nvCxnSpPr>
        <p:spPr>
          <a:xfrm rot="5400000">
            <a:off x="6084962" y="1844030"/>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p:nvPr/>
        </p:nvCxnSpPr>
        <p:spPr>
          <a:xfrm rot="5400000">
            <a:off x="6084962" y="2492102"/>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40 Düz Ok Bağlayıcısı"/>
          <p:cNvCxnSpPr/>
          <p:nvPr/>
        </p:nvCxnSpPr>
        <p:spPr>
          <a:xfrm rot="5400000">
            <a:off x="3420666" y="5732462"/>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5400000">
            <a:off x="6084962" y="3212182"/>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42 Düz Ok Bağlayıcısı"/>
          <p:cNvCxnSpPr/>
          <p:nvPr/>
        </p:nvCxnSpPr>
        <p:spPr>
          <a:xfrm rot="5400000">
            <a:off x="6084962" y="3860254"/>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43 Düz Ok Bağlayıcısı"/>
          <p:cNvCxnSpPr/>
          <p:nvPr/>
        </p:nvCxnSpPr>
        <p:spPr>
          <a:xfrm rot="5400000">
            <a:off x="3725466" y="6037262"/>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44 Düz Ok Bağlayıcısı"/>
          <p:cNvCxnSpPr/>
          <p:nvPr/>
        </p:nvCxnSpPr>
        <p:spPr>
          <a:xfrm rot="5400000">
            <a:off x="3420666" y="6309320"/>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p:nvPr/>
        </p:nvCxnSpPr>
        <p:spPr>
          <a:xfrm rot="5400000">
            <a:off x="1980506" y="3284190"/>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52 Dirsek Bağlayıcısı"/>
          <p:cNvCxnSpPr>
            <a:endCxn id="20" idx="3"/>
          </p:cNvCxnSpPr>
          <p:nvPr/>
        </p:nvCxnSpPr>
        <p:spPr>
          <a:xfrm>
            <a:off x="6588224" y="2852936"/>
            <a:ext cx="756168" cy="46807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52 Dirsek Bağlayıcısı"/>
          <p:cNvCxnSpPr>
            <a:stCxn id="21" idx="0"/>
          </p:cNvCxnSpPr>
          <p:nvPr/>
        </p:nvCxnSpPr>
        <p:spPr>
          <a:xfrm rot="16200000" flipH="1">
            <a:off x="2249724" y="3482988"/>
            <a:ext cx="1260160" cy="151218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52 Dirsek Bağlayıcısı"/>
          <p:cNvCxnSpPr>
            <a:stCxn id="19" idx="0"/>
            <a:endCxn id="15" idx="3"/>
          </p:cNvCxnSpPr>
          <p:nvPr/>
        </p:nvCxnSpPr>
        <p:spPr>
          <a:xfrm rot="5400000">
            <a:off x="5076064" y="3753008"/>
            <a:ext cx="144016" cy="216025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52 Dirsek Bağlayıcısı"/>
          <p:cNvCxnSpPr>
            <a:stCxn id="7" idx="2"/>
            <a:endCxn id="26" idx="1"/>
          </p:cNvCxnSpPr>
          <p:nvPr/>
        </p:nvCxnSpPr>
        <p:spPr>
          <a:xfrm rot="16200000" flipH="1">
            <a:off x="4842022" y="1898798"/>
            <a:ext cx="1080136" cy="82809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52 Dirsek Bağlayıcısı"/>
          <p:cNvCxnSpPr>
            <a:stCxn id="27" idx="1"/>
            <a:endCxn id="22" idx="3"/>
          </p:cNvCxnSpPr>
          <p:nvPr/>
        </p:nvCxnSpPr>
        <p:spPr>
          <a:xfrm rot="10800000" flipV="1">
            <a:off x="971584" y="2924920"/>
            <a:ext cx="684192" cy="57608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72 Düz Ok Bağlayıcısı"/>
          <p:cNvCxnSpPr/>
          <p:nvPr/>
        </p:nvCxnSpPr>
        <p:spPr>
          <a:xfrm rot="5400000">
            <a:off x="6084168" y="4436318"/>
            <a:ext cx="287238"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5181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SÜREÇ İLİŞKİ HARİTALARI</a:t>
            </a:r>
          </a:p>
        </p:txBody>
      </p:sp>
      <p:sp>
        <p:nvSpPr>
          <p:cNvPr id="4" name="3 Dikdörtgen"/>
          <p:cNvSpPr/>
          <p:nvPr/>
        </p:nvSpPr>
        <p:spPr>
          <a:xfrm>
            <a:off x="395536" y="1628800"/>
            <a:ext cx="8064896" cy="4680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5" name="4 Dikdörtgen"/>
          <p:cNvSpPr/>
          <p:nvPr/>
        </p:nvSpPr>
        <p:spPr>
          <a:xfrm>
            <a:off x="1403648" y="2276872"/>
            <a:ext cx="2160240"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SATIŞ</a:t>
            </a:r>
          </a:p>
        </p:txBody>
      </p:sp>
      <p:sp>
        <p:nvSpPr>
          <p:cNvPr id="10" name="9 Dikdörtgen"/>
          <p:cNvSpPr/>
          <p:nvPr/>
        </p:nvSpPr>
        <p:spPr>
          <a:xfrm>
            <a:off x="1403648" y="4077072"/>
            <a:ext cx="2160240"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MÜHENDİSLİK</a:t>
            </a:r>
          </a:p>
        </p:txBody>
      </p:sp>
      <p:sp>
        <p:nvSpPr>
          <p:cNvPr id="11" name="10 Dikdörtgen"/>
          <p:cNvSpPr/>
          <p:nvPr/>
        </p:nvSpPr>
        <p:spPr>
          <a:xfrm>
            <a:off x="4932040" y="4077072"/>
            <a:ext cx="2160240"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DAĞITIM</a:t>
            </a:r>
          </a:p>
        </p:txBody>
      </p:sp>
      <p:sp>
        <p:nvSpPr>
          <p:cNvPr id="12" name="11 Dikdörtgen"/>
          <p:cNvSpPr/>
          <p:nvPr/>
        </p:nvSpPr>
        <p:spPr>
          <a:xfrm>
            <a:off x="4932040" y="2204864"/>
            <a:ext cx="2160240"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ÜRETİM</a:t>
            </a:r>
          </a:p>
        </p:txBody>
      </p:sp>
      <p:cxnSp>
        <p:nvCxnSpPr>
          <p:cNvPr id="14" name="13 Düz Ok Bağlayıcısı"/>
          <p:cNvCxnSpPr/>
          <p:nvPr/>
        </p:nvCxnSpPr>
        <p:spPr>
          <a:xfrm>
            <a:off x="179512" y="2420888"/>
            <a:ext cx="122413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5 Düz Ok Bağlayıcısı"/>
          <p:cNvCxnSpPr/>
          <p:nvPr/>
        </p:nvCxnSpPr>
        <p:spPr>
          <a:xfrm>
            <a:off x="179512" y="2923356"/>
            <a:ext cx="122413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a:endCxn id="11" idx="1"/>
          </p:cNvCxnSpPr>
          <p:nvPr/>
        </p:nvCxnSpPr>
        <p:spPr>
          <a:xfrm flipV="1">
            <a:off x="3563888" y="4617132"/>
            <a:ext cx="1368152" cy="344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19 Düz Ok Bağlayıcısı"/>
          <p:cNvCxnSpPr/>
          <p:nvPr/>
        </p:nvCxnSpPr>
        <p:spPr>
          <a:xfrm>
            <a:off x="7020272" y="2564904"/>
            <a:ext cx="172819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20 Düz Ok Bağlayıcısı"/>
          <p:cNvCxnSpPr/>
          <p:nvPr/>
        </p:nvCxnSpPr>
        <p:spPr>
          <a:xfrm>
            <a:off x="7092280" y="4725144"/>
            <a:ext cx="15841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21 Düz Ok Bağlayıcısı"/>
          <p:cNvCxnSpPr/>
          <p:nvPr/>
        </p:nvCxnSpPr>
        <p:spPr>
          <a:xfrm>
            <a:off x="7092280" y="4221088"/>
            <a:ext cx="15841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22 Düz Ok Bağlayıcısı"/>
          <p:cNvCxnSpPr/>
          <p:nvPr/>
        </p:nvCxnSpPr>
        <p:spPr>
          <a:xfrm>
            <a:off x="3563888" y="2492896"/>
            <a:ext cx="13681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24 Dirsek Bağlayıcısı"/>
          <p:cNvCxnSpPr>
            <a:stCxn id="5" idx="3"/>
          </p:cNvCxnSpPr>
          <p:nvPr/>
        </p:nvCxnSpPr>
        <p:spPr>
          <a:xfrm flipH="1">
            <a:off x="3275856" y="2816932"/>
            <a:ext cx="288032" cy="1260140"/>
          </a:xfrm>
          <a:prstGeom prst="bentConnector4">
            <a:avLst>
              <a:gd name="adj1" fmla="val -79366"/>
              <a:gd name="adj2" fmla="val 7142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28 Dirsek Bağlayıcısı"/>
          <p:cNvCxnSpPr/>
          <p:nvPr/>
        </p:nvCxnSpPr>
        <p:spPr>
          <a:xfrm flipV="1">
            <a:off x="3419872" y="2852936"/>
            <a:ext cx="1512168" cy="144016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6540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dirty="0"/>
              <a:t>BİRİMLER ARASI SÜREÇ HARİTALARI</a:t>
            </a:r>
          </a:p>
        </p:txBody>
      </p:sp>
      <p:sp>
        <p:nvSpPr>
          <p:cNvPr id="4" name="3 Dikdörtgen"/>
          <p:cNvSpPr/>
          <p:nvPr/>
        </p:nvSpPr>
        <p:spPr>
          <a:xfrm>
            <a:off x="179512" y="1628800"/>
            <a:ext cx="8640960" cy="4752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tr-TR" dirty="0"/>
              <a:t>MÜŞTERİ</a:t>
            </a:r>
          </a:p>
          <a:p>
            <a:endParaRPr lang="tr-TR" dirty="0"/>
          </a:p>
          <a:p>
            <a:endParaRPr lang="tr-TR" dirty="0"/>
          </a:p>
          <a:p>
            <a:r>
              <a:rPr lang="tr-TR" dirty="0"/>
              <a:t>SATIŞ</a:t>
            </a:r>
          </a:p>
          <a:p>
            <a:endParaRPr lang="tr-TR" dirty="0"/>
          </a:p>
          <a:p>
            <a:endParaRPr lang="tr-TR" dirty="0"/>
          </a:p>
          <a:p>
            <a:r>
              <a:rPr lang="tr-TR" dirty="0"/>
              <a:t>MÜHENDİSLİK</a:t>
            </a:r>
          </a:p>
          <a:p>
            <a:endParaRPr lang="tr-TR" dirty="0"/>
          </a:p>
          <a:p>
            <a:endParaRPr lang="tr-TR" dirty="0"/>
          </a:p>
          <a:p>
            <a:r>
              <a:rPr lang="tr-TR" dirty="0"/>
              <a:t>ÜRETİM</a:t>
            </a:r>
          </a:p>
          <a:p>
            <a:endParaRPr lang="tr-TR" dirty="0"/>
          </a:p>
          <a:p>
            <a:endParaRPr lang="tr-TR" dirty="0"/>
          </a:p>
          <a:p>
            <a:endParaRPr lang="tr-TR" dirty="0"/>
          </a:p>
          <a:p>
            <a:r>
              <a:rPr lang="tr-TR" dirty="0"/>
              <a:t>DAĞITIM</a:t>
            </a:r>
          </a:p>
        </p:txBody>
      </p:sp>
      <p:cxnSp>
        <p:nvCxnSpPr>
          <p:cNvPr id="6" name="5 Düz Bağlayıcı"/>
          <p:cNvCxnSpPr/>
          <p:nvPr/>
        </p:nvCxnSpPr>
        <p:spPr>
          <a:xfrm>
            <a:off x="251520" y="2348880"/>
            <a:ext cx="86409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7" name="6 Düz Bağlayıcı"/>
          <p:cNvCxnSpPr/>
          <p:nvPr/>
        </p:nvCxnSpPr>
        <p:spPr>
          <a:xfrm>
            <a:off x="251520" y="3212976"/>
            <a:ext cx="86409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 name="7 Düz Bağlayıcı"/>
          <p:cNvCxnSpPr/>
          <p:nvPr/>
        </p:nvCxnSpPr>
        <p:spPr>
          <a:xfrm>
            <a:off x="251520" y="4149080"/>
            <a:ext cx="86409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9" name="8 Düz Bağlayıcı"/>
          <p:cNvCxnSpPr/>
          <p:nvPr/>
        </p:nvCxnSpPr>
        <p:spPr>
          <a:xfrm>
            <a:off x="251520" y="5229200"/>
            <a:ext cx="86409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1" name="10 Düz Bağlayıcı"/>
          <p:cNvCxnSpPr/>
          <p:nvPr/>
        </p:nvCxnSpPr>
        <p:spPr>
          <a:xfrm rot="5400000">
            <a:off x="-108521" y="4005064"/>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11 Dikdörtgen"/>
          <p:cNvSpPr/>
          <p:nvPr/>
        </p:nvSpPr>
        <p:spPr>
          <a:xfrm>
            <a:off x="2411760" y="2492896"/>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12 Dikdörtgen"/>
          <p:cNvSpPr/>
          <p:nvPr/>
        </p:nvSpPr>
        <p:spPr>
          <a:xfrm>
            <a:off x="3275856" y="2492896"/>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13 Dikdörtgen"/>
          <p:cNvSpPr/>
          <p:nvPr/>
        </p:nvSpPr>
        <p:spPr>
          <a:xfrm>
            <a:off x="4211960" y="2492896"/>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14 Dikdörtgen"/>
          <p:cNvSpPr/>
          <p:nvPr/>
        </p:nvSpPr>
        <p:spPr>
          <a:xfrm>
            <a:off x="4211960" y="3429000"/>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15 Dikdörtgen"/>
          <p:cNvSpPr/>
          <p:nvPr/>
        </p:nvSpPr>
        <p:spPr>
          <a:xfrm>
            <a:off x="5148064" y="3429000"/>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16 Dikdörtgen"/>
          <p:cNvSpPr/>
          <p:nvPr/>
        </p:nvSpPr>
        <p:spPr>
          <a:xfrm>
            <a:off x="5220072" y="4437112"/>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17 Dikdörtgen"/>
          <p:cNvSpPr/>
          <p:nvPr/>
        </p:nvSpPr>
        <p:spPr>
          <a:xfrm>
            <a:off x="6372200" y="4437112"/>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18 Dikdörtgen"/>
          <p:cNvSpPr/>
          <p:nvPr/>
        </p:nvSpPr>
        <p:spPr>
          <a:xfrm>
            <a:off x="6948264" y="5517232"/>
            <a:ext cx="720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1" name="20 Düz Ok Bağlayıcısı"/>
          <p:cNvCxnSpPr>
            <a:endCxn id="12" idx="0"/>
          </p:cNvCxnSpPr>
          <p:nvPr/>
        </p:nvCxnSpPr>
        <p:spPr>
          <a:xfrm rot="5400000">
            <a:off x="2448538" y="2168840"/>
            <a:ext cx="647278" cy="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24 Düz Ok Bağlayıcısı"/>
          <p:cNvCxnSpPr/>
          <p:nvPr/>
        </p:nvCxnSpPr>
        <p:spPr>
          <a:xfrm rot="5400000">
            <a:off x="4176770" y="3104150"/>
            <a:ext cx="647278" cy="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25 Düz Ok Bağlayıcısı"/>
          <p:cNvCxnSpPr/>
          <p:nvPr/>
        </p:nvCxnSpPr>
        <p:spPr>
          <a:xfrm rot="5400000">
            <a:off x="5112874" y="4112262"/>
            <a:ext cx="647278" cy="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26 Düz Ok Bağlayıcısı"/>
          <p:cNvCxnSpPr/>
          <p:nvPr/>
        </p:nvCxnSpPr>
        <p:spPr>
          <a:xfrm rot="5400000">
            <a:off x="6697050" y="5192382"/>
            <a:ext cx="647278" cy="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28 Düz Ok Bağlayıcısı"/>
          <p:cNvCxnSpPr>
            <a:endCxn id="13" idx="1"/>
          </p:cNvCxnSpPr>
          <p:nvPr/>
        </p:nvCxnSpPr>
        <p:spPr>
          <a:xfrm flipV="1">
            <a:off x="2987824" y="2708896"/>
            <a:ext cx="288032" cy="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29 Düz Ok Bağlayıcısı"/>
          <p:cNvCxnSpPr>
            <a:endCxn id="14" idx="1"/>
          </p:cNvCxnSpPr>
          <p:nvPr/>
        </p:nvCxnSpPr>
        <p:spPr>
          <a:xfrm flipV="1">
            <a:off x="3923928" y="2708896"/>
            <a:ext cx="288032" cy="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30 Düz Ok Bağlayıcısı"/>
          <p:cNvCxnSpPr>
            <a:endCxn id="16" idx="1"/>
          </p:cNvCxnSpPr>
          <p:nvPr/>
        </p:nvCxnSpPr>
        <p:spPr>
          <a:xfrm flipV="1">
            <a:off x="4788024" y="3645000"/>
            <a:ext cx="360040" cy="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31 Düz Ok Bağlayıcısı"/>
          <p:cNvCxnSpPr>
            <a:endCxn id="18" idx="1"/>
          </p:cNvCxnSpPr>
          <p:nvPr/>
        </p:nvCxnSpPr>
        <p:spPr>
          <a:xfrm flipV="1">
            <a:off x="5868144" y="4653112"/>
            <a:ext cx="504056" cy="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37 Şekil"/>
          <p:cNvCxnSpPr>
            <a:stCxn id="19" idx="3"/>
          </p:cNvCxnSpPr>
          <p:nvPr/>
        </p:nvCxnSpPr>
        <p:spPr>
          <a:xfrm flipV="1">
            <a:off x="7668264" y="1988840"/>
            <a:ext cx="576144" cy="374439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8466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YERLEŞİM İŞ AKIŞ ŞEMASI</a:t>
            </a:r>
          </a:p>
        </p:txBody>
      </p:sp>
      <p:sp>
        <p:nvSpPr>
          <p:cNvPr id="4" name="3 Dikdörtgen"/>
          <p:cNvSpPr/>
          <p:nvPr/>
        </p:nvSpPr>
        <p:spPr>
          <a:xfrm>
            <a:off x="971600" y="1484784"/>
            <a:ext cx="7632848" cy="49685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5" name="4 Dikdörtgen"/>
          <p:cNvSpPr/>
          <p:nvPr/>
        </p:nvSpPr>
        <p:spPr>
          <a:xfrm>
            <a:off x="971600" y="3356992"/>
            <a:ext cx="936104" cy="3096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DOLAP</a:t>
            </a:r>
          </a:p>
        </p:txBody>
      </p:sp>
      <p:sp>
        <p:nvSpPr>
          <p:cNvPr id="6" name="5 Dikdörtgen"/>
          <p:cNvSpPr/>
          <p:nvPr/>
        </p:nvSpPr>
        <p:spPr>
          <a:xfrm>
            <a:off x="2699792" y="1484784"/>
            <a:ext cx="3384376"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DOLAP</a:t>
            </a:r>
          </a:p>
        </p:txBody>
      </p:sp>
      <p:sp>
        <p:nvSpPr>
          <p:cNvPr id="8" name="7 Dikdörtgen"/>
          <p:cNvSpPr/>
          <p:nvPr/>
        </p:nvSpPr>
        <p:spPr>
          <a:xfrm>
            <a:off x="4211960" y="4725144"/>
            <a:ext cx="1584176"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MASA 4</a:t>
            </a:r>
          </a:p>
        </p:txBody>
      </p:sp>
      <p:sp>
        <p:nvSpPr>
          <p:cNvPr id="9" name="8 Dikdörtgen"/>
          <p:cNvSpPr/>
          <p:nvPr/>
        </p:nvSpPr>
        <p:spPr>
          <a:xfrm>
            <a:off x="4139952" y="3284984"/>
            <a:ext cx="1584176"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MASA 2</a:t>
            </a:r>
          </a:p>
        </p:txBody>
      </p:sp>
      <p:sp>
        <p:nvSpPr>
          <p:cNvPr id="10" name="9 Dikdörtgen"/>
          <p:cNvSpPr/>
          <p:nvPr/>
        </p:nvSpPr>
        <p:spPr>
          <a:xfrm>
            <a:off x="6660232" y="4725144"/>
            <a:ext cx="1584176"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MASA 5</a:t>
            </a:r>
          </a:p>
        </p:txBody>
      </p:sp>
      <p:sp>
        <p:nvSpPr>
          <p:cNvPr id="11" name="10 Dikdörtgen"/>
          <p:cNvSpPr/>
          <p:nvPr/>
        </p:nvSpPr>
        <p:spPr>
          <a:xfrm>
            <a:off x="6660232" y="3284984"/>
            <a:ext cx="1584176"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MASA 3</a:t>
            </a:r>
          </a:p>
        </p:txBody>
      </p:sp>
      <p:sp>
        <p:nvSpPr>
          <p:cNvPr id="12" name="11 Dikdörtgen"/>
          <p:cNvSpPr/>
          <p:nvPr/>
        </p:nvSpPr>
        <p:spPr>
          <a:xfrm>
            <a:off x="6660232" y="1772816"/>
            <a:ext cx="1584176"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MASA 1</a:t>
            </a:r>
          </a:p>
        </p:txBody>
      </p:sp>
      <p:cxnSp>
        <p:nvCxnSpPr>
          <p:cNvPr id="14" name="13 Düz Ok Bağlayıcısı"/>
          <p:cNvCxnSpPr>
            <a:stCxn id="9" idx="1"/>
          </p:cNvCxnSpPr>
          <p:nvPr/>
        </p:nvCxnSpPr>
        <p:spPr>
          <a:xfrm rot="10800000" flipV="1">
            <a:off x="1907704" y="3681028"/>
            <a:ext cx="2232248" cy="6840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a:stCxn id="8" idx="1"/>
          </p:cNvCxnSpPr>
          <p:nvPr/>
        </p:nvCxnSpPr>
        <p:spPr>
          <a:xfrm rot="10800000">
            <a:off x="1907704" y="5085184"/>
            <a:ext cx="2304256" cy="360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18 Düz Ok Bağlayıcısı"/>
          <p:cNvCxnSpPr>
            <a:stCxn id="11" idx="1"/>
          </p:cNvCxnSpPr>
          <p:nvPr/>
        </p:nvCxnSpPr>
        <p:spPr>
          <a:xfrm rot="10800000">
            <a:off x="5580112" y="2420888"/>
            <a:ext cx="1080120" cy="12601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20 Düz Ok Bağlayıcısı"/>
          <p:cNvCxnSpPr/>
          <p:nvPr/>
        </p:nvCxnSpPr>
        <p:spPr>
          <a:xfrm rot="10800000">
            <a:off x="5724128" y="3861048"/>
            <a:ext cx="9361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22 Düz Ok Bağlayıcısı"/>
          <p:cNvCxnSpPr>
            <a:stCxn id="12" idx="2"/>
            <a:endCxn id="11" idx="0"/>
          </p:cNvCxnSpPr>
          <p:nvPr/>
        </p:nvCxnSpPr>
        <p:spPr>
          <a:xfrm rot="5400000">
            <a:off x="7092280" y="2924944"/>
            <a:ext cx="7200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24 Düz Ok Bağlayıcısı"/>
          <p:cNvCxnSpPr>
            <a:stCxn id="8" idx="3"/>
            <a:endCxn id="10" idx="1"/>
          </p:cNvCxnSpPr>
          <p:nvPr/>
        </p:nvCxnSpPr>
        <p:spPr>
          <a:xfrm>
            <a:off x="5796136" y="5121188"/>
            <a:ext cx="86409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26 Düz Ok Bağlayıcısı"/>
          <p:cNvCxnSpPr/>
          <p:nvPr/>
        </p:nvCxnSpPr>
        <p:spPr>
          <a:xfrm flipV="1">
            <a:off x="5724128" y="4005064"/>
            <a:ext cx="936104" cy="8640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28 Düz Ok Bağlayıcısı"/>
          <p:cNvCxnSpPr/>
          <p:nvPr/>
        </p:nvCxnSpPr>
        <p:spPr>
          <a:xfrm rot="10800000">
            <a:off x="5436096" y="4077072"/>
            <a:ext cx="1440160" cy="8640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30 Düz Ok Bağlayıcısı"/>
          <p:cNvCxnSpPr>
            <a:endCxn id="8" idx="0"/>
          </p:cNvCxnSpPr>
          <p:nvPr/>
        </p:nvCxnSpPr>
        <p:spPr>
          <a:xfrm rot="5400000">
            <a:off x="4752020" y="4401108"/>
            <a:ext cx="576064"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0431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13 İçerik Yer Tutucusu"/>
          <p:cNvSpPr>
            <a:spLocks noGrp="1"/>
          </p:cNvSpPr>
          <p:nvPr>
            <p:ph idx="1"/>
          </p:nvPr>
        </p:nvSpPr>
        <p:spPr>
          <a:xfrm>
            <a:off x="1835696" y="1988840"/>
            <a:ext cx="2952328" cy="4349080"/>
          </a:xfrm>
        </p:spPr>
        <p:txBody>
          <a:bodyPr>
            <a:normAutofit/>
          </a:bodyPr>
          <a:lstStyle/>
          <a:p>
            <a:r>
              <a:rPr lang="tr-TR" sz="2000" dirty="0"/>
              <a:t>Faaliyet/İşlem</a:t>
            </a:r>
          </a:p>
          <a:p>
            <a:endParaRPr lang="tr-TR" sz="2000" dirty="0"/>
          </a:p>
          <a:p>
            <a:r>
              <a:rPr lang="tr-TR" sz="2000" dirty="0"/>
              <a:t>Muayene</a:t>
            </a:r>
          </a:p>
          <a:p>
            <a:endParaRPr lang="tr-TR" sz="2000" dirty="0"/>
          </a:p>
          <a:p>
            <a:r>
              <a:rPr lang="tr-TR" sz="2000" dirty="0"/>
              <a:t>Taşma/Yer Değiştirme</a:t>
            </a:r>
          </a:p>
          <a:p>
            <a:endParaRPr lang="tr-TR" sz="2000" dirty="0"/>
          </a:p>
          <a:p>
            <a:r>
              <a:rPr lang="tr-TR" sz="2000" dirty="0"/>
              <a:t>Gecikme</a:t>
            </a:r>
          </a:p>
          <a:p>
            <a:endParaRPr lang="tr-TR" sz="2000" dirty="0"/>
          </a:p>
          <a:p>
            <a:r>
              <a:rPr lang="tr-TR" sz="2000" dirty="0"/>
              <a:t>Depolama</a:t>
            </a:r>
          </a:p>
          <a:p>
            <a:pPr>
              <a:buNone/>
            </a:pPr>
            <a:endParaRPr lang="tr-TR" sz="2000" dirty="0"/>
          </a:p>
          <a:p>
            <a:r>
              <a:rPr lang="tr-TR" sz="2000" dirty="0"/>
              <a:t>Doğrulama</a:t>
            </a:r>
          </a:p>
        </p:txBody>
      </p:sp>
      <p:sp>
        <p:nvSpPr>
          <p:cNvPr id="2" name="1 Başlık"/>
          <p:cNvSpPr>
            <a:spLocks noGrp="1"/>
          </p:cNvSpPr>
          <p:nvPr>
            <p:ph type="title"/>
          </p:nvPr>
        </p:nvSpPr>
        <p:spPr>
          <a:xfrm>
            <a:off x="179512" y="274638"/>
            <a:ext cx="8507288" cy="850106"/>
          </a:xfrm>
        </p:spPr>
        <p:txBody>
          <a:bodyPr>
            <a:normAutofit fontScale="90000"/>
          </a:bodyPr>
          <a:lstStyle/>
          <a:p>
            <a:r>
              <a:rPr lang="tr-TR" sz="3200" b="1" dirty="0"/>
              <a:t>SÜREÇ HARİTALARINDA KULLANILAN SEMBOLLER</a:t>
            </a:r>
          </a:p>
        </p:txBody>
      </p:sp>
      <p:sp>
        <p:nvSpPr>
          <p:cNvPr id="4" name="3 Akış Çizelgesi: Bağlayıcı"/>
          <p:cNvSpPr/>
          <p:nvPr/>
        </p:nvSpPr>
        <p:spPr>
          <a:xfrm>
            <a:off x="1259632" y="1916832"/>
            <a:ext cx="720080" cy="5760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4 Dikdörtgen"/>
          <p:cNvSpPr/>
          <p:nvPr/>
        </p:nvSpPr>
        <p:spPr>
          <a:xfrm>
            <a:off x="1403648" y="2636912"/>
            <a:ext cx="576064"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5 Sağ Ok"/>
          <p:cNvSpPr/>
          <p:nvPr/>
        </p:nvSpPr>
        <p:spPr>
          <a:xfrm>
            <a:off x="1259632" y="3501008"/>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6 Kiriş"/>
          <p:cNvSpPr/>
          <p:nvPr/>
        </p:nvSpPr>
        <p:spPr>
          <a:xfrm rot="10800000">
            <a:off x="827584" y="4077072"/>
            <a:ext cx="1152128" cy="576064"/>
          </a:xfrm>
          <a:prstGeom prst="chord">
            <a:avLst>
              <a:gd name="adj1" fmla="val 3753488"/>
              <a:gd name="adj2" fmla="val 179055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7 İkizkenar Üçgen"/>
          <p:cNvSpPr/>
          <p:nvPr/>
        </p:nvSpPr>
        <p:spPr>
          <a:xfrm rot="10800000">
            <a:off x="1475654" y="4941168"/>
            <a:ext cx="576065" cy="43204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8 Elmas"/>
          <p:cNvSpPr/>
          <p:nvPr/>
        </p:nvSpPr>
        <p:spPr>
          <a:xfrm>
            <a:off x="1115616" y="5517232"/>
            <a:ext cx="864096" cy="64807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9 Dikdörtgen"/>
          <p:cNvSpPr/>
          <p:nvPr/>
        </p:nvSpPr>
        <p:spPr>
          <a:xfrm>
            <a:off x="5292080" y="1988840"/>
            <a:ext cx="115212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10 Elmas"/>
          <p:cNvSpPr/>
          <p:nvPr/>
        </p:nvSpPr>
        <p:spPr>
          <a:xfrm>
            <a:off x="5292080" y="2996952"/>
            <a:ext cx="1152128" cy="86409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11 Akış Çizelgesi: Bağlayıcı"/>
          <p:cNvSpPr/>
          <p:nvPr/>
        </p:nvSpPr>
        <p:spPr>
          <a:xfrm>
            <a:off x="5652120" y="4149080"/>
            <a:ext cx="792088" cy="72008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12 Beşgen"/>
          <p:cNvSpPr/>
          <p:nvPr/>
        </p:nvSpPr>
        <p:spPr>
          <a:xfrm rot="5400000">
            <a:off x="5616116" y="5157192"/>
            <a:ext cx="684076" cy="972108"/>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13 İçerik Yer Tutucusu"/>
          <p:cNvSpPr txBox="1">
            <a:spLocks/>
          </p:cNvSpPr>
          <p:nvPr/>
        </p:nvSpPr>
        <p:spPr>
          <a:xfrm>
            <a:off x="6300192" y="1772816"/>
            <a:ext cx="2664296"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Faaliyet/İşlem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Karar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Sayfa Başlangıcı</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Sayfa Sonu</a:t>
            </a:r>
          </a:p>
        </p:txBody>
      </p:sp>
      <p:sp>
        <p:nvSpPr>
          <p:cNvPr id="16" name="1 Başlık"/>
          <p:cNvSpPr txBox="1">
            <a:spLocks/>
          </p:cNvSpPr>
          <p:nvPr/>
        </p:nvSpPr>
        <p:spPr>
          <a:xfrm>
            <a:off x="539552" y="1124744"/>
            <a:ext cx="4032448" cy="64807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2000" b="1" i="0" u="none" strike="noStrike" kern="1200" cap="none" spc="0" normalizeH="0" baseline="0" noProof="0" dirty="0">
                <a:ln>
                  <a:noFill/>
                </a:ln>
                <a:solidFill>
                  <a:schemeClr val="tx1"/>
                </a:solidFill>
                <a:effectLst/>
                <a:uLnTx/>
                <a:uFillTx/>
                <a:latin typeface="+mj-lt"/>
                <a:ea typeface="+mj-ea"/>
                <a:cs typeface="+mj-cs"/>
              </a:rPr>
              <a:t>ASME SEMBOLLERİ</a:t>
            </a:r>
          </a:p>
        </p:txBody>
      </p:sp>
      <p:sp>
        <p:nvSpPr>
          <p:cNvPr id="17" name="1 Başlık"/>
          <p:cNvSpPr txBox="1">
            <a:spLocks/>
          </p:cNvSpPr>
          <p:nvPr/>
        </p:nvSpPr>
        <p:spPr>
          <a:xfrm>
            <a:off x="4572000" y="1124744"/>
            <a:ext cx="4032448" cy="64807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2000" b="1" i="0" u="none" strike="noStrike" kern="1200" cap="none" spc="0" normalizeH="0" baseline="0" noProof="0" dirty="0">
                <a:ln>
                  <a:noFill/>
                </a:ln>
                <a:solidFill>
                  <a:schemeClr val="tx1"/>
                </a:solidFill>
                <a:effectLst/>
                <a:uLnTx/>
                <a:uFillTx/>
                <a:latin typeface="+mj-lt"/>
                <a:ea typeface="+mj-ea"/>
                <a:cs typeface="+mj-cs"/>
              </a:rPr>
              <a:t>BİLGİ AKIŞ SEMBOLLERİ</a:t>
            </a:r>
          </a:p>
        </p:txBody>
      </p:sp>
    </p:spTree>
    <p:extLst>
      <p:ext uri="{BB962C8B-B14F-4D97-AF65-F5344CB8AC3E}">
        <p14:creationId xmlns:p14="http://schemas.microsoft.com/office/powerpoint/2010/main" val="35540448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74675" y="1500188"/>
            <a:ext cx="8297863" cy="5072062"/>
            <a:chOff x="1202" y="1216"/>
            <a:chExt cx="4496" cy="2963"/>
          </a:xfrm>
        </p:grpSpPr>
        <p:pic>
          <p:nvPicPr>
            <p:cNvPr id="19460" name="Picture 3"/>
            <p:cNvPicPr>
              <a:picLocks noChangeAspect="1" noChangeArrowheads="1"/>
            </p:cNvPicPr>
            <p:nvPr/>
          </p:nvPicPr>
          <p:blipFill>
            <a:blip r:embed="rId3" cstate="print"/>
            <a:srcRect/>
            <a:stretch>
              <a:fillRect/>
            </a:stretch>
          </p:blipFill>
          <p:spPr bwMode="auto">
            <a:xfrm>
              <a:off x="1202" y="1216"/>
              <a:ext cx="4496" cy="2963"/>
            </a:xfrm>
            <a:prstGeom prst="rect">
              <a:avLst/>
            </a:prstGeom>
            <a:noFill/>
            <a:ln w="9525">
              <a:noFill/>
              <a:miter lim="800000"/>
              <a:headEnd/>
              <a:tailEnd/>
            </a:ln>
          </p:spPr>
        </p:pic>
        <p:sp>
          <p:nvSpPr>
            <p:cNvPr id="19461" name="AutoShape 4"/>
            <p:cNvSpPr>
              <a:spLocks noChangeArrowheads="1"/>
            </p:cNvSpPr>
            <p:nvPr/>
          </p:nvSpPr>
          <p:spPr bwMode="auto">
            <a:xfrm>
              <a:off x="2864" y="1454"/>
              <a:ext cx="715" cy="529"/>
            </a:xfrm>
            <a:prstGeom prst="cloudCallout">
              <a:avLst>
                <a:gd name="adj1" fmla="val 21556"/>
                <a:gd name="adj2" fmla="val 66028"/>
              </a:avLst>
            </a:prstGeom>
            <a:solidFill>
              <a:schemeClr val="accent1"/>
            </a:solidFill>
            <a:ln w="9525">
              <a:solidFill>
                <a:schemeClr val="tx1"/>
              </a:solidFill>
              <a:round/>
              <a:headEnd/>
              <a:tailEnd/>
            </a:ln>
          </p:spPr>
          <p:txBody>
            <a:bodyPr/>
            <a:lstStyle/>
            <a:p>
              <a:pPr algn="ctr">
                <a:lnSpc>
                  <a:spcPct val="100000"/>
                </a:lnSpc>
                <a:spcBef>
                  <a:spcPct val="0"/>
                </a:spcBef>
                <a:buFontTx/>
                <a:buNone/>
              </a:pPr>
              <a:r>
                <a:rPr lang="en-US" sz="900">
                  <a:solidFill>
                    <a:schemeClr val="tx1"/>
                  </a:solidFill>
                </a:rPr>
                <a:t>How do we optimize our health services</a:t>
              </a:r>
            </a:p>
          </p:txBody>
        </p:sp>
      </p:grpSp>
      <p:sp>
        <p:nvSpPr>
          <p:cNvPr id="914437" name="Rectangle 5"/>
          <p:cNvSpPr>
            <a:spLocks noGrp="1" noChangeArrowheads="1"/>
          </p:cNvSpPr>
          <p:nvPr>
            <p:ph type="title"/>
          </p:nvPr>
        </p:nvSpPr>
        <p:spPr>
          <a:xfrm>
            <a:off x="914400" y="0"/>
            <a:ext cx="7772400" cy="1427163"/>
          </a:xfrm>
        </p:spPr>
        <p:txBody>
          <a:bodyPr/>
          <a:lstStyle/>
          <a:p>
            <a:pPr eaLnBrk="1" fontAlgn="auto" hangingPunct="1">
              <a:spcAft>
                <a:spcPts val="0"/>
              </a:spcAft>
              <a:defRPr/>
            </a:pPr>
            <a:r>
              <a:rPr lang="tr-TR" sz="3600" b="1" dirty="0">
                <a:solidFill>
                  <a:schemeClr val="tx2">
                    <a:satMod val="200000"/>
                  </a:schemeClr>
                </a:solidFill>
                <a:effectLst>
                  <a:outerShdw blurRad="38100" dist="38100" dir="2700000" algn="tl">
                    <a:srgbClr val="000000">
                      <a:alpha val="43137"/>
                    </a:srgbClr>
                  </a:outerShdw>
                </a:effectLst>
                <a:latin typeface="Times New Roman" pitchFamily="18" charset="0"/>
                <a:cs typeface="Times New Roman" pitchFamily="18" charset="0"/>
              </a:rPr>
              <a:t>Analogtan Dijitale</a:t>
            </a:r>
            <a:endParaRPr lang="en-US" sz="3600" b="1" dirty="0">
              <a:solidFill>
                <a:schemeClr val="tx2">
                  <a:satMod val="200000"/>
                </a:schemeClr>
              </a:solidFill>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endParaRPr>
          </a:p>
        </p:txBody>
      </p:sp>
      <p:sp>
        <p:nvSpPr>
          <p:cNvPr id="6" name="5 Metin kutusu"/>
          <p:cNvSpPr txBox="1"/>
          <p:nvPr/>
        </p:nvSpPr>
        <p:spPr>
          <a:xfrm>
            <a:off x="714348" y="3571876"/>
            <a:ext cx="919162" cy="369332"/>
          </a:xfrm>
          <a:prstGeom prst="rect">
            <a:avLst/>
          </a:prstGeom>
          <a:noFill/>
        </p:spPr>
        <p:txBody>
          <a:bodyPr wrap="none" rtlCol="0">
            <a:spAutoFit/>
          </a:bodyPr>
          <a:lstStyle/>
          <a:p>
            <a:r>
              <a:rPr lang="tr-TR" dirty="0">
                <a:solidFill>
                  <a:srgbClr val="FF0000"/>
                </a:solidFill>
              </a:rPr>
              <a:t>Resim 1</a:t>
            </a:r>
          </a:p>
        </p:txBody>
      </p:sp>
      <p:sp>
        <p:nvSpPr>
          <p:cNvPr id="7" name="6 Metin kutusu"/>
          <p:cNvSpPr txBox="1"/>
          <p:nvPr/>
        </p:nvSpPr>
        <p:spPr>
          <a:xfrm>
            <a:off x="714348" y="4143380"/>
            <a:ext cx="933589" cy="369332"/>
          </a:xfrm>
          <a:prstGeom prst="rect">
            <a:avLst/>
          </a:prstGeom>
          <a:noFill/>
        </p:spPr>
        <p:txBody>
          <a:bodyPr wrap="none" rtlCol="0">
            <a:spAutoFit/>
          </a:bodyPr>
          <a:lstStyle/>
          <a:p>
            <a:r>
              <a:rPr lang="tr-TR" dirty="0">
                <a:solidFill>
                  <a:srgbClr val="FF0000"/>
                </a:solidFill>
              </a:rPr>
              <a:t>Resim 2</a:t>
            </a:r>
          </a:p>
        </p:txBody>
      </p:sp>
      <p:sp>
        <p:nvSpPr>
          <p:cNvPr id="8" name="7 Metin kutusu"/>
          <p:cNvSpPr txBox="1"/>
          <p:nvPr/>
        </p:nvSpPr>
        <p:spPr>
          <a:xfrm>
            <a:off x="7786710" y="3929066"/>
            <a:ext cx="919162" cy="369332"/>
          </a:xfrm>
          <a:prstGeom prst="rect">
            <a:avLst/>
          </a:prstGeom>
          <a:noFill/>
        </p:spPr>
        <p:txBody>
          <a:bodyPr wrap="none" rtlCol="0">
            <a:spAutoFit/>
          </a:bodyPr>
          <a:lstStyle/>
          <a:p>
            <a:r>
              <a:rPr lang="tr-TR" dirty="0">
                <a:solidFill>
                  <a:srgbClr val="FF0000"/>
                </a:solidFill>
              </a:rPr>
              <a:t>Resim 3</a:t>
            </a:r>
          </a:p>
        </p:txBody>
      </p:sp>
      <p:sp>
        <p:nvSpPr>
          <p:cNvPr id="9" name="8 Slayt Numarası Yer Tutucusu"/>
          <p:cNvSpPr>
            <a:spLocks noGrp="1"/>
          </p:cNvSpPr>
          <p:nvPr>
            <p:ph type="sldNum" sz="quarter" idx="12"/>
          </p:nvPr>
        </p:nvSpPr>
        <p:spPr/>
        <p:txBody>
          <a:bodyPr>
            <a:normAutofit fontScale="85000" lnSpcReduction="20000"/>
          </a:bodyPr>
          <a:lstStyle/>
          <a:p>
            <a:fld id="{B1DEFA8C-F947-479F-BE07-76B6B3F80BF1}" type="slidenum">
              <a:rPr lang="tr-TR" smtClean="0"/>
              <a:pPr/>
              <a:t>58</a:t>
            </a:fld>
            <a:endParaRPr lang="tr-TR"/>
          </a:p>
        </p:txBody>
      </p:sp>
    </p:spTree>
    <p:extLst>
      <p:ext uri="{BB962C8B-B14F-4D97-AF65-F5344CB8AC3E}">
        <p14:creationId xmlns:p14="http://schemas.microsoft.com/office/powerpoint/2010/main" val="2206463948"/>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LEAN SYSTEM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999" y="1668145"/>
            <a:ext cx="6779895" cy="2585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5928" y="4253678"/>
            <a:ext cx="6214872" cy="2487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13894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Başlık"/>
          <p:cNvSpPr>
            <a:spLocks noGrp="1"/>
          </p:cNvSpPr>
          <p:nvPr>
            <p:ph type="ctrTitle"/>
          </p:nvPr>
        </p:nvSpPr>
        <p:spPr/>
        <p:txBody>
          <a:bodyPr/>
          <a:lstStyle/>
          <a:p>
            <a:r>
              <a:rPr lang="tr-TR" dirty="0"/>
              <a:t>BÖLÜM 5</a:t>
            </a:r>
          </a:p>
        </p:txBody>
      </p:sp>
      <p:sp>
        <p:nvSpPr>
          <p:cNvPr id="5" name="4 Alt Başlık"/>
          <p:cNvSpPr>
            <a:spLocks noGrp="1"/>
          </p:cNvSpPr>
          <p:nvPr>
            <p:ph type="subTitle" idx="1"/>
          </p:nvPr>
        </p:nvSpPr>
        <p:spPr>
          <a:xfrm>
            <a:off x="2400300" y="6041571"/>
            <a:ext cx="6400800" cy="766936"/>
          </a:xfrm>
        </p:spPr>
        <p:txBody>
          <a:bodyPr>
            <a:normAutofit/>
          </a:bodyPr>
          <a:lstStyle/>
          <a:p>
            <a:r>
              <a:rPr lang="tr-TR" sz="4400" dirty="0"/>
              <a:t>SÜREÇ YAKLAŞIMI</a:t>
            </a:r>
          </a:p>
        </p:txBody>
      </p:sp>
    </p:spTree>
    <p:extLst>
      <p:ext uri="{BB962C8B-B14F-4D97-AF65-F5344CB8AC3E}">
        <p14:creationId xmlns:p14="http://schemas.microsoft.com/office/powerpoint/2010/main" val="31132558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EFQM MÜKEMMELLİK MODELİ</a:t>
            </a:r>
          </a:p>
        </p:txBody>
      </p:sp>
      <p:pic>
        <p:nvPicPr>
          <p:cNvPr id="4" name="Picture 10" descr="http://www.kalder.org/genel/odul/model.jpg"/>
          <p:cNvPicPr>
            <a:picLocks noChangeAspect="1" noChangeArrowheads="1"/>
          </p:cNvPicPr>
          <p:nvPr/>
        </p:nvPicPr>
        <p:blipFill>
          <a:blip r:embed="rId2" r:link="rId3" cstate="print"/>
          <a:srcRect/>
          <a:stretch>
            <a:fillRect/>
          </a:stretch>
        </p:blipFill>
        <p:spPr bwMode="auto">
          <a:xfrm>
            <a:off x="251520" y="1556792"/>
            <a:ext cx="8712968" cy="4968552"/>
          </a:xfrm>
          <a:prstGeom prst="rect">
            <a:avLst/>
          </a:prstGeom>
          <a:noFill/>
          <a:ln w="9525">
            <a:noFill/>
            <a:miter lim="800000"/>
            <a:headEnd/>
            <a:tailEnd/>
          </a:ln>
        </p:spPr>
      </p:pic>
    </p:spTree>
    <p:extLst>
      <p:ext uri="{BB962C8B-B14F-4D97-AF65-F5344CB8AC3E}">
        <p14:creationId xmlns:p14="http://schemas.microsoft.com/office/powerpoint/2010/main" val="16133869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95536" y="260648"/>
            <a:ext cx="8229600" cy="1143000"/>
          </a:xfrm>
        </p:spPr>
        <p:txBody>
          <a:bodyPr/>
          <a:lstStyle/>
          <a:p>
            <a:r>
              <a:rPr lang="tr-TR" dirty="0"/>
              <a:t>STRATEJİK PLANLAMA</a:t>
            </a:r>
          </a:p>
        </p:txBody>
      </p:sp>
      <p:sp>
        <p:nvSpPr>
          <p:cNvPr id="19" name="18 Dikdörtgen"/>
          <p:cNvSpPr/>
          <p:nvPr/>
        </p:nvSpPr>
        <p:spPr>
          <a:xfrm>
            <a:off x="3419872" y="1556792"/>
            <a:ext cx="1908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MİSYON</a:t>
            </a:r>
          </a:p>
        </p:txBody>
      </p:sp>
      <p:sp>
        <p:nvSpPr>
          <p:cNvPr id="20" name="19 Dikdörtgen"/>
          <p:cNvSpPr/>
          <p:nvPr/>
        </p:nvSpPr>
        <p:spPr>
          <a:xfrm>
            <a:off x="3419872" y="2420888"/>
            <a:ext cx="1908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VİZYON</a:t>
            </a:r>
          </a:p>
        </p:txBody>
      </p:sp>
      <p:sp>
        <p:nvSpPr>
          <p:cNvPr id="21" name="20 Dikdörtgen"/>
          <p:cNvSpPr/>
          <p:nvPr/>
        </p:nvSpPr>
        <p:spPr>
          <a:xfrm>
            <a:off x="6120384" y="2420888"/>
            <a:ext cx="1908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POLİTİKALAR</a:t>
            </a:r>
          </a:p>
        </p:txBody>
      </p:sp>
      <p:sp>
        <p:nvSpPr>
          <p:cNvPr id="23" name="22 Dikdörtgen"/>
          <p:cNvSpPr/>
          <p:nvPr/>
        </p:nvSpPr>
        <p:spPr>
          <a:xfrm>
            <a:off x="899592" y="3501008"/>
            <a:ext cx="1908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ANA HEDEF</a:t>
            </a:r>
          </a:p>
        </p:txBody>
      </p:sp>
      <p:sp>
        <p:nvSpPr>
          <p:cNvPr id="25" name="24 Dikdörtgen"/>
          <p:cNvSpPr/>
          <p:nvPr/>
        </p:nvSpPr>
        <p:spPr>
          <a:xfrm>
            <a:off x="863808" y="4293096"/>
            <a:ext cx="1980000"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SÜREÇ/BÖLÜM HEDEFLERİ</a:t>
            </a:r>
          </a:p>
        </p:txBody>
      </p:sp>
      <p:sp>
        <p:nvSpPr>
          <p:cNvPr id="28" name="27 Dikdörtgen"/>
          <p:cNvSpPr/>
          <p:nvPr/>
        </p:nvSpPr>
        <p:spPr>
          <a:xfrm>
            <a:off x="828024" y="5517232"/>
            <a:ext cx="1980000"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KİŞİSEL HEDEFLER</a:t>
            </a:r>
          </a:p>
        </p:txBody>
      </p:sp>
      <p:sp>
        <p:nvSpPr>
          <p:cNvPr id="32" name="31 Dikdörtgen"/>
          <p:cNvSpPr/>
          <p:nvPr/>
        </p:nvSpPr>
        <p:spPr>
          <a:xfrm>
            <a:off x="3419872" y="3501008"/>
            <a:ext cx="1908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ANA HEDEF</a:t>
            </a:r>
          </a:p>
        </p:txBody>
      </p:sp>
      <p:sp>
        <p:nvSpPr>
          <p:cNvPr id="33" name="32 Dikdörtgen"/>
          <p:cNvSpPr/>
          <p:nvPr/>
        </p:nvSpPr>
        <p:spPr>
          <a:xfrm>
            <a:off x="6120384" y="3501008"/>
            <a:ext cx="1908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ANA HEDEF</a:t>
            </a:r>
          </a:p>
        </p:txBody>
      </p:sp>
      <p:sp>
        <p:nvSpPr>
          <p:cNvPr id="35" name="34 Dikdörtgen"/>
          <p:cNvSpPr/>
          <p:nvPr/>
        </p:nvSpPr>
        <p:spPr>
          <a:xfrm>
            <a:off x="3419872" y="4293096"/>
            <a:ext cx="1980000"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SÜREÇ/BÖLÜM HEDEFLERİ</a:t>
            </a:r>
          </a:p>
        </p:txBody>
      </p:sp>
      <p:sp>
        <p:nvSpPr>
          <p:cNvPr id="36" name="35 Dikdörtgen"/>
          <p:cNvSpPr/>
          <p:nvPr/>
        </p:nvSpPr>
        <p:spPr>
          <a:xfrm>
            <a:off x="6192400" y="4293096"/>
            <a:ext cx="1980000"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SÜREÇ/BÖLÜM HEDEFLERİ</a:t>
            </a:r>
          </a:p>
        </p:txBody>
      </p:sp>
      <p:sp>
        <p:nvSpPr>
          <p:cNvPr id="37" name="36 Dikdörtgen"/>
          <p:cNvSpPr/>
          <p:nvPr/>
        </p:nvSpPr>
        <p:spPr>
          <a:xfrm>
            <a:off x="3419872" y="5517232"/>
            <a:ext cx="1980000"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KİŞİSEL HEDEFLER</a:t>
            </a:r>
          </a:p>
        </p:txBody>
      </p:sp>
      <p:sp>
        <p:nvSpPr>
          <p:cNvPr id="38" name="37 Dikdörtgen"/>
          <p:cNvSpPr/>
          <p:nvPr/>
        </p:nvSpPr>
        <p:spPr>
          <a:xfrm>
            <a:off x="6192400" y="5517232"/>
            <a:ext cx="1980000"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KİŞİSEL HEDEFLER</a:t>
            </a:r>
          </a:p>
        </p:txBody>
      </p:sp>
      <p:cxnSp>
        <p:nvCxnSpPr>
          <p:cNvPr id="40" name="39 Düz Bağlayıcı"/>
          <p:cNvCxnSpPr>
            <a:stCxn id="19" idx="2"/>
            <a:endCxn id="20" idx="0"/>
          </p:cNvCxnSpPr>
          <p:nvPr/>
        </p:nvCxnSpPr>
        <p:spPr>
          <a:xfrm rot="5400000">
            <a:off x="4121824" y="2168840"/>
            <a:ext cx="50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41 Düz Bağlayıcı"/>
          <p:cNvCxnSpPr>
            <a:stCxn id="20" idx="2"/>
            <a:endCxn id="32" idx="0"/>
          </p:cNvCxnSpPr>
          <p:nvPr/>
        </p:nvCxnSpPr>
        <p:spPr>
          <a:xfrm rot="5400000">
            <a:off x="4013812" y="3140948"/>
            <a:ext cx="72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43 Düz Bağlayıcı"/>
          <p:cNvCxnSpPr>
            <a:stCxn id="20" idx="3"/>
          </p:cNvCxnSpPr>
          <p:nvPr/>
        </p:nvCxnSpPr>
        <p:spPr>
          <a:xfrm>
            <a:off x="5327872" y="2600888"/>
            <a:ext cx="900312" cy="3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48 Düz Bağlayıcı"/>
          <p:cNvCxnSpPr/>
          <p:nvPr/>
        </p:nvCxnSpPr>
        <p:spPr>
          <a:xfrm rot="5400000">
            <a:off x="4067944" y="4077072"/>
            <a:ext cx="5760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49 Düz Bağlayıcı"/>
          <p:cNvCxnSpPr/>
          <p:nvPr/>
        </p:nvCxnSpPr>
        <p:spPr>
          <a:xfrm rot="5400000">
            <a:off x="4067944" y="5517232"/>
            <a:ext cx="5760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51 Şekil"/>
          <p:cNvCxnSpPr>
            <a:stCxn id="23" idx="0"/>
          </p:cNvCxnSpPr>
          <p:nvPr/>
        </p:nvCxnSpPr>
        <p:spPr>
          <a:xfrm rot="5400000" flipH="1" flipV="1">
            <a:off x="4364924" y="629636"/>
            <a:ext cx="360040" cy="538270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57" name="56 Düz Bağlayıcı"/>
          <p:cNvCxnSpPr/>
          <p:nvPr/>
        </p:nvCxnSpPr>
        <p:spPr>
          <a:xfrm rot="5400000">
            <a:off x="7020272" y="3356992"/>
            <a:ext cx="432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57 Şekil"/>
          <p:cNvCxnSpPr/>
          <p:nvPr/>
        </p:nvCxnSpPr>
        <p:spPr>
          <a:xfrm rot="5400000" flipH="1" flipV="1">
            <a:off x="4292916" y="1493732"/>
            <a:ext cx="360040" cy="538270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59" name="58 Düz Bağlayıcı"/>
          <p:cNvCxnSpPr/>
          <p:nvPr/>
        </p:nvCxnSpPr>
        <p:spPr>
          <a:xfrm rot="5400000">
            <a:off x="7020272" y="4221088"/>
            <a:ext cx="432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59 Şekil"/>
          <p:cNvCxnSpPr/>
          <p:nvPr/>
        </p:nvCxnSpPr>
        <p:spPr>
          <a:xfrm rot="5400000" flipH="1" flipV="1">
            <a:off x="4347028" y="2861884"/>
            <a:ext cx="360040" cy="538270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1" name="60 Düz Bağlayıcı"/>
          <p:cNvCxnSpPr/>
          <p:nvPr/>
        </p:nvCxnSpPr>
        <p:spPr>
          <a:xfrm rot="5400000">
            <a:off x="7002376" y="5589240"/>
            <a:ext cx="43204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78887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Oval"/>
          <p:cNvSpPr/>
          <p:nvPr/>
        </p:nvSpPr>
        <p:spPr>
          <a:xfrm>
            <a:off x="323528" y="3140968"/>
            <a:ext cx="2952328" cy="6480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2 İçerik Yer Tutucusu"/>
          <p:cNvSpPr>
            <a:spLocks noGrp="1"/>
          </p:cNvSpPr>
          <p:nvPr>
            <p:ph idx="1"/>
          </p:nvPr>
        </p:nvSpPr>
        <p:spPr/>
        <p:txBody>
          <a:bodyPr>
            <a:normAutofit/>
          </a:bodyPr>
          <a:lstStyle/>
          <a:p>
            <a:pPr>
              <a:buNone/>
            </a:pPr>
            <a:r>
              <a:rPr lang="tr-TR" dirty="0"/>
              <a:t>Müşteri odaklılık</a:t>
            </a:r>
          </a:p>
          <a:p>
            <a:pPr>
              <a:buNone/>
            </a:pPr>
            <a:r>
              <a:rPr lang="tr-TR" dirty="0"/>
              <a:t>Liderlik</a:t>
            </a:r>
          </a:p>
          <a:p>
            <a:pPr>
              <a:buNone/>
            </a:pPr>
            <a:r>
              <a:rPr lang="tr-TR" dirty="0"/>
              <a:t>Kişilerin katılımı</a:t>
            </a:r>
          </a:p>
          <a:p>
            <a:pPr>
              <a:buNone/>
            </a:pPr>
            <a:r>
              <a:rPr lang="tr-TR" dirty="0"/>
              <a:t>Süreç yaklaşımı</a:t>
            </a:r>
          </a:p>
          <a:p>
            <a:pPr>
              <a:buNone/>
            </a:pPr>
            <a:r>
              <a:rPr lang="tr-TR" dirty="0"/>
              <a:t>Yönetimde sistem yaklaşımı</a:t>
            </a:r>
          </a:p>
          <a:p>
            <a:pPr>
              <a:buNone/>
            </a:pPr>
            <a:r>
              <a:rPr lang="tr-TR" dirty="0"/>
              <a:t>Sürekli iyileştirme</a:t>
            </a:r>
          </a:p>
          <a:p>
            <a:pPr>
              <a:buNone/>
            </a:pPr>
            <a:r>
              <a:rPr lang="tr-TR" dirty="0"/>
              <a:t>Karar vermede gerçekçi yaklaşım</a:t>
            </a:r>
          </a:p>
          <a:p>
            <a:pPr>
              <a:buNone/>
            </a:pPr>
            <a:r>
              <a:rPr lang="tr-TR" dirty="0"/>
              <a:t>Karşılıklı yarara dayalı tedarikçi ilişkileri</a:t>
            </a:r>
          </a:p>
        </p:txBody>
      </p:sp>
      <p:sp>
        <p:nvSpPr>
          <p:cNvPr id="2" name="1 Başlık"/>
          <p:cNvSpPr>
            <a:spLocks noGrp="1"/>
          </p:cNvSpPr>
          <p:nvPr>
            <p:ph type="title"/>
          </p:nvPr>
        </p:nvSpPr>
        <p:spPr/>
        <p:txBody>
          <a:bodyPr/>
          <a:lstStyle/>
          <a:p>
            <a:r>
              <a:rPr lang="tr-TR" dirty="0"/>
              <a:t>8 KALİTE YÖNETİM PRENSİBİ</a:t>
            </a:r>
          </a:p>
        </p:txBody>
      </p:sp>
      <p:sp>
        <p:nvSpPr>
          <p:cNvPr id="4" name="3 Dikdörtgen"/>
          <p:cNvSpPr/>
          <p:nvPr/>
        </p:nvSpPr>
        <p:spPr>
          <a:xfrm>
            <a:off x="4788024" y="1628800"/>
            <a:ext cx="4068960"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u="sng" dirty="0"/>
              <a:t>Süreç Yaklaşımı</a:t>
            </a:r>
          </a:p>
          <a:p>
            <a:pPr algn="ctr"/>
            <a:r>
              <a:rPr lang="tr-TR" dirty="0"/>
              <a:t>Arzulanan bir sonuç, faaliyetler ve ilgili kaynaklar bir süreç olarak yönetildiği zaman daha verimli olarak elde edilir</a:t>
            </a:r>
          </a:p>
        </p:txBody>
      </p:sp>
      <p:cxnSp>
        <p:nvCxnSpPr>
          <p:cNvPr id="7" name="6 Düz Ok Bağlayıcısı"/>
          <p:cNvCxnSpPr/>
          <p:nvPr/>
        </p:nvCxnSpPr>
        <p:spPr>
          <a:xfrm rot="10800000" flipV="1">
            <a:off x="3275856" y="2780928"/>
            <a:ext cx="1512168" cy="576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86113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Oval"/>
          <p:cNvSpPr/>
          <p:nvPr/>
        </p:nvSpPr>
        <p:spPr>
          <a:xfrm>
            <a:off x="611560" y="3861048"/>
            <a:ext cx="3960440"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2 İçerik Yer Tutucusu"/>
          <p:cNvSpPr>
            <a:spLocks noGrp="1"/>
          </p:cNvSpPr>
          <p:nvPr>
            <p:ph idx="1"/>
          </p:nvPr>
        </p:nvSpPr>
        <p:spPr>
          <a:xfrm>
            <a:off x="872067" y="1556792"/>
            <a:ext cx="7408333" cy="4569371"/>
          </a:xfrm>
        </p:spPr>
        <p:txBody>
          <a:bodyPr>
            <a:normAutofit/>
          </a:bodyPr>
          <a:lstStyle/>
          <a:p>
            <a:pPr>
              <a:lnSpc>
                <a:spcPct val="150000"/>
              </a:lnSpc>
              <a:spcBef>
                <a:spcPts val="0"/>
              </a:spcBef>
            </a:pPr>
            <a:r>
              <a:rPr lang="tr-TR" sz="2400" dirty="0"/>
              <a:t>Müşteri odaklık</a:t>
            </a:r>
          </a:p>
          <a:p>
            <a:pPr>
              <a:lnSpc>
                <a:spcPct val="150000"/>
              </a:lnSpc>
              <a:spcBef>
                <a:spcPts val="0"/>
              </a:spcBef>
            </a:pPr>
            <a:r>
              <a:rPr lang="tr-TR" sz="2400" dirty="0"/>
              <a:t>Liderlik                               </a:t>
            </a:r>
          </a:p>
          <a:p>
            <a:pPr>
              <a:lnSpc>
                <a:spcPct val="150000"/>
              </a:lnSpc>
              <a:spcBef>
                <a:spcPts val="0"/>
              </a:spcBef>
            </a:pPr>
            <a:r>
              <a:rPr lang="tr-TR" sz="2400" dirty="0"/>
              <a:t>Kişilerin katılımı</a:t>
            </a:r>
          </a:p>
          <a:p>
            <a:pPr>
              <a:lnSpc>
                <a:spcPct val="150000"/>
              </a:lnSpc>
              <a:spcBef>
                <a:spcPts val="0"/>
              </a:spcBef>
            </a:pPr>
            <a:r>
              <a:rPr lang="tr-TR" sz="2400" dirty="0"/>
              <a:t>Süreç yaklaşımı</a:t>
            </a:r>
          </a:p>
          <a:p>
            <a:pPr>
              <a:lnSpc>
                <a:spcPct val="150000"/>
              </a:lnSpc>
              <a:spcBef>
                <a:spcPts val="0"/>
              </a:spcBef>
            </a:pPr>
            <a:r>
              <a:rPr lang="tr-TR" sz="2400" dirty="0"/>
              <a:t>Yönetimde sistem yaklaşımı</a:t>
            </a:r>
          </a:p>
          <a:p>
            <a:pPr>
              <a:lnSpc>
                <a:spcPct val="150000"/>
              </a:lnSpc>
              <a:spcBef>
                <a:spcPts val="0"/>
              </a:spcBef>
            </a:pPr>
            <a:r>
              <a:rPr lang="tr-TR" sz="2400" dirty="0"/>
              <a:t>Sürekli iyileştirme</a:t>
            </a:r>
          </a:p>
          <a:p>
            <a:pPr>
              <a:lnSpc>
                <a:spcPct val="150000"/>
              </a:lnSpc>
              <a:spcBef>
                <a:spcPts val="0"/>
              </a:spcBef>
            </a:pPr>
            <a:r>
              <a:rPr lang="tr-TR" sz="2400" dirty="0"/>
              <a:t>Karar vermede gerçekçi yaklaşım</a:t>
            </a:r>
          </a:p>
          <a:p>
            <a:pPr>
              <a:lnSpc>
                <a:spcPct val="150000"/>
              </a:lnSpc>
              <a:spcBef>
                <a:spcPts val="0"/>
              </a:spcBef>
            </a:pPr>
            <a:r>
              <a:rPr lang="tr-TR" sz="2400" dirty="0"/>
              <a:t>Karşılıklı yarara dayalı tedarikçi ilişkileri</a:t>
            </a:r>
          </a:p>
        </p:txBody>
      </p:sp>
      <p:sp>
        <p:nvSpPr>
          <p:cNvPr id="2" name="1 Başlık"/>
          <p:cNvSpPr>
            <a:spLocks noGrp="1"/>
          </p:cNvSpPr>
          <p:nvPr>
            <p:ph type="title"/>
          </p:nvPr>
        </p:nvSpPr>
        <p:spPr/>
        <p:txBody>
          <a:bodyPr>
            <a:normAutofit fontScale="90000"/>
          </a:bodyPr>
          <a:lstStyle/>
          <a:p>
            <a:r>
              <a:rPr lang="tr-TR" dirty="0"/>
              <a:t>8 KALİTE YÖNETİM PRENSİBİ</a:t>
            </a:r>
            <a:br>
              <a:rPr lang="tr-TR" dirty="0"/>
            </a:br>
            <a:endParaRPr lang="tr-TR" dirty="0"/>
          </a:p>
        </p:txBody>
      </p:sp>
      <p:sp>
        <p:nvSpPr>
          <p:cNvPr id="5" name="4 Dikdörtgen"/>
          <p:cNvSpPr/>
          <p:nvPr/>
        </p:nvSpPr>
        <p:spPr>
          <a:xfrm>
            <a:off x="4211960" y="1556792"/>
            <a:ext cx="4464496"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u="sng" dirty="0"/>
              <a:t>Sistem Yaklaşımı</a:t>
            </a:r>
          </a:p>
          <a:p>
            <a:pPr algn="ctr"/>
            <a:r>
              <a:rPr lang="tr-TR" dirty="0"/>
              <a:t>Birbirleri ile ilişkili süreçlerin bir sistem olarak tanımlanması, anlaşılması ve yönetilmesi hedeflerin başarılmasında kuruluşun etkinliğine ve verimliliğine katkı yapar </a:t>
            </a:r>
          </a:p>
        </p:txBody>
      </p:sp>
      <p:cxnSp>
        <p:nvCxnSpPr>
          <p:cNvPr id="8" name="7 Düz Bağlayıcı"/>
          <p:cNvCxnSpPr/>
          <p:nvPr/>
        </p:nvCxnSpPr>
        <p:spPr>
          <a:xfrm rot="5400000">
            <a:off x="3275856" y="2996952"/>
            <a:ext cx="1152128" cy="72008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5459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2604045"/>
            <a:ext cx="8229600" cy="3777283"/>
          </a:xfrm>
        </p:spPr>
        <p:txBody>
          <a:bodyPr>
            <a:normAutofit/>
          </a:bodyPr>
          <a:lstStyle/>
          <a:p>
            <a:r>
              <a:rPr lang="tr-TR" sz="2400" dirty="0"/>
              <a:t>Süreçler nadiren tek başlarına bulunurlar.Bir sürecin çıktısı genellikle bir başka sürecin girdisini veya girdilerinin bir parçasını oluştururlar.</a:t>
            </a:r>
          </a:p>
          <a:p>
            <a:r>
              <a:rPr lang="tr-TR" sz="2400" dirty="0"/>
              <a:t>Süreçlerin birinin veya bir departman içinde kalan kısmının iyileştirilmesi,bu sürecin önündeki veya arkasındaki </a:t>
            </a:r>
            <a:r>
              <a:rPr lang="tr-TR" sz="2400" dirty="0" err="1"/>
              <a:t>süreçleride</a:t>
            </a:r>
            <a:r>
              <a:rPr lang="tr-TR" sz="2400" dirty="0"/>
              <a:t> etkileyecektir.</a:t>
            </a:r>
          </a:p>
          <a:p>
            <a:pPr>
              <a:buNone/>
            </a:pPr>
            <a:r>
              <a:rPr lang="tr-TR" sz="2400" dirty="0"/>
              <a:t>‘’Kalite yönetim sisteminde, değişikler planlanıp</a:t>
            </a:r>
          </a:p>
          <a:p>
            <a:pPr>
              <a:buNone/>
            </a:pPr>
            <a:r>
              <a:rPr lang="tr-TR" sz="2400" dirty="0"/>
              <a:t>   uygulandığında, kalite yönetim sisteminin bütünlüğü sürdürülmelidir.’’</a:t>
            </a:r>
          </a:p>
          <a:p>
            <a:endParaRPr lang="tr-TR" sz="2400" dirty="0"/>
          </a:p>
          <a:p>
            <a:endParaRPr lang="tr-TR" sz="2400" dirty="0"/>
          </a:p>
          <a:p>
            <a:endParaRPr lang="tr-TR" sz="2400" dirty="0"/>
          </a:p>
          <a:p>
            <a:endParaRPr lang="tr-TR" sz="2400" dirty="0"/>
          </a:p>
        </p:txBody>
      </p:sp>
      <p:sp>
        <p:nvSpPr>
          <p:cNvPr id="2" name="1 Başlık"/>
          <p:cNvSpPr>
            <a:spLocks noGrp="1"/>
          </p:cNvSpPr>
          <p:nvPr>
            <p:ph type="title"/>
          </p:nvPr>
        </p:nvSpPr>
        <p:spPr/>
        <p:txBody>
          <a:bodyPr>
            <a:normAutofit/>
          </a:bodyPr>
          <a:lstStyle/>
          <a:p>
            <a:r>
              <a:rPr lang="tr-TR" dirty="0"/>
              <a:t>SİSTEM YAKLAŞIMI</a:t>
            </a:r>
          </a:p>
        </p:txBody>
      </p:sp>
      <p:sp>
        <p:nvSpPr>
          <p:cNvPr id="5" name="4 Dikdörtgen"/>
          <p:cNvSpPr/>
          <p:nvPr/>
        </p:nvSpPr>
        <p:spPr>
          <a:xfrm>
            <a:off x="7308304" y="0"/>
            <a:ext cx="7200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9 Dikdörtgen"/>
          <p:cNvSpPr/>
          <p:nvPr/>
        </p:nvSpPr>
        <p:spPr>
          <a:xfrm>
            <a:off x="323528" y="1340768"/>
            <a:ext cx="8496944" cy="1080120"/>
          </a:xfrm>
          <a:prstGeom prst="rect">
            <a:avLst/>
          </a:prstGeom>
          <a:ln>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1" name="10 Sağ Ok"/>
          <p:cNvSpPr/>
          <p:nvPr/>
        </p:nvSpPr>
        <p:spPr>
          <a:xfrm>
            <a:off x="395536" y="1556792"/>
            <a:ext cx="792088"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11 Sağ Ok"/>
          <p:cNvSpPr/>
          <p:nvPr/>
        </p:nvSpPr>
        <p:spPr>
          <a:xfrm>
            <a:off x="7812360" y="1556792"/>
            <a:ext cx="792088"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12 Sağ Ok"/>
          <p:cNvSpPr/>
          <p:nvPr/>
        </p:nvSpPr>
        <p:spPr>
          <a:xfrm>
            <a:off x="5292080" y="1556792"/>
            <a:ext cx="792088"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13 Sağ Ok"/>
          <p:cNvSpPr/>
          <p:nvPr/>
        </p:nvSpPr>
        <p:spPr>
          <a:xfrm>
            <a:off x="2843808" y="1556792"/>
            <a:ext cx="792088"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14 Dikdörtgen"/>
          <p:cNvSpPr/>
          <p:nvPr/>
        </p:nvSpPr>
        <p:spPr>
          <a:xfrm>
            <a:off x="6228184" y="1412776"/>
            <a:ext cx="151216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 C</a:t>
            </a:r>
          </a:p>
        </p:txBody>
      </p:sp>
      <p:sp>
        <p:nvSpPr>
          <p:cNvPr id="16" name="15 Dikdörtgen"/>
          <p:cNvSpPr/>
          <p:nvPr/>
        </p:nvSpPr>
        <p:spPr>
          <a:xfrm>
            <a:off x="1259632" y="1412776"/>
            <a:ext cx="151216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 A</a:t>
            </a:r>
          </a:p>
        </p:txBody>
      </p:sp>
      <p:sp>
        <p:nvSpPr>
          <p:cNvPr id="17" name="16 Dikdörtgen"/>
          <p:cNvSpPr/>
          <p:nvPr/>
        </p:nvSpPr>
        <p:spPr>
          <a:xfrm>
            <a:off x="3707904" y="1412776"/>
            <a:ext cx="151216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Süreç B</a:t>
            </a:r>
          </a:p>
        </p:txBody>
      </p:sp>
    </p:spTree>
    <p:extLst>
      <p:ext uri="{BB962C8B-B14F-4D97-AF65-F5344CB8AC3E}">
        <p14:creationId xmlns:p14="http://schemas.microsoft.com/office/powerpoint/2010/main" val="23663403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a:bodyPr>
          <a:lstStyle/>
          <a:p>
            <a:pPr>
              <a:buNone/>
            </a:pPr>
            <a:r>
              <a:rPr lang="tr-TR" b="1" u="sng" dirty="0"/>
              <a:t>Madde 0.2</a:t>
            </a:r>
          </a:p>
          <a:p>
            <a:pPr>
              <a:buNone/>
            </a:pPr>
            <a:r>
              <a:rPr lang="tr-TR" dirty="0"/>
              <a:t>   Süreç yaklaşımı aşağıdaki konuların önemini vurgulamaktadır.</a:t>
            </a:r>
          </a:p>
          <a:p>
            <a:r>
              <a:rPr lang="tr-TR" dirty="0"/>
              <a:t>Şartları anlamak ve yerine getirmek.</a:t>
            </a:r>
          </a:p>
          <a:p>
            <a:r>
              <a:rPr lang="tr-TR" dirty="0"/>
              <a:t>Süreci yaratacağı katma değer açısından değerlendirmek.</a:t>
            </a:r>
          </a:p>
          <a:p>
            <a:r>
              <a:rPr lang="tr-TR" dirty="0"/>
              <a:t>Süreç performansının ve etkinliğinin sonuçlarını elde etmek.</a:t>
            </a:r>
          </a:p>
          <a:p>
            <a:r>
              <a:rPr lang="tr-TR" dirty="0"/>
              <a:t>Nesnel ölçümlere dayanarak süreçlerin iyileştirilmesi.</a:t>
            </a:r>
          </a:p>
          <a:p>
            <a:endParaRPr lang="tr-TR" dirty="0"/>
          </a:p>
        </p:txBody>
      </p:sp>
      <p:sp>
        <p:nvSpPr>
          <p:cNvPr id="2" name="1 Başlık"/>
          <p:cNvSpPr>
            <a:spLocks noGrp="1"/>
          </p:cNvSpPr>
          <p:nvPr>
            <p:ph type="title"/>
          </p:nvPr>
        </p:nvSpPr>
        <p:spPr/>
        <p:txBody>
          <a:bodyPr/>
          <a:lstStyle/>
          <a:p>
            <a:r>
              <a:rPr lang="tr-TR" b="1" dirty="0"/>
              <a:t>ISO 9001 :2008</a:t>
            </a:r>
          </a:p>
        </p:txBody>
      </p:sp>
    </p:spTree>
    <p:extLst>
      <p:ext uri="{BB962C8B-B14F-4D97-AF65-F5344CB8AC3E}">
        <p14:creationId xmlns:p14="http://schemas.microsoft.com/office/powerpoint/2010/main" val="16765597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85000" lnSpcReduction="10000"/>
          </a:bodyPr>
          <a:lstStyle/>
          <a:p>
            <a:pPr>
              <a:buNone/>
            </a:pPr>
            <a:r>
              <a:rPr lang="tr-TR" dirty="0"/>
              <a:t>Kuruluş;</a:t>
            </a:r>
          </a:p>
          <a:p>
            <a:r>
              <a:rPr lang="tr-TR" dirty="0"/>
              <a:t>KYS </a:t>
            </a:r>
            <a:r>
              <a:rPr lang="tr-TR" dirty="0" err="1"/>
              <a:t>nin</a:t>
            </a:r>
            <a:r>
              <a:rPr lang="tr-TR" dirty="0"/>
              <a:t> gerektirdiği süreçleri ve bütün kuruluştaki uygulamalarını tanımalı,</a:t>
            </a:r>
          </a:p>
          <a:p>
            <a:r>
              <a:rPr lang="tr-TR" dirty="0"/>
              <a:t>Süreçlerin sırasını ve birbirleri ile etkileşimini tayin etmeli,</a:t>
            </a:r>
          </a:p>
          <a:p>
            <a:r>
              <a:rPr lang="tr-TR" dirty="0"/>
              <a:t>Süreçlerin çalıştırılmasının ve kontrolünün etkinliğini sağlamak için gerekli kriterleri metotları tayin etmeli</a:t>
            </a:r>
          </a:p>
          <a:p>
            <a:r>
              <a:rPr lang="tr-TR" dirty="0"/>
              <a:t>Süreçlerin çalıştırılmasını ve izlenmesini desteklemek için gereken kaynağın ve bilginin hazır bulundurması sağlanmalı,</a:t>
            </a:r>
          </a:p>
          <a:p>
            <a:r>
              <a:rPr lang="tr-TR" dirty="0"/>
              <a:t>Bu süreçleri ölçmeli, analiz etmeli ve</a:t>
            </a:r>
          </a:p>
          <a:p>
            <a:r>
              <a:rPr lang="tr-TR" dirty="0"/>
              <a:t>Planlanmış sonuçları başarmak ve süreçleri sürekli iyileştirmek için gerekli </a:t>
            </a:r>
            <a:r>
              <a:rPr lang="tr-TR" dirty="0" err="1"/>
              <a:t>faliyetleri</a:t>
            </a:r>
            <a:r>
              <a:rPr lang="tr-TR" dirty="0"/>
              <a:t> uygulamalıdır.</a:t>
            </a:r>
          </a:p>
        </p:txBody>
      </p:sp>
      <p:sp>
        <p:nvSpPr>
          <p:cNvPr id="2" name="1 Başlık"/>
          <p:cNvSpPr>
            <a:spLocks noGrp="1"/>
          </p:cNvSpPr>
          <p:nvPr>
            <p:ph type="title"/>
          </p:nvPr>
        </p:nvSpPr>
        <p:spPr/>
        <p:txBody>
          <a:bodyPr>
            <a:normAutofit fontScale="90000"/>
          </a:bodyPr>
          <a:lstStyle/>
          <a:p>
            <a:r>
              <a:rPr lang="tr-TR" b="1" dirty="0"/>
              <a:t>ISO 9001 :2008</a:t>
            </a:r>
            <a:br>
              <a:rPr lang="tr-TR" b="1" dirty="0"/>
            </a:br>
            <a:r>
              <a:rPr lang="tr-TR" b="1" u="sng" dirty="0"/>
              <a:t>4.1 Genel Şartlar</a:t>
            </a:r>
          </a:p>
        </p:txBody>
      </p:sp>
    </p:spTree>
    <p:extLst>
      <p:ext uri="{BB962C8B-B14F-4D97-AF65-F5344CB8AC3E}">
        <p14:creationId xmlns:p14="http://schemas.microsoft.com/office/powerpoint/2010/main" val="38034334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lnSpcReduction="10000"/>
          </a:bodyPr>
          <a:lstStyle/>
          <a:p>
            <a:pPr>
              <a:buNone/>
            </a:pPr>
            <a:r>
              <a:rPr lang="tr-TR" b="1" u="sng" dirty="0"/>
              <a:t>8 Ölçme , analiz ve iyileştirme</a:t>
            </a:r>
          </a:p>
          <a:p>
            <a:pPr>
              <a:buNone/>
            </a:pPr>
            <a:r>
              <a:rPr lang="tr-TR" b="1" u="sng" dirty="0"/>
              <a:t>8.2.3 Süreçlerin izlenmesi ve ölçülmes</a:t>
            </a:r>
            <a:r>
              <a:rPr lang="tr-TR" b="1" dirty="0"/>
              <a:t>i</a:t>
            </a:r>
          </a:p>
          <a:p>
            <a:pPr>
              <a:buNone/>
            </a:pPr>
            <a:r>
              <a:rPr lang="tr-TR" dirty="0"/>
              <a:t>    Kuruluş,KYS süreçlerinin izlenmesi ve uygulanabilir durumlarda ölçülmesi için uygun metotları uygulamalıdır.Bu metotlar süreçlerin planlanan sonuçlara ulaşabilme yeteneğini göstermelidir.Planlanan sonuçlar başarılamadığında ürünün uygunluğunu sağlamak için gerektiğinde,düzeltmeler ve düzeltici faaliyetler başlatılmalıdır. </a:t>
            </a:r>
          </a:p>
        </p:txBody>
      </p:sp>
      <p:sp>
        <p:nvSpPr>
          <p:cNvPr id="2" name="1 Başlık"/>
          <p:cNvSpPr>
            <a:spLocks noGrp="1"/>
          </p:cNvSpPr>
          <p:nvPr>
            <p:ph type="title"/>
          </p:nvPr>
        </p:nvSpPr>
        <p:spPr/>
        <p:txBody>
          <a:bodyPr>
            <a:normAutofit fontScale="90000"/>
          </a:bodyPr>
          <a:lstStyle/>
          <a:p>
            <a:r>
              <a:rPr lang="tr-TR" b="1" dirty="0"/>
              <a:t>ISO 9001 :2008</a:t>
            </a:r>
            <a:br>
              <a:rPr lang="tr-TR" b="1" dirty="0"/>
            </a:br>
            <a:endParaRPr lang="tr-TR" b="1" dirty="0"/>
          </a:p>
        </p:txBody>
      </p:sp>
    </p:spTree>
    <p:extLst>
      <p:ext uri="{BB962C8B-B14F-4D97-AF65-F5344CB8AC3E}">
        <p14:creationId xmlns:p14="http://schemas.microsoft.com/office/powerpoint/2010/main" val="7248751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rtlCol="0">
            <a:normAutofit/>
          </a:bodyPr>
          <a:lstStyle/>
          <a:p>
            <a:pPr fontAlgn="auto">
              <a:spcAft>
                <a:spcPts val="0"/>
              </a:spcAft>
              <a:defRPr/>
            </a:pPr>
            <a:r>
              <a:rPr lang="tr-TR" sz="3600" dirty="0"/>
              <a:t>BÖLÜM 6</a:t>
            </a:r>
            <a:endParaRPr lang="en-US" sz="4900" dirty="0"/>
          </a:p>
        </p:txBody>
      </p:sp>
      <p:sp>
        <p:nvSpPr>
          <p:cNvPr id="3" name="Alt Başlık 2"/>
          <p:cNvSpPr>
            <a:spLocks noGrp="1"/>
          </p:cNvSpPr>
          <p:nvPr>
            <p:ph type="subTitle" idx="1"/>
          </p:nvPr>
        </p:nvSpPr>
        <p:spPr/>
        <p:txBody>
          <a:bodyPr>
            <a:noAutofit/>
          </a:bodyPr>
          <a:lstStyle/>
          <a:p>
            <a:r>
              <a:rPr lang="tr-TR" sz="4400" dirty="0"/>
              <a:t>SÜREÇ İYİLEŞTİRME</a:t>
            </a:r>
            <a:endParaRPr lang="en-GB" sz="4400" dirty="0"/>
          </a:p>
        </p:txBody>
      </p:sp>
    </p:spTree>
    <p:extLst>
      <p:ext uri="{BB962C8B-B14F-4D97-AF65-F5344CB8AC3E}">
        <p14:creationId xmlns:p14="http://schemas.microsoft.com/office/powerpoint/2010/main" val="17005512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a:bodyPr>
          <a:lstStyle/>
          <a:p>
            <a:pPr>
              <a:lnSpc>
                <a:spcPct val="150000"/>
              </a:lnSpc>
              <a:spcBef>
                <a:spcPts val="0"/>
              </a:spcBef>
            </a:pPr>
            <a:r>
              <a:rPr lang="tr-TR" sz="2400" dirty="0"/>
              <a:t>Müşteri ihtiyaçlarını karşılama</a:t>
            </a:r>
          </a:p>
          <a:p>
            <a:pPr>
              <a:lnSpc>
                <a:spcPct val="150000"/>
              </a:lnSpc>
              <a:spcBef>
                <a:spcPts val="0"/>
              </a:spcBef>
            </a:pPr>
            <a:r>
              <a:rPr lang="tr-TR" sz="2400" dirty="0"/>
              <a:t>Zamana ve gelişmelere uyum sağlama</a:t>
            </a:r>
          </a:p>
          <a:p>
            <a:pPr>
              <a:lnSpc>
                <a:spcPct val="150000"/>
              </a:lnSpc>
              <a:spcBef>
                <a:spcPts val="0"/>
              </a:spcBef>
            </a:pPr>
            <a:r>
              <a:rPr lang="tr-TR" sz="2400" dirty="0"/>
              <a:t>Daha hızlı ve verimli çalışma</a:t>
            </a:r>
          </a:p>
          <a:p>
            <a:pPr>
              <a:lnSpc>
                <a:spcPct val="150000"/>
              </a:lnSpc>
              <a:spcBef>
                <a:spcPts val="0"/>
              </a:spcBef>
            </a:pPr>
            <a:r>
              <a:rPr lang="tr-TR" sz="2400" dirty="0"/>
              <a:t>Kaynakları etkili kullanma</a:t>
            </a:r>
          </a:p>
          <a:p>
            <a:pPr>
              <a:lnSpc>
                <a:spcPct val="150000"/>
              </a:lnSpc>
              <a:spcBef>
                <a:spcPts val="0"/>
              </a:spcBef>
            </a:pPr>
            <a:r>
              <a:rPr lang="tr-TR" sz="2400" dirty="0"/>
              <a:t>Çalışanların organizasyon içindeki katkılarını artırma</a:t>
            </a:r>
          </a:p>
          <a:p>
            <a:pPr>
              <a:lnSpc>
                <a:spcPct val="150000"/>
              </a:lnSpc>
              <a:spcBef>
                <a:spcPts val="0"/>
              </a:spcBef>
            </a:pPr>
            <a:r>
              <a:rPr lang="tr-TR" sz="2400" dirty="0"/>
              <a:t>Yüksek kaliteli ürün ve hizmetlerin sunulması</a:t>
            </a:r>
          </a:p>
          <a:p>
            <a:pPr>
              <a:lnSpc>
                <a:spcPct val="150000"/>
              </a:lnSpc>
              <a:spcBef>
                <a:spcPts val="0"/>
              </a:spcBef>
            </a:pPr>
            <a:r>
              <a:rPr lang="tr-TR" sz="2400" dirty="0"/>
              <a:t>Maliyetlerin azaltılıp gelirlerin yükseltilmesi</a:t>
            </a:r>
          </a:p>
        </p:txBody>
      </p:sp>
      <p:sp>
        <p:nvSpPr>
          <p:cNvPr id="2" name="1 Başlık"/>
          <p:cNvSpPr>
            <a:spLocks noGrp="1"/>
          </p:cNvSpPr>
          <p:nvPr>
            <p:ph type="title"/>
          </p:nvPr>
        </p:nvSpPr>
        <p:spPr/>
        <p:txBody>
          <a:bodyPr/>
          <a:lstStyle/>
          <a:p>
            <a:r>
              <a:rPr lang="tr-TR" dirty="0"/>
              <a:t>NEDEN SÜREÇ İYİLEŞTİRME ?</a:t>
            </a:r>
          </a:p>
        </p:txBody>
      </p:sp>
    </p:spTree>
    <p:extLst>
      <p:ext uri="{BB962C8B-B14F-4D97-AF65-F5344CB8AC3E}">
        <p14:creationId xmlns:p14="http://schemas.microsoft.com/office/powerpoint/2010/main" val="15063505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l"/>
            <a:r>
              <a:rPr lang="en-US" sz="2800"/>
              <a:t>NEDEN S</a:t>
            </a:r>
            <a:r>
              <a:rPr lang="tr-TR" sz="2800"/>
              <a:t>ÜREÇ İYİLEŞTİRME?</a:t>
            </a:r>
            <a:endParaRPr lang="en-US" sz="2800"/>
          </a:p>
        </p:txBody>
      </p:sp>
      <p:sp>
        <p:nvSpPr>
          <p:cNvPr id="3075" name="Subtitle 2"/>
          <p:cNvSpPr>
            <a:spLocks noGrp="1"/>
          </p:cNvSpPr>
          <p:nvPr>
            <p:ph sz="quarter" idx="1"/>
          </p:nvPr>
        </p:nvSpPr>
        <p:spPr>
          <a:xfrm>
            <a:off x="612648" y="1600200"/>
            <a:ext cx="8153400" cy="4942114"/>
          </a:xfrm>
        </p:spPr>
        <p:txBody>
          <a:bodyPr>
            <a:noAutofit/>
          </a:bodyPr>
          <a:lstStyle/>
          <a:p>
            <a:pPr marL="342900" indent="-342900" algn="l">
              <a:buFont typeface="Wingdings" pitchFamily="2" charset="2"/>
              <a:buChar char="Ø"/>
            </a:pPr>
            <a:r>
              <a:rPr lang="tr-TR" sz="2400" dirty="0">
                <a:solidFill>
                  <a:schemeClr val="tx1"/>
                </a:solidFill>
              </a:rPr>
              <a:t>İşletmelerin içinde bulunduğu sektörde başarıyı veya başarısızlığı belirleyen faktörler mevcuttur. </a:t>
            </a:r>
            <a:r>
              <a:rPr lang="tr-TR" sz="2400" b="1" i="1" dirty="0">
                <a:solidFill>
                  <a:schemeClr val="tx1"/>
                </a:solidFill>
              </a:rPr>
              <a:t>(Kritik Başarı Faktörleri)</a:t>
            </a:r>
          </a:p>
          <a:p>
            <a:pPr marL="342900" indent="-342900" algn="l">
              <a:buFont typeface="Wingdings" pitchFamily="2" charset="2"/>
              <a:buChar char="Ø"/>
            </a:pPr>
            <a:r>
              <a:rPr lang="tr-TR" sz="2400" dirty="0">
                <a:solidFill>
                  <a:schemeClr val="tx1"/>
                </a:solidFill>
              </a:rPr>
              <a:t>Kritik Başarı Faktörleri üzerine etkisi büyük, gelişme ihtiyacı yüksek, iyileştirme önceliğine sahip süreçler </a:t>
            </a:r>
            <a:r>
              <a:rPr lang="en-US" sz="2400" b="1" dirty="0">
                <a:solidFill>
                  <a:schemeClr val="tx1"/>
                </a:solidFill>
              </a:rPr>
              <a:t>“</a:t>
            </a:r>
            <a:r>
              <a:rPr lang="en-US" sz="2400" b="1" dirty="0" err="1">
                <a:solidFill>
                  <a:schemeClr val="tx1"/>
                </a:solidFill>
              </a:rPr>
              <a:t>Kritik</a:t>
            </a:r>
            <a:r>
              <a:rPr lang="tr-TR" sz="2400" b="1" dirty="0">
                <a:solidFill>
                  <a:schemeClr val="tx1"/>
                </a:solidFill>
              </a:rPr>
              <a:t> Süreçler</a:t>
            </a:r>
            <a:r>
              <a:rPr lang="en-US" sz="2400" b="1" dirty="0">
                <a:solidFill>
                  <a:schemeClr val="tx1"/>
                </a:solidFill>
              </a:rPr>
              <a:t>”</a:t>
            </a:r>
            <a:r>
              <a:rPr lang="tr-TR" sz="2400" dirty="0">
                <a:solidFill>
                  <a:schemeClr val="tx1"/>
                </a:solidFill>
              </a:rPr>
              <a:t> olarak adlandırılır.</a:t>
            </a:r>
          </a:p>
          <a:p>
            <a:pPr marL="342900" indent="-342900" algn="l">
              <a:buFont typeface="Wingdings" pitchFamily="2" charset="2"/>
              <a:buChar char="Ø"/>
            </a:pPr>
            <a:r>
              <a:rPr lang="tr-TR" sz="2400" dirty="0">
                <a:solidFill>
                  <a:schemeClr val="tx1"/>
                </a:solidFill>
              </a:rPr>
              <a:t>İşletmelerin başarısı; kritik süreçlerden başlayarak tüm süreçlerin, sistem yaklaşımı ile iyileştirmesi ve bu süreçlerin performansının, rakiplerin performansından daha iyi olması ile mümkündür.</a:t>
            </a:r>
          </a:p>
          <a:p>
            <a:pPr marL="342900" indent="-342900" algn="l">
              <a:buFont typeface="Wingdings" pitchFamily="2" charset="2"/>
              <a:buChar char="Ø"/>
            </a:pPr>
            <a:r>
              <a:rPr lang="tr-TR" sz="2400" dirty="0">
                <a:solidFill>
                  <a:schemeClr val="tx1"/>
                </a:solidFill>
              </a:rPr>
              <a:t>Çünkü; müşteri istekleri, teknoloji, ürünler sürekli olarak gelişmekte ve değişmektedir.</a:t>
            </a:r>
            <a:endParaRPr lang="en-US" sz="2400" dirty="0">
              <a:solidFill>
                <a:schemeClr val="tx1"/>
              </a:solidFill>
            </a:endParaRPr>
          </a:p>
        </p:txBody>
      </p:sp>
    </p:spTree>
    <p:extLst>
      <p:ext uri="{BB962C8B-B14F-4D97-AF65-F5344CB8AC3E}">
        <p14:creationId xmlns:p14="http://schemas.microsoft.com/office/powerpoint/2010/main" val="40516254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alibri" pitchFamily="34" charset="0"/>
                <a:cs typeface="Calibri" pitchFamily="34" charset="0"/>
              </a:rPr>
              <a:t>SÜREÇLERİN İYİLEŞTİRİLMESİ</a:t>
            </a:r>
            <a:endParaRPr lang="tr-TR" dirty="0"/>
          </a:p>
        </p:txBody>
      </p:sp>
      <p:sp>
        <p:nvSpPr>
          <p:cNvPr id="3" name="Content Placeholder 2"/>
          <p:cNvSpPr>
            <a:spLocks noGrp="1"/>
          </p:cNvSpPr>
          <p:nvPr>
            <p:ph sz="quarter" idx="1"/>
          </p:nvPr>
        </p:nvSpPr>
        <p:spPr>
          <a:xfrm>
            <a:off x="612648" y="1816953"/>
            <a:ext cx="8153400" cy="4495800"/>
          </a:xfrm>
        </p:spPr>
        <p:txBody>
          <a:bodyPr>
            <a:normAutofit fontScale="70000" lnSpcReduction="20000"/>
          </a:bodyPr>
          <a:lstStyle/>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Neden</a:t>
            </a:r>
            <a:r>
              <a:rPr lang="en-US" sz="3200" b="1" dirty="0">
                <a:effectLst>
                  <a:outerShdw blurRad="38100" dist="38100" dir="2700000" algn="tl">
                    <a:srgbClr val="000000">
                      <a:alpha val="43137"/>
                    </a:srgbClr>
                  </a:outerShdw>
                </a:effectLst>
                <a:latin typeface="Calibri" pitchFamily="34" charset="0"/>
                <a:cs typeface="Calibri" pitchFamily="34" charset="0"/>
              </a:rPr>
              <a:t> ?</a:t>
            </a:r>
            <a:endParaRPr lang="tr-TR"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Hizmet</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alanların</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ihtiyaçlarını</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daha</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iyi</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karşılama</a:t>
            </a:r>
            <a:endParaRPr lang="en-US"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Zamana</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ve</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gelişmelere</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uyum</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sağlama</a:t>
            </a:r>
            <a:endParaRPr lang="en-US"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Daha</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hızlı</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ve</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daha</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verimli</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çalışma</a:t>
            </a:r>
            <a:endParaRPr lang="en-US"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Kaynakların</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daha</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etkili</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kullanımı</a:t>
            </a:r>
            <a:endParaRPr lang="en-US"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Çalışanların</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katkılarını</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artırma</a:t>
            </a:r>
            <a:endParaRPr lang="en-US"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Ürün</a:t>
            </a:r>
            <a:r>
              <a:rPr lang="en-US" sz="3200" b="1" dirty="0">
                <a:effectLst>
                  <a:outerShdw blurRad="38100" dist="38100" dir="2700000" algn="tl">
                    <a:srgbClr val="000000">
                      <a:alpha val="43137"/>
                    </a:srgbClr>
                  </a:outerShdw>
                </a:effectLst>
                <a:latin typeface="Calibri" pitchFamily="34" charset="0"/>
                <a:cs typeface="Calibri" pitchFamily="34" charset="0"/>
              </a:rPr>
              <a:t>/</a:t>
            </a:r>
            <a:r>
              <a:rPr lang="en-US" sz="3200" b="1" dirty="0" err="1">
                <a:effectLst>
                  <a:outerShdw blurRad="38100" dist="38100" dir="2700000" algn="tl">
                    <a:srgbClr val="000000">
                      <a:alpha val="43137"/>
                    </a:srgbClr>
                  </a:outerShdw>
                </a:effectLst>
                <a:latin typeface="Calibri" pitchFamily="34" charset="0"/>
                <a:cs typeface="Calibri" pitchFamily="34" charset="0"/>
              </a:rPr>
              <a:t>hizmet</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kalitesinin</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daha</a:t>
            </a:r>
            <a:r>
              <a:rPr lang="en-US" sz="3200" b="1" dirty="0">
                <a:effectLst>
                  <a:outerShdw blurRad="38100" dist="38100" dir="2700000" algn="tl">
                    <a:srgbClr val="000000">
                      <a:alpha val="43137"/>
                    </a:srgbClr>
                  </a:outerShdw>
                </a:effectLst>
                <a:latin typeface="Calibri" pitchFamily="34" charset="0"/>
                <a:cs typeface="Calibri" pitchFamily="34" charset="0"/>
              </a:rPr>
              <a:t> da </a:t>
            </a:r>
            <a:r>
              <a:rPr lang="en-US" sz="3200" b="1" dirty="0" err="1">
                <a:effectLst>
                  <a:outerShdw blurRad="38100" dist="38100" dir="2700000" algn="tl">
                    <a:srgbClr val="000000">
                      <a:alpha val="43137"/>
                    </a:srgbClr>
                  </a:outerShdw>
                </a:effectLst>
                <a:latin typeface="Calibri" pitchFamily="34" charset="0"/>
                <a:cs typeface="Calibri" pitchFamily="34" charset="0"/>
              </a:rPr>
              <a:t>yükseltilmesi</a:t>
            </a:r>
            <a:endParaRPr lang="en-US" sz="32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3200" b="1" dirty="0" err="1">
                <a:effectLst>
                  <a:outerShdw blurRad="38100" dist="38100" dir="2700000" algn="tl">
                    <a:srgbClr val="000000">
                      <a:alpha val="43137"/>
                    </a:srgbClr>
                  </a:outerShdw>
                </a:effectLst>
                <a:latin typeface="Calibri" pitchFamily="34" charset="0"/>
                <a:cs typeface="Calibri" pitchFamily="34" charset="0"/>
              </a:rPr>
              <a:t>Maliyetlerde</a:t>
            </a:r>
            <a:r>
              <a:rPr lang="en-US" sz="3200" b="1" dirty="0">
                <a:effectLst>
                  <a:outerShdw blurRad="38100" dist="38100" dir="2700000" algn="tl">
                    <a:srgbClr val="000000">
                      <a:alpha val="43137"/>
                    </a:srgbClr>
                  </a:outerShdw>
                </a:effectLst>
                <a:latin typeface="Calibri" pitchFamily="34" charset="0"/>
                <a:cs typeface="Calibri" pitchFamily="34" charset="0"/>
              </a:rPr>
              <a:t> </a:t>
            </a:r>
            <a:r>
              <a:rPr lang="en-US" sz="3200" b="1" dirty="0" err="1">
                <a:effectLst>
                  <a:outerShdw blurRad="38100" dist="38100" dir="2700000" algn="tl">
                    <a:srgbClr val="000000">
                      <a:alpha val="43137"/>
                    </a:srgbClr>
                  </a:outerShdw>
                </a:effectLst>
                <a:latin typeface="Calibri" pitchFamily="34" charset="0"/>
                <a:cs typeface="Calibri" pitchFamily="34" charset="0"/>
              </a:rPr>
              <a:t>azalış</a:t>
            </a:r>
            <a:endParaRPr lang="en-US" sz="3200" b="1" dirty="0">
              <a:effectLst>
                <a:outerShdw blurRad="38100" dist="38100" dir="2700000" algn="tl">
                  <a:srgbClr val="000000">
                    <a:alpha val="43137"/>
                  </a:srgbClr>
                </a:outerShdw>
              </a:effectLst>
              <a:latin typeface="Calibri" pitchFamily="34" charset="0"/>
              <a:cs typeface="Calibri" pitchFamily="34" charset="0"/>
            </a:endParaRPr>
          </a:p>
        </p:txBody>
      </p:sp>
    </p:spTree>
    <p:extLst>
      <p:ext uri="{BB962C8B-B14F-4D97-AF65-F5344CB8AC3E}">
        <p14:creationId xmlns:p14="http://schemas.microsoft.com/office/powerpoint/2010/main" val="2877579539"/>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3520"/>
            <a:ext cx="8153400" cy="990600"/>
          </a:xfrm>
        </p:spPr>
        <p:txBody>
          <a:bodyPr>
            <a:normAutofit/>
          </a:bodyPr>
          <a:lstStyle/>
          <a:p>
            <a:r>
              <a:rPr lang="en-US" b="1" dirty="0">
                <a:latin typeface="Calibri" pitchFamily="34" charset="0"/>
                <a:cs typeface="Calibri" pitchFamily="34" charset="0"/>
              </a:rPr>
              <a:t>SÜREÇ İYİLEŞTİRME İLKELERİ</a:t>
            </a:r>
            <a:endParaRPr lang="tr-TR" dirty="0"/>
          </a:p>
        </p:txBody>
      </p:sp>
      <p:sp>
        <p:nvSpPr>
          <p:cNvPr id="3" name="Content Placeholder 2"/>
          <p:cNvSpPr>
            <a:spLocks noGrp="1"/>
          </p:cNvSpPr>
          <p:nvPr>
            <p:ph sz="quarter" idx="1"/>
          </p:nvPr>
        </p:nvSpPr>
        <p:spPr/>
        <p:txBody>
          <a:bodyPr>
            <a:normAutofit/>
          </a:bodyPr>
          <a:lstStyle/>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Sadeleştirme</a:t>
            </a:r>
            <a:endParaRPr lang="tr-TR"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Katma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değer</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yaratmayan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adımların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kaldırılması</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Kontrol</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ve</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karar</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adımlarının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azaltılması</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Hata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önleyici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sistemlerin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kullanılması</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Az</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sayıd</a:t>
            </a:r>
            <a:r>
              <a:rPr lang="tr-TR" sz="2400" b="1" dirty="0">
                <a:effectLst>
                  <a:outerShdw blurRad="38100" dist="38100" dir="2700000" algn="tl">
                    <a:srgbClr val="000000">
                      <a:alpha val="43137"/>
                    </a:srgbClr>
                  </a:outerShdw>
                </a:effectLst>
                <a:latin typeface="Calibri" pitchFamily="34" charset="0"/>
                <a:cs typeface="Calibri" pitchFamily="34" charset="0"/>
              </a:rPr>
              <a:t>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fakat</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etkin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personel</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kullanımı</a:t>
            </a:r>
            <a:endParaRPr lang="en-US" sz="2400" b="1" dirty="0">
              <a:effectLst>
                <a:outerShdw blurRad="38100" dist="38100" dir="2700000" algn="tl">
                  <a:srgbClr val="000000">
                    <a:alpha val="43137"/>
                  </a:srgbClr>
                </a:outerShdw>
              </a:effectLst>
              <a:latin typeface="Calibri" pitchFamily="34" charset="0"/>
              <a:cs typeface="Calibri" pitchFamily="34" charset="0"/>
            </a:endParaRPr>
          </a:p>
          <a:p>
            <a:pPr>
              <a:lnSpc>
                <a:spcPct val="150000"/>
              </a:lnSpc>
            </a:pPr>
            <a:r>
              <a:rPr lang="en-US" sz="2400" b="1" dirty="0" err="1">
                <a:effectLst>
                  <a:outerShdw blurRad="38100" dist="38100" dir="2700000" algn="tl">
                    <a:srgbClr val="000000">
                      <a:alpha val="43137"/>
                    </a:srgbClr>
                  </a:outerShdw>
                </a:effectLst>
                <a:latin typeface="Calibri" pitchFamily="34" charset="0"/>
                <a:cs typeface="Calibri" pitchFamily="34" charset="0"/>
              </a:rPr>
              <a:t>Tekrar</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eden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faaliyetlerin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ortadan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kaldırılması</a:t>
            </a:r>
            <a:endParaRPr lang="tr-TR" sz="2000" dirty="0"/>
          </a:p>
        </p:txBody>
      </p:sp>
    </p:spTree>
    <p:extLst>
      <p:ext uri="{BB962C8B-B14F-4D97-AF65-F5344CB8AC3E}">
        <p14:creationId xmlns:p14="http://schemas.microsoft.com/office/powerpoint/2010/main" val="27283598"/>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248920"/>
            <a:ext cx="8153400" cy="990600"/>
          </a:xfrm>
        </p:spPr>
        <p:txBody>
          <a:bodyPr>
            <a:normAutofit/>
          </a:bodyPr>
          <a:lstStyle/>
          <a:p>
            <a:r>
              <a:rPr lang="en-US" b="1" dirty="0">
                <a:latin typeface="Calibri" pitchFamily="34" charset="0"/>
                <a:cs typeface="Calibri" pitchFamily="34" charset="0"/>
              </a:rPr>
              <a:t>SÜREÇ İYİLEŞTİRME İLKELERİ</a:t>
            </a:r>
            <a:endParaRPr lang="tr-TR" dirty="0"/>
          </a:p>
        </p:txBody>
      </p:sp>
      <p:sp>
        <p:nvSpPr>
          <p:cNvPr id="3" name="Content Placeholder 2"/>
          <p:cNvSpPr>
            <a:spLocks noGrp="1"/>
          </p:cNvSpPr>
          <p:nvPr>
            <p:ph sz="quarter" idx="1"/>
          </p:nvPr>
        </p:nvSpPr>
        <p:spPr/>
        <p:txBody>
          <a:bodyPr>
            <a:normAutofit/>
          </a:bodyPr>
          <a:lstStyle/>
          <a:p>
            <a:pPr>
              <a:lnSpc>
                <a:spcPct val="150000"/>
              </a:lnSpc>
            </a:pPr>
            <a:r>
              <a:rPr lang="en-US" sz="2800" b="1" dirty="0" err="1">
                <a:latin typeface="Calibri" pitchFamily="34" charset="0"/>
                <a:cs typeface="Calibri" pitchFamily="34" charset="0"/>
              </a:rPr>
              <a:t>Basitleştirme</a:t>
            </a:r>
            <a:endParaRPr lang="tr-TR" sz="2800" b="1" dirty="0">
              <a:latin typeface="Calibri" pitchFamily="34" charset="0"/>
              <a:cs typeface="Calibri" pitchFamily="34" charset="0"/>
            </a:endParaRPr>
          </a:p>
          <a:p>
            <a:pPr>
              <a:lnSpc>
                <a:spcPct val="150000"/>
              </a:lnSpc>
            </a:pPr>
            <a:r>
              <a:rPr lang="en-US" sz="2800" b="1" dirty="0" err="1">
                <a:latin typeface="Calibri" pitchFamily="34" charset="0"/>
                <a:cs typeface="Calibri" pitchFamily="34" charset="0"/>
              </a:rPr>
              <a:t>İşlerin</a:t>
            </a:r>
            <a:r>
              <a:rPr lang="en-US" sz="2800" b="1" dirty="0">
                <a:latin typeface="Calibri" pitchFamily="34" charset="0"/>
                <a:cs typeface="Calibri" pitchFamily="34" charset="0"/>
              </a:rPr>
              <a:t> </a:t>
            </a:r>
            <a:r>
              <a:rPr lang="en-US" sz="2800" b="1" dirty="0" err="1">
                <a:latin typeface="Calibri" pitchFamily="34" charset="0"/>
                <a:cs typeface="Calibri" pitchFamily="34" charset="0"/>
              </a:rPr>
              <a:t>olabildiğince</a:t>
            </a:r>
            <a:r>
              <a:rPr lang="en-US" sz="2800" b="1" dirty="0">
                <a:latin typeface="Calibri" pitchFamily="34" charset="0"/>
                <a:cs typeface="Calibri" pitchFamily="34" charset="0"/>
              </a:rPr>
              <a:t> </a:t>
            </a:r>
            <a:r>
              <a:rPr lang="en-US" sz="2800" b="1" dirty="0" err="1">
                <a:latin typeface="Calibri" pitchFamily="34" charset="0"/>
                <a:cs typeface="Calibri" pitchFamily="34" charset="0"/>
              </a:rPr>
              <a:t>paralel</a:t>
            </a:r>
            <a:r>
              <a:rPr lang="en-US" sz="2800" b="1" dirty="0">
                <a:latin typeface="Calibri" pitchFamily="34" charset="0"/>
                <a:cs typeface="Calibri" pitchFamily="34" charset="0"/>
              </a:rPr>
              <a:t> </a:t>
            </a:r>
            <a:r>
              <a:rPr lang="en-US" sz="2800" b="1" dirty="0" err="1">
                <a:latin typeface="Calibri" pitchFamily="34" charset="0"/>
                <a:cs typeface="Calibri" pitchFamily="34" charset="0"/>
              </a:rPr>
              <a:t>gerçekleştirilmesi</a:t>
            </a:r>
            <a:endParaRPr lang="en-US" sz="2800" b="1" dirty="0">
              <a:latin typeface="Calibri" pitchFamily="34" charset="0"/>
              <a:cs typeface="Calibri" pitchFamily="34" charset="0"/>
            </a:endParaRPr>
          </a:p>
          <a:p>
            <a:pPr>
              <a:lnSpc>
                <a:spcPct val="150000"/>
              </a:lnSpc>
            </a:pPr>
            <a:r>
              <a:rPr lang="en-US" sz="2800" b="1" dirty="0" err="1">
                <a:latin typeface="Calibri" pitchFamily="34" charset="0"/>
                <a:cs typeface="Calibri" pitchFamily="34" charset="0"/>
              </a:rPr>
              <a:t>Ekip</a:t>
            </a:r>
            <a:r>
              <a:rPr lang="en-US" sz="2800" b="1" dirty="0">
                <a:latin typeface="Calibri" pitchFamily="34" charset="0"/>
                <a:cs typeface="Calibri" pitchFamily="34" charset="0"/>
              </a:rPr>
              <a:t> </a:t>
            </a:r>
            <a:r>
              <a:rPr lang="en-US" sz="2800" b="1" dirty="0" err="1">
                <a:latin typeface="Calibri" pitchFamily="34" charset="0"/>
                <a:cs typeface="Calibri" pitchFamily="34" charset="0"/>
              </a:rPr>
              <a:t>odaklı</a:t>
            </a:r>
            <a:r>
              <a:rPr lang="en-US" sz="2800" b="1" dirty="0">
                <a:latin typeface="Calibri" pitchFamily="34" charset="0"/>
                <a:cs typeface="Calibri" pitchFamily="34" charset="0"/>
              </a:rPr>
              <a:t> </a:t>
            </a:r>
            <a:r>
              <a:rPr lang="en-US" sz="2800" b="1" dirty="0" err="1">
                <a:latin typeface="Calibri" pitchFamily="34" charset="0"/>
                <a:cs typeface="Calibri" pitchFamily="34" charset="0"/>
              </a:rPr>
              <a:t>çalışılması</a:t>
            </a:r>
            <a:r>
              <a:rPr lang="en-US" sz="2800" b="1" dirty="0">
                <a:latin typeface="Calibri" pitchFamily="34" charset="0"/>
                <a:cs typeface="Calibri" pitchFamily="34" charset="0"/>
              </a:rPr>
              <a:t>, </a:t>
            </a:r>
            <a:r>
              <a:rPr lang="en-US" sz="2800" b="1" dirty="0" err="1">
                <a:latin typeface="Calibri" pitchFamily="34" charset="0"/>
                <a:cs typeface="Calibri" pitchFamily="34" charset="0"/>
              </a:rPr>
              <a:t>yetki</a:t>
            </a:r>
            <a:r>
              <a:rPr lang="en-US" sz="2800" b="1" dirty="0">
                <a:latin typeface="Calibri" pitchFamily="34" charset="0"/>
                <a:cs typeface="Calibri" pitchFamily="34" charset="0"/>
              </a:rPr>
              <a:t> </a:t>
            </a:r>
            <a:r>
              <a:rPr lang="en-US" sz="2800" b="1" dirty="0" err="1">
                <a:latin typeface="Calibri" pitchFamily="34" charset="0"/>
                <a:cs typeface="Calibri" pitchFamily="34" charset="0"/>
              </a:rPr>
              <a:t>ve</a:t>
            </a:r>
            <a:r>
              <a:rPr lang="en-US" sz="2800" b="1" dirty="0">
                <a:latin typeface="Calibri" pitchFamily="34" charset="0"/>
                <a:cs typeface="Calibri" pitchFamily="34" charset="0"/>
              </a:rPr>
              <a:t> </a:t>
            </a:r>
            <a:r>
              <a:rPr lang="en-US" sz="2800" b="1" dirty="0" err="1">
                <a:latin typeface="Calibri" pitchFamily="34" charset="0"/>
                <a:cs typeface="Calibri" pitchFamily="34" charset="0"/>
              </a:rPr>
              <a:t>sorumlulukların</a:t>
            </a:r>
            <a:r>
              <a:rPr lang="en-US" sz="2800" b="1" dirty="0">
                <a:latin typeface="Calibri" pitchFamily="34" charset="0"/>
                <a:cs typeface="Calibri" pitchFamily="34" charset="0"/>
              </a:rPr>
              <a:t> </a:t>
            </a:r>
            <a:r>
              <a:rPr lang="en-US" sz="2800" b="1" dirty="0" err="1">
                <a:latin typeface="Calibri" pitchFamily="34" charset="0"/>
                <a:cs typeface="Calibri" pitchFamily="34" charset="0"/>
              </a:rPr>
              <a:t>dağıtılması</a:t>
            </a:r>
            <a:endParaRPr lang="en-US" sz="2800" b="1" dirty="0">
              <a:latin typeface="Calibri" pitchFamily="34" charset="0"/>
              <a:cs typeface="Calibri" pitchFamily="34" charset="0"/>
            </a:endParaRPr>
          </a:p>
          <a:p>
            <a:pPr>
              <a:lnSpc>
                <a:spcPct val="150000"/>
              </a:lnSpc>
            </a:pPr>
            <a:r>
              <a:rPr lang="en-US" sz="2800" b="1" dirty="0" err="1">
                <a:latin typeface="Calibri" pitchFamily="34" charset="0"/>
                <a:cs typeface="Calibri" pitchFamily="34" charset="0"/>
              </a:rPr>
              <a:t>Teknoloji</a:t>
            </a:r>
            <a:r>
              <a:rPr lang="en-US" sz="2800" b="1" dirty="0">
                <a:latin typeface="Calibri" pitchFamily="34" charset="0"/>
                <a:cs typeface="Calibri" pitchFamily="34" charset="0"/>
              </a:rPr>
              <a:t> </a:t>
            </a:r>
            <a:r>
              <a:rPr lang="en-US" sz="2800" b="1" dirty="0" err="1">
                <a:latin typeface="Calibri" pitchFamily="34" charset="0"/>
                <a:cs typeface="Calibri" pitchFamily="34" charset="0"/>
              </a:rPr>
              <a:t>kullanımı</a:t>
            </a:r>
            <a:r>
              <a:rPr lang="en-US" sz="2800" b="1" dirty="0">
                <a:latin typeface="Calibri" pitchFamily="34" charset="0"/>
                <a:cs typeface="Calibri" pitchFamily="34" charset="0"/>
              </a:rPr>
              <a:t> (</a:t>
            </a:r>
            <a:r>
              <a:rPr lang="en-US" sz="2800" b="1" dirty="0" err="1">
                <a:latin typeface="Calibri" pitchFamily="34" charset="0"/>
                <a:cs typeface="Calibri" pitchFamily="34" charset="0"/>
              </a:rPr>
              <a:t>otomasyon</a:t>
            </a:r>
            <a:r>
              <a:rPr lang="en-US" sz="2800" b="1" dirty="0">
                <a:latin typeface="Calibri" pitchFamily="34" charset="0"/>
                <a:cs typeface="Calibri" pitchFamily="34" charset="0"/>
              </a:rPr>
              <a:t>, </a:t>
            </a:r>
            <a:r>
              <a:rPr lang="en-US" sz="2800" b="1" dirty="0" err="1">
                <a:latin typeface="Calibri" pitchFamily="34" charset="0"/>
                <a:cs typeface="Calibri" pitchFamily="34" charset="0"/>
              </a:rPr>
              <a:t>uzman</a:t>
            </a:r>
            <a:r>
              <a:rPr lang="en-US" sz="2800" b="1" dirty="0">
                <a:latin typeface="Calibri" pitchFamily="34" charset="0"/>
                <a:cs typeface="Calibri" pitchFamily="34" charset="0"/>
              </a:rPr>
              <a:t> </a:t>
            </a:r>
            <a:r>
              <a:rPr lang="en-US" sz="2800" b="1" dirty="0" err="1">
                <a:latin typeface="Calibri" pitchFamily="34" charset="0"/>
                <a:cs typeface="Calibri" pitchFamily="34" charset="0"/>
              </a:rPr>
              <a:t>sistemler</a:t>
            </a:r>
            <a:r>
              <a:rPr lang="en-US" sz="2800" b="1" dirty="0">
                <a:latin typeface="Calibri" pitchFamily="34" charset="0"/>
                <a:cs typeface="Calibri" pitchFamily="34" charset="0"/>
              </a:rPr>
              <a:t>,…</a:t>
            </a:r>
            <a:r>
              <a:rPr lang="en-US" sz="2800" b="1" dirty="0" err="1">
                <a:latin typeface="Calibri" pitchFamily="34" charset="0"/>
                <a:cs typeface="Calibri" pitchFamily="34" charset="0"/>
              </a:rPr>
              <a:t>v.b</a:t>
            </a:r>
            <a:r>
              <a:rPr lang="en-US" sz="2800" b="1" dirty="0">
                <a:latin typeface="Calibri" pitchFamily="34" charset="0"/>
                <a:cs typeface="Calibri" pitchFamily="34" charset="0"/>
              </a:rPr>
              <a:t>.)</a:t>
            </a:r>
            <a:endParaRPr lang="tr-TR" sz="2800" dirty="0"/>
          </a:p>
        </p:txBody>
      </p:sp>
    </p:spTree>
    <p:extLst>
      <p:ext uri="{BB962C8B-B14F-4D97-AF65-F5344CB8AC3E}">
        <p14:creationId xmlns:p14="http://schemas.microsoft.com/office/powerpoint/2010/main" val="2063411075"/>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dirty="0">
                <a:latin typeface="Calibri" pitchFamily="34" charset="0"/>
                <a:cs typeface="Calibri" pitchFamily="34" charset="0"/>
              </a:rPr>
              <a:t>SÜREÇ İYİLEŞTİRME EKİPLERİNİN KURULMASI</a:t>
            </a:r>
          </a:p>
        </p:txBody>
      </p:sp>
      <p:sp>
        <p:nvSpPr>
          <p:cNvPr id="4" name="Content Placeholder 3"/>
          <p:cNvSpPr>
            <a:spLocks noGrp="1"/>
          </p:cNvSpPr>
          <p:nvPr>
            <p:ph sz="quarter" idx="1"/>
          </p:nvPr>
        </p:nvSpPr>
        <p:spPr/>
        <p:txBody>
          <a:bodyPr>
            <a:noAutofit/>
          </a:bodyPr>
          <a:lstStyle/>
          <a:p>
            <a:r>
              <a:rPr lang="tr-TR" sz="2400" b="1" dirty="0">
                <a:latin typeface="Calibri" pitchFamily="34" charset="0"/>
                <a:cs typeface="Calibri" pitchFamily="34" charset="0"/>
              </a:rPr>
              <a:t>İyileştirme önceliğine sahip süreçler(Kritik Süreçler) belirlendikten sonra, işletmenin kaynakları göz önüne alınarak uygun sayıda ekip oluşturulur.</a:t>
            </a:r>
          </a:p>
          <a:p>
            <a:endParaRPr lang="tr-TR" sz="2400" b="1" dirty="0">
              <a:latin typeface="Calibri" pitchFamily="34" charset="0"/>
              <a:cs typeface="Calibri" pitchFamily="34" charset="0"/>
            </a:endParaRPr>
          </a:p>
          <a:p>
            <a:r>
              <a:rPr lang="tr-TR" sz="2400" b="1" dirty="0">
                <a:latin typeface="Calibri" pitchFamily="34" charset="0"/>
                <a:cs typeface="Calibri" pitchFamily="34" charset="0"/>
              </a:rPr>
              <a:t>Ekip Lideri ve üyeleri:</a:t>
            </a:r>
          </a:p>
          <a:p>
            <a:pPr>
              <a:buFont typeface="Arial" pitchFamily="34" charset="0"/>
              <a:buChar char="•"/>
            </a:pPr>
            <a:r>
              <a:rPr lang="tr-TR" sz="2400" b="1" dirty="0">
                <a:latin typeface="Calibri" pitchFamily="34" charset="0"/>
                <a:cs typeface="Calibri" pitchFamily="34" charset="0"/>
              </a:rPr>
              <a:t>Süreçle ilgili uzmanlık ve tecrübe</a:t>
            </a:r>
          </a:p>
          <a:p>
            <a:pPr>
              <a:buFont typeface="Arial" pitchFamily="34" charset="0"/>
              <a:buChar char="•"/>
            </a:pPr>
            <a:r>
              <a:rPr lang="tr-TR" sz="2400" b="1" dirty="0">
                <a:latin typeface="Calibri" pitchFamily="34" charset="0"/>
                <a:cs typeface="Calibri" pitchFamily="34" charset="0"/>
              </a:rPr>
              <a:t>Süreçle ilgili tüm departmanların temsilcileri</a:t>
            </a:r>
          </a:p>
          <a:p>
            <a:pPr>
              <a:buFont typeface="Arial" pitchFamily="34" charset="0"/>
              <a:buChar char="•"/>
            </a:pPr>
            <a:r>
              <a:rPr lang="tr-TR" sz="2400" b="1" dirty="0">
                <a:latin typeface="Calibri" pitchFamily="34" charset="0"/>
                <a:cs typeface="Calibri" pitchFamily="34" charset="0"/>
              </a:rPr>
              <a:t>Ekip çalışması metodları konusunda bilgili ve yatkın</a:t>
            </a:r>
          </a:p>
          <a:p>
            <a:pPr>
              <a:buFont typeface="Arial" pitchFamily="34" charset="0"/>
              <a:buChar char="•"/>
            </a:pPr>
            <a:r>
              <a:rPr lang="tr-TR" sz="2400" b="1" dirty="0">
                <a:latin typeface="Calibri" pitchFamily="34" charset="0"/>
                <a:cs typeface="Calibri" pitchFamily="34" charset="0"/>
              </a:rPr>
              <a:t>Problem çözme teknikleri, temel istatistik,proje yönetimi konularında bilgili</a:t>
            </a:r>
          </a:p>
          <a:p>
            <a:pPr>
              <a:buFont typeface="Arial" pitchFamily="34" charset="0"/>
              <a:buChar char="•"/>
            </a:pPr>
            <a:r>
              <a:rPr lang="tr-TR" sz="2400" b="1" dirty="0">
                <a:latin typeface="Calibri" pitchFamily="34" charset="0"/>
                <a:cs typeface="Calibri" pitchFamily="34" charset="0"/>
              </a:rPr>
              <a:t>İstekli</a:t>
            </a:r>
          </a:p>
        </p:txBody>
      </p:sp>
    </p:spTree>
    <p:extLst>
      <p:ext uri="{BB962C8B-B14F-4D97-AF65-F5344CB8AC3E}">
        <p14:creationId xmlns:p14="http://schemas.microsoft.com/office/powerpoint/2010/main" val="23277907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5"/>
          <p:cNvSpPr>
            <a:spLocks noChangeArrowheads="1"/>
          </p:cNvSpPr>
          <p:nvPr/>
        </p:nvSpPr>
        <p:spPr bwMode="auto">
          <a:xfrm>
            <a:off x="3698875" y="3139794"/>
            <a:ext cx="1958975" cy="655638"/>
          </a:xfrm>
          <a:prstGeom prst="rect">
            <a:avLst/>
          </a:prstGeom>
          <a:solidFill>
            <a:srgbClr val="6535FD"/>
          </a:solidFill>
          <a:ln w="9525">
            <a:miter lim="800000"/>
            <a:headEnd/>
            <a:tailEnd/>
          </a:ln>
          <a:scene3d>
            <a:camera prst="legacyPerspectiveTop"/>
            <a:lightRig rig="legacyFlat3" dir="b"/>
          </a:scene3d>
          <a:sp3d extrusionH="887400" prstMaterial="legacyMatte">
            <a:bevelT w="13500" h="13500" prst="angle"/>
            <a:bevelB w="13500" h="13500" prst="angle"/>
            <a:extrusionClr>
              <a:srgbClr val="6535FD"/>
            </a:extrusionClr>
          </a:sp3d>
        </p:spPr>
        <p:txBody>
          <a:bodyPr>
            <a:prstTxWarp prst="textNoShape">
              <a:avLst/>
            </a:prstTxWarp>
            <a:flatTx/>
          </a:bodyPr>
          <a:lstStyle/>
          <a:p>
            <a:pPr algn="ctr" eaLnBrk="0" hangingPunct="0"/>
            <a:r>
              <a:rPr lang="tr-TR" sz="2800" dirty="0">
                <a:solidFill>
                  <a:srgbClr val="FFFF00"/>
                </a:solidFill>
                <a:latin typeface="Tahoma" charset="0"/>
              </a:rPr>
              <a:t>Planla</a:t>
            </a:r>
          </a:p>
        </p:txBody>
      </p:sp>
      <p:sp>
        <p:nvSpPr>
          <p:cNvPr id="27652" name="AutoShape 6"/>
          <p:cNvSpPr>
            <a:spLocks noChangeArrowheads="1"/>
          </p:cNvSpPr>
          <p:nvPr/>
        </p:nvSpPr>
        <p:spPr bwMode="auto">
          <a:xfrm>
            <a:off x="2218266" y="3064916"/>
            <a:ext cx="1541467" cy="1202267"/>
          </a:xfrm>
          <a:custGeom>
            <a:avLst/>
            <a:gdLst>
              <a:gd name="T0" fmla="*/ 1387390 w 21600"/>
              <a:gd name="T1" fmla="*/ 0 h 21600"/>
              <a:gd name="T2" fmla="*/ 1387390 w 21600"/>
              <a:gd name="T3" fmla="*/ 1048142 h 21600"/>
              <a:gd name="T4" fmla="*/ 296905 w 21600"/>
              <a:gd name="T5" fmla="*/ 1862137 h 21600"/>
              <a:gd name="T6" fmla="*/ 1981200 w 21600"/>
              <a:gd name="T7" fmla="*/ 524071 h 21600"/>
              <a:gd name="T8" fmla="*/ 3 60000 65536"/>
              <a:gd name="T9" fmla="*/ 1 60000 65536"/>
              <a:gd name="T10" fmla="*/ 1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66"/>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FF66"/>
            </a:extrusionClr>
          </a:sp3d>
        </p:spPr>
        <p:txBody>
          <a:bodyPr wrap="none" anchor="ctr">
            <a:prstTxWarp prst="textNoShape">
              <a:avLst/>
            </a:prstTxWarp>
            <a:flatTx/>
          </a:bodyPr>
          <a:lstStyle/>
          <a:p>
            <a:endParaRPr lang="en-US"/>
          </a:p>
        </p:txBody>
      </p:sp>
      <p:sp>
        <p:nvSpPr>
          <p:cNvPr id="27653" name="Rectangle 7"/>
          <p:cNvSpPr>
            <a:spLocks noChangeArrowheads="1"/>
          </p:cNvSpPr>
          <p:nvPr/>
        </p:nvSpPr>
        <p:spPr bwMode="auto">
          <a:xfrm>
            <a:off x="6189138" y="4343912"/>
            <a:ext cx="1817688" cy="657225"/>
          </a:xfrm>
          <a:prstGeom prst="rect">
            <a:avLst/>
          </a:prstGeom>
          <a:solidFill>
            <a:srgbClr val="6535FD"/>
          </a:solidFill>
          <a:ln w="9525">
            <a:miter lim="800000"/>
            <a:headEnd/>
            <a:tailEnd/>
          </a:ln>
          <a:scene3d>
            <a:camera prst="legacyPerspectiveTopRight"/>
            <a:lightRig rig="legacyFlat3" dir="b"/>
          </a:scene3d>
          <a:sp3d extrusionH="887400" prstMaterial="legacyMatte">
            <a:bevelT w="13500" h="13500" prst="angle"/>
            <a:bevelB w="13500" h="13500" prst="angle"/>
            <a:extrusionClr>
              <a:srgbClr val="6535FD"/>
            </a:extrusionClr>
          </a:sp3d>
        </p:spPr>
        <p:txBody>
          <a:bodyPr>
            <a:prstTxWarp prst="textNoShape">
              <a:avLst/>
            </a:prstTxWarp>
            <a:flatTx/>
          </a:bodyPr>
          <a:lstStyle/>
          <a:p>
            <a:pPr algn="ctr" eaLnBrk="0" hangingPunct="0"/>
            <a:r>
              <a:rPr lang="tr-TR" sz="2800" dirty="0">
                <a:solidFill>
                  <a:srgbClr val="FFFF00"/>
                </a:solidFill>
                <a:latin typeface="Tahoma" charset="0"/>
              </a:rPr>
              <a:t>Uygula</a:t>
            </a:r>
          </a:p>
        </p:txBody>
      </p:sp>
      <p:sp>
        <p:nvSpPr>
          <p:cNvPr id="27654" name="AutoShape 8"/>
          <p:cNvSpPr>
            <a:spLocks noChangeArrowheads="1"/>
          </p:cNvSpPr>
          <p:nvPr/>
        </p:nvSpPr>
        <p:spPr bwMode="auto">
          <a:xfrm rot="5400000">
            <a:off x="6121200" y="2768385"/>
            <a:ext cx="1035447" cy="1962149"/>
          </a:xfrm>
          <a:custGeom>
            <a:avLst/>
            <a:gdLst>
              <a:gd name="T0" fmla="*/ 1302902 w 21600"/>
              <a:gd name="T1" fmla="*/ 0 h 21600"/>
              <a:gd name="T2" fmla="*/ 1302902 w 21600"/>
              <a:gd name="T3" fmla="*/ 1114266 h 21600"/>
              <a:gd name="T4" fmla="*/ 278824 w 21600"/>
              <a:gd name="T5" fmla="*/ 1979613 h 21600"/>
              <a:gd name="T6" fmla="*/ 1860550 w 21600"/>
              <a:gd name="T7" fmla="*/ 557133 h 21600"/>
              <a:gd name="T8" fmla="*/ 3 60000 65536"/>
              <a:gd name="T9" fmla="*/ 1 60000 65536"/>
              <a:gd name="T10" fmla="*/ 1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66"/>
            </a:extrusionClr>
          </a:sp3d>
        </p:spPr>
        <p:txBody>
          <a:bodyPr wrap="none" anchor="ctr">
            <a:prstTxWarp prst="textNoShape">
              <a:avLst/>
            </a:prstTxWarp>
            <a:flatTx/>
          </a:bodyPr>
          <a:lstStyle/>
          <a:p>
            <a:endParaRPr lang="en-US"/>
          </a:p>
        </p:txBody>
      </p:sp>
      <p:sp>
        <p:nvSpPr>
          <p:cNvPr id="27655" name="AutoShape 9"/>
          <p:cNvSpPr>
            <a:spLocks noChangeArrowheads="1"/>
          </p:cNvSpPr>
          <p:nvPr/>
        </p:nvSpPr>
        <p:spPr bwMode="auto">
          <a:xfrm rot="10800000">
            <a:off x="5717121" y="5136603"/>
            <a:ext cx="1621367" cy="1236130"/>
          </a:xfrm>
          <a:custGeom>
            <a:avLst/>
            <a:gdLst>
              <a:gd name="T0" fmla="*/ 1386279 w 21600"/>
              <a:gd name="T1" fmla="*/ 0 h 21600"/>
              <a:gd name="T2" fmla="*/ 1386279 w 21600"/>
              <a:gd name="T3" fmla="*/ 1048142 h 21600"/>
              <a:gd name="T4" fmla="*/ 296667 w 21600"/>
              <a:gd name="T5" fmla="*/ 1862137 h 21600"/>
              <a:gd name="T6" fmla="*/ 1979613 w 21600"/>
              <a:gd name="T7" fmla="*/ 524071 h 21600"/>
              <a:gd name="T8" fmla="*/ 3 60000 65536"/>
              <a:gd name="T9" fmla="*/ 1 60000 65536"/>
              <a:gd name="T10" fmla="*/ 1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66"/>
          </a:solidFill>
          <a:ln w="9525">
            <a:miter lim="800000"/>
            <a:headEnd/>
            <a:tailEnd/>
          </a:ln>
          <a:scene3d>
            <a:camera prst="legacyPerspectiveTopRight"/>
            <a:lightRig rig="legacyFlat3" dir="b"/>
          </a:scene3d>
          <a:sp3d extrusionH="887400" prstMaterial="legacyMatte">
            <a:bevelT w="13500" h="13500" prst="angle"/>
            <a:bevelB w="13500" h="13500" prst="angle"/>
            <a:extrusionClr>
              <a:srgbClr val="FFFF66"/>
            </a:extrusionClr>
          </a:sp3d>
        </p:spPr>
        <p:txBody>
          <a:bodyPr wrap="none" anchor="ctr">
            <a:prstTxWarp prst="textNoShape">
              <a:avLst/>
            </a:prstTxWarp>
            <a:flatTx/>
          </a:bodyPr>
          <a:lstStyle/>
          <a:p>
            <a:endParaRPr lang="en-US"/>
          </a:p>
        </p:txBody>
      </p:sp>
      <p:sp>
        <p:nvSpPr>
          <p:cNvPr id="27656" name="Rectangle 10"/>
          <p:cNvSpPr>
            <a:spLocks noChangeArrowheads="1"/>
          </p:cNvSpPr>
          <p:nvPr/>
        </p:nvSpPr>
        <p:spPr bwMode="auto">
          <a:xfrm>
            <a:off x="3759733" y="5580044"/>
            <a:ext cx="1957388" cy="657225"/>
          </a:xfrm>
          <a:prstGeom prst="rect">
            <a:avLst/>
          </a:prstGeom>
          <a:solidFill>
            <a:srgbClr val="6535FD"/>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6535FD"/>
            </a:extrusionClr>
          </a:sp3d>
        </p:spPr>
        <p:txBody>
          <a:bodyPr>
            <a:prstTxWarp prst="textNoShape">
              <a:avLst/>
            </a:prstTxWarp>
            <a:flatTx/>
          </a:bodyPr>
          <a:lstStyle/>
          <a:p>
            <a:pPr algn="ctr" eaLnBrk="0" hangingPunct="0"/>
            <a:r>
              <a:rPr lang="tr-TR" sz="2800">
                <a:solidFill>
                  <a:srgbClr val="FFFF00"/>
                </a:solidFill>
                <a:latin typeface="Tahoma" charset="0"/>
              </a:rPr>
              <a:t>Kontrol et</a:t>
            </a:r>
          </a:p>
        </p:txBody>
      </p:sp>
      <p:sp>
        <p:nvSpPr>
          <p:cNvPr id="27657" name="AutoShape 11"/>
          <p:cNvSpPr>
            <a:spLocks noChangeArrowheads="1"/>
          </p:cNvSpPr>
          <p:nvPr/>
        </p:nvSpPr>
        <p:spPr bwMode="auto">
          <a:xfrm rot="-5400000">
            <a:off x="2185855" y="4687205"/>
            <a:ext cx="1240367" cy="1785673"/>
          </a:xfrm>
          <a:custGeom>
            <a:avLst/>
            <a:gdLst>
              <a:gd name="T0" fmla="*/ 1304014 w 21600"/>
              <a:gd name="T1" fmla="*/ 0 h 21600"/>
              <a:gd name="T2" fmla="*/ 1304014 w 21600"/>
              <a:gd name="T3" fmla="*/ 1115159 h 21600"/>
              <a:gd name="T4" fmla="*/ 279062 w 21600"/>
              <a:gd name="T5" fmla="*/ 1981200 h 21600"/>
              <a:gd name="T6" fmla="*/ 1862138 w 21600"/>
              <a:gd name="T7" fmla="*/ 557579 h 21600"/>
              <a:gd name="T8" fmla="*/ 3 60000 65536"/>
              <a:gd name="T9" fmla="*/ 1 60000 65536"/>
              <a:gd name="T10" fmla="*/ 1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66"/>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FFFF66"/>
            </a:extrusionClr>
          </a:sp3d>
        </p:spPr>
        <p:txBody>
          <a:bodyPr wrap="none" anchor="ctr">
            <a:prstTxWarp prst="textNoShape">
              <a:avLst/>
            </a:prstTxWarp>
            <a:flatTx/>
          </a:bodyPr>
          <a:lstStyle/>
          <a:p>
            <a:endParaRPr lang="en-US"/>
          </a:p>
        </p:txBody>
      </p:sp>
      <p:sp>
        <p:nvSpPr>
          <p:cNvPr id="27658" name="Rectangle 12"/>
          <p:cNvSpPr>
            <a:spLocks noChangeArrowheads="1"/>
          </p:cNvSpPr>
          <p:nvPr/>
        </p:nvSpPr>
        <p:spPr bwMode="auto">
          <a:xfrm>
            <a:off x="1239572" y="4343912"/>
            <a:ext cx="1957387" cy="657225"/>
          </a:xfrm>
          <a:prstGeom prst="rect">
            <a:avLst/>
          </a:prstGeom>
          <a:solidFill>
            <a:srgbClr val="6535FD"/>
          </a:solidFill>
          <a:ln w="9525">
            <a:miter lim="800000"/>
            <a:headEnd/>
            <a:tailEnd/>
          </a:ln>
          <a:scene3d>
            <a:camera prst="legacyObliqueTopLeft"/>
            <a:lightRig rig="legacyFlat3" dir="t"/>
          </a:scene3d>
          <a:sp3d extrusionH="430200" prstMaterial="legacyMatte">
            <a:bevelT w="13500" h="13500" prst="angle"/>
            <a:bevelB w="13500" h="13500" prst="angle"/>
            <a:extrusionClr>
              <a:srgbClr val="6535FD"/>
            </a:extrusionClr>
          </a:sp3d>
        </p:spPr>
        <p:txBody>
          <a:bodyPr>
            <a:prstTxWarp prst="textNoShape">
              <a:avLst/>
            </a:prstTxWarp>
            <a:flatTx/>
          </a:bodyPr>
          <a:lstStyle/>
          <a:p>
            <a:pPr algn="ctr" eaLnBrk="0" hangingPunct="0"/>
            <a:r>
              <a:rPr lang="tr-TR" sz="2800" dirty="0">
                <a:solidFill>
                  <a:srgbClr val="FFFF00"/>
                </a:solidFill>
                <a:latin typeface="Tahoma" charset="0"/>
              </a:rPr>
              <a:t>Önlem al</a:t>
            </a:r>
          </a:p>
        </p:txBody>
      </p:sp>
      <p:sp>
        <p:nvSpPr>
          <p:cNvPr id="15" name="TextBox 14"/>
          <p:cNvSpPr txBox="1"/>
          <p:nvPr/>
        </p:nvSpPr>
        <p:spPr>
          <a:xfrm>
            <a:off x="634175" y="179493"/>
            <a:ext cx="8088373" cy="1077218"/>
          </a:xfrm>
          <a:prstGeom prst="rect">
            <a:avLst/>
          </a:prstGeom>
          <a:noFill/>
        </p:spPr>
        <p:txBody>
          <a:bodyPr wrap="square" rtlCol="0">
            <a:spAutoFit/>
          </a:bodyPr>
          <a:lstStyle/>
          <a:p>
            <a:r>
              <a:rPr lang="en-US" sz="3200" b="1" dirty="0" err="1">
                <a:latin typeface="Calibri" pitchFamily="34" charset="0"/>
                <a:cs typeface="Calibri" pitchFamily="34" charset="0"/>
              </a:rPr>
              <a:t>Deming’in</a:t>
            </a:r>
            <a:r>
              <a:rPr lang="en-US" sz="3200" b="1" dirty="0">
                <a:latin typeface="Calibri" pitchFamily="34" charset="0"/>
                <a:cs typeface="Calibri" pitchFamily="34" charset="0"/>
              </a:rPr>
              <a:t> </a:t>
            </a:r>
            <a:r>
              <a:rPr lang="en-US" sz="3200" b="1" dirty="0" err="1">
                <a:latin typeface="Calibri" pitchFamily="34" charset="0"/>
                <a:cs typeface="Calibri" pitchFamily="34" charset="0"/>
              </a:rPr>
              <a:t>Sürekli</a:t>
            </a:r>
            <a:r>
              <a:rPr lang="en-US" sz="3200" b="1" dirty="0">
                <a:latin typeface="Calibri" pitchFamily="34" charset="0"/>
                <a:cs typeface="Calibri" pitchFamily="34" charset="0"/>
              </a:rPr>
              <a:t> </a:t>
            </a:r>
            <a:r>
              <a:rPr lang="en-US" sz="3200" b="1" dirty="0" err="1">
                <a:latin typeface="Calibri" pitchFamily="34" charset="0"/>
                <a:cs typeface="Calibri" pitchFamily="34" charset="0"/>
              </a:rPr>
              <a:t>Gelişim</a:t>
            </a:r>
            <a:r>
              <a:rPr lang="en-US" sz="3200" b="1" dirty="0">
                <a:latin typeface="Calibri" pitchFamily="34" charset="0"/>
                <a:cs typeface="Calibri" pitchFamily="34" charset="0"/>
              </a:rPr>
              <a:t> </a:t>
            </a:r>
            <a:r>
              <a:rPr lang="en-US" sz="3200" b="1" dirty="0" err="1">
                <a:latin typeface="Calibri" pitchFamily="34" charset="0"/>
                <a:cs typeface="Calibri" pitchFamily="34" charset="0"/>
              </a:rPr>
              <a:t>Döngüsü</a:t>
            </a:r>
            <a:r>
              <a:rPr lang="en-US" sz="3200" b="1" dirty="0">
                <a:latin typeface="Calibri" pitchFamily="34" charset="0"/>
                <a:cs typeface="Calibri" pitchFamily="34" charset="0"/>
              </a:rPr>
              <a:t> (PUKÖ </a:t>
            </a:r>
            <a:r>
              <a:rPr lang="en-US" sz="3200" b="1" dirty="0" err="1">
                <a:latin typeface="Calibri" pitchFamily="34" charset="0"/>
                <a:cs typeface="Calibri" pitchFamily="34" charset="0"/>
              </a:rPr>
              <a:t>Döngüsü</a:t>
            </a:r>
            <a:r>
              <a:rPr lang="en-US" sz="3200" b="1" dirty="0">
                <a:latin typeface="Calibri" pitchFamily="34" charset="0"/>
                <a:cs typeface="Calibri" pitchFamily="34" charset="0"/>
              </a:rPr>
              <a:t>)</a:t>
            </a:r>
          </a:p>
        </p:txBody>
      </p:sp>
    </p:spTree>
    <p:extLst>
      <p:ext uri="{BB962C8B-B14F-4D97-AF65-F5344CB8AC3E}">
        <p14:creationId xmlns:p14="http://schemas.microsoft.com/office/powerpoint/2010/main" val="22892358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tr-TR" sz="2800" cap="all" dirty="0"/>
              <a:t>Sürecİn Katma Değerİ</a:t>
            </a:r>
            <a:endParaRPr lang="en-US" sz="2800" cap="all" dirty="0"/>
          </a:p>
        </p:txBody>
      </p:sp>
      <p:sp>
        <p:nvSpPr>
          <p:cNvPr id="4099" name="Subtitle 2"/>
          <p:cNvSpPr>
            <a:spLocks noGrp="1"/>
          </p:cNvSpPr>
          <p:nvPr>
            <p:ph sz="quarter" idx="1"/>
          </p:nvPr>
        </p:nvSpPr>
        <p:spPr/>
        <p:txBody>
          <a:bodyPr/>
          <a:lstStyle/>
          <a:p>
            <a:pPr marL="342900" indent="-342900" algn="l">
              <a:buFont typeface="Wingdings" pitchFamily="2" charset="2"/>
              <a:buChar char="Ø"/>
            </a:pPr>
            <a:r>
              <a:rPr lang="tr-TR" sz="2000">
                <a:solidFill>
                  <a:schemeClr val="tx1"/>
                </a:solidFill>
              </a:rPr>
              <a:t>Faliyetler </a:t>
            </a:r>
            <a:r>
              <a:rPr lang="en-US" sz="2000">
                <a:solidFill>
                  <a:schemeClr val="tx1"/>
                </a:solidFill>
              </a:rPr>
              <a:t>“</a:t>
            </a:r>
            <a:r>
              <a:rPr lang="tr-TR" sz="2000">
                <a:solidFill>
                  <a:schemeClr val="tx1"/>
                </a:solidFill>
              </a:rPr>
              <a:t>Katma Değer</a:t>
            </a:r>
            <a:r>
              <a:rPr lang="en-US" sz="2000">
                <a:solidFill>
                  <a:schemeClr val="tx1"/>
                </a:solidFill>
              </a:rPr>
              <a:t>”</a:t>
            </a:r>
            <a:r>
              <a:rPr lang="tr-TR" sz="2000">
                <a:solidFill>
                  <a:schemeClr val="tx1"/>
                </a:solidFill>
              </a:rPr>
              <a:t> yaratmalıdır.</a:t>
            </a:r>
          </a:p>
          <a:p>
            <a:pPr marL="342900" indent="-342900" algn="l">
              <a:buFont typeface="Wingdings" pitchFamily="2" charset="2"/>
              <a:buChar char="Ø"/>
            </a:pPr>
            <a:r>
              <a:rPr lang="tr-TR" sz="2000">
                <a:solidFill>
                  <a:schemeClr val="tx1"/>
                </a:solidFill>
              </a:rPr>
              <a:t>Müşteri ihtiyaçlarına katkısı olan faliyetler </a:t>
            </a:r>
            <a:r>
              <a:rPr lang="en-US" sz="2000">
                <a:solidFill>
                  <a:schemeClr val="tx1"/>
                </a:solidFill>
              </a:rPr>
              <a:t>“Ger</a:t>
            </a:r>
            <a:r>
              <a:rPr lang="tr-TR" sz="2000">
                <a:solidFill>
                  <a:schemeClr val="tx1"/>
                </a:solidFill>
              </a:rPr>
              <a:t>çek</a:t>
            </a:r>
            <a:r>
              <a:rPr lang="en-US" sz="2000">
                <a:solidFill>
                  <a:schemeClr val="tx1"/>
                </a:solidFill>
              </a:rPr>
              <a:t>”</a:t>
            </a:r>
            <a:r>
              <a:rPr lang="tr-TR" sz="2000">
                <a:solidFill>
                  <a:schemeClr val="tx1"/>
                </a:solidFill>
              </a:rPr>
              <a:t>, kuruluş ihtiyaçlarına katkısı bulunan faaliyetler </a:t>
            </a:r>
            <a:r>
              <a:rPr lang="en-US" sz="2000">
                <a:solidFill>
                  <a:schemeClr val="tx1"/>
                </a:solidFill>
              </a:rPr>
              <a:t>“</a:t>
            </a:r>
            <a:r>
              <a:rPr lang="tr-TR" sz="2000">
                <a:solidFill>
                  <a:schemeClr val="tx1"/>
                </a:solidFill>
              </a:rPr>
              <a:t>İç</a:t>
            </a:r>
            <a:r>
              <a:rPr lang="en-US" sz="2000">
                <a:solidFill>
                  <a:schemeClr val="tx1"/>
                </a:solidFill>
              </a:rPr>
              <a:t>”</a:t>
            </a:r>
            <a:r>
              <a:rPr lang="tr-TR" sz="2000">
                <a:solidFill>
                  <a:schemeClr val="tx1"/>
                </a:solidFill>
              </a:rPr>
              <a:t> Katma değer olarak değerlendirilir.</a:t>
            </a:r>
          </a:p>
          <a:p>
            <a:pPr marL="342900" indent="-342900" algn="l">
              <a:buFont typeface="Wingdings" pitchFamily="2" charset="2"/>
              <a:buChar char="Ø"/>
            </a:pPr>
            <a:r>
              <a:rPr lang="tr-TR" sz="2000">
                <a:solidFill>
                  <a:schemeClr val="tx1"/>
                </a:solidFill>
              </a:rPr>
              <a:t>Bu iki sınıf dışında yapılan işler değer katmaz ve ortadan kaldırılmaları hedeflenir.</a:t>
            </a:r>
            <a:endParaRPr lang="en-US" sz="2000">
              <a:solidFill>
                <a:schemeClr val="tx1"/>
              </a:solidFill>
            </a:endParaRPr>
          </a:p>
        </p:txBody>
      </p:sp>
      <p:sp>
        <p:nvSpPr>
          <p:cNvPr id="4" name="Rectangle 3"/>
          <p:cNvSpPr/>
          <p:nvPr/>
        </p:nvSpPr>
        <p:spPr>
          <a:xfrm>
            <a:off x="685800" y="4256088"/>
            <a:ext cx="2362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tr-TR" sz="1600" b="1">
                <a:solidFill>
                  <a:srgbClr val="FFFFFF"/>
                </a:solidFill>
              </a:rPr>
              <a:t>Gerçek Katma Değer</a:t>
            </a:r>
          </a:p>
          <a:p>
            <a:r>
              <a:rPr lang="tr-TR" sz="1600">
                <a:solidFill>
                  <a:srgbClr val="FFFFFF"/>
                </a:solidFill>
              </a:rPr>
              <a:t>- Müşteri siparişi kabulü</a:t>
            </a:r>
          </a:p>
          <a:p>
            <a:r>
              <a:rPr lang="tr-TR" sz="1600">
                <a:solidFill>
                  <a:srgbClr val="FFFFFF"/>
                </a:solidFill>
              </a:rPr>
              <a:t>- Ürün sevk etme</a:t>
            </a:r>
          </a:p>
          <a:p>
            <a:r>
              <a:rPr lang="tr-TR" sz="1600">
                <a:solidFill>
                  <a:srgbClr val="FFFFFF"/>
                </a:solidFill>
              </a:rPr>
              <a:t>- Satış sonrası servis</a:t>
            </a:r>
            <a:endParaRPr lang="en-US" sz="1600">
              <a:solidFill>
                <a:srgbClr val="FFFFFF"/>
              </a:solidFill>
            </a:endParaRPr>
          </a:p>
        </p:txBody>
      </p:sp>
      <p:sp>
        <p:nvSpPr>
          <p:cNvPr id="6" name="Rectangle 5"/>
          <p:cNvSpPr/>
          <p:nvPr/>
        </p:nvSpPr>
        <p:spPr>
          <a:xfrm>
            <a:off x="3200400" y="4246563"/>
            <a:ext cx="2362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sz="1600" b="1" dirty="0"/>
              <a:t>İç Katma Değer</a:t>
            </a:r>
          </a:p>
          <a:p>
            <a:pPr fontAlgn="auto">
              <a:spcBef>
                <a:spcPts val="0"/>
              </a:spcBef>
              <a:spcAft>
                <a:spcPts val="0"/>
              </a:spcAft>
              <a:defRPr/>
            </a:pPr>
            <a:r>
              <a:rPr lang="tr-TR" sz="1600" dirty="0"/>
              <a:t>- Satın Alma sipariş açma</a:t>
            </a:r>
          </a:p>
          <a:p>
            <a:pPr fontAlgn="auto">
              <a:spcBef>
                <a:spcPts val="0"/>
              </a:spcBef>
              <a:spcAft>
                <a:spcPts val="0"/>
              </a:spcAft>
              <a:defRPr/>
            </a:pPr>
            <a:r>
              <a:rPr lang="tr-TR" sz="1600" dirty="0"/>
              <a:t>- Fatura girişi yapma</a:t>
            </a:r>
          </a:p>
          <a:p>
            <a:pPr fontAlgn="auto">
              <a:spcBef>
                <a:spcPts val="0"/>
              </a:spcBef>
              <a:spcAft>
                <a:spcPts val="0"/>
              </a:spcAft>
              <a:defRPr/>
            </a:pPr>
            <a:r>
              <a:rPr lang="tr-TR" sz="1600" dirty="0"/>
              <a:t>- Kayıtları güncelleme</a:t>
            </a:r>
            <a:endParaRPr lang="en-US" sz="1600" dirty="0"/>
          </a:p>
        </p:txBody>
      </p:sp>
      <p:sp>
        <p:nvSpPr>
          <p:cNvPr id="7" name="Rectangle 6"/>
          <p:cNvSpPr/>
          <p:nvPr/>
        </p:nvSpPr>
        <p:spPr>
          <a:xfrm>
            <a:off x="5715000" y="4219575"/>
            <a:ext cx="2362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sz="1600" b="1" dirty="0"/>
              <a:t>Katma Değeri Olmayan</a:t>
            </a:r>
          </a:p>
          <a:p>
            <a:pPr fontAlgn="auto">
              <a:spcBef>
                <a:spcPts val="0"/>
              </a:spcBef>
              <a:spcAft>
                <a:spcPts val="0"/>
              </a:spcAft>
              <a:defRPr/>
            </a:pPr>
            <a:r>
              <a:rPr lang="tr-TR" sz="1600" dirty="0"/>
              <a:t>- Muayene</a:t>
            </a:r>
          </a:p>
          <a:p>
            <a:pPr fontAlgn="auto">
              <a:spcBef>
                <a:spcPts val="0"/>
              </a:spcBef>
              <a:spcAft>
                <a:spcPts val="0"/>
              </a:spcAft>
              <a:defRPr/>
            </a:pPr>
            <a:r>
              <a:rPr lang="tr-TR" sz="1600" dirty="0"/>
              <a:t>- Onaylama</a:t>
            </a:r>
          </a:p>
          <a:p>
            <a:pPr fontAlgn="auto">
              <a:spcBef>
                <a:spcPts val="0"/>
              </a:spcBef>
              <a:spcAft>
                <a:spcPts val="0"/>
              </a:spcAft>
              <a:defRPr/>
            </a:pPr>
            <a:r>
              <a:rPr lang="tr-TR" sz="1600" dirty="0"/>
              <a:t>- Yeniden işleme</a:t>
            </a:r>
            <a:endParaRPr lang="en-US" sz="1600" dirty="0"/>
          </a:p>
        </p:txBody>
      </p:sp>
    </p:spTree>
    <p:extLst>
      <p:ext uri="{BB962C8B-B14F-4D97-AF65-F5344CB8AC3E}">
        <p14:creationId xmlns:p14="http://schemas.microsoft.com/office/powerpoint/2010/main" val="25300435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algn="l"/>
            <a:r>
              <a:rPr lang="tr-TR" sz="2800"/>
              <a:t>SÜREÇ YÖNETİMİ AŞAMALARI</a:t>
            </a:r>
            <a:endParaRPr lang="en-US" sz="2800"/>
          </a:p>
        </p:txBody>
      </p:sp>
      <p:sp>
        <p:nvSpPr>
          <p:cNvPr id="5123" name="Subtitle 2"/>
          <p:cNvSpPr>
            <a:spLocks noGrp="1"/>
          </p:cNvSpPr>
          <p:nvPr>
            <p:ph sz="quarter" idx="1"/>
          </p:nvPr>
        </p:nvSpPr>
        <p:spPr/>
        <p:txBody>
          <a:bodyPr/>
          <a:lstStyle/>
          <a:p>
            <a:pPr marL="342900" indent="-342900" algn="l">
              <a:buFont typeface="Wingdings" pitchFamily="2" charset="2"/>
              <a:buChar char="q"/>
            </a:pPr>
            <a:r>
              <a:rPr lang="tr-TR" sz="1400" dirty="0">
                <a:solidFill>
                  <a:schemeClr val="tx1"/>
                </a:solidFill>
              </a:rPr>
              <a:t>Kuruluş amaçlarının (müşteri ihtiyaç ve beklentilerinin) tanımlanması</a:t>
            </a:r>
          </a:p>
          <a:p>
            <a:pPr marL="342900" indent="-342900" algn="l">
              <a:buFont typeface="Wingdings" pitchFamily="2" charset="2"/>
              <a:buChar char="q"/>
            </a:pPr>
            <a:r>
              <a:rPr lang="tr-TR" sz="1400" dirty="0">
                <a:solidFill>
                  <a:schemeClr val="tx1"/>
                </a:solidFill>
              </a:rPr>
              <a:t>Politika ve hedeflerinin belirlenmesi</a:t>
            </a:r>
          </a:p>
          <a:p>
            <a:pPr marL="342900" indent="-342900" algn="l">
              <a:buFont typeface="Wingdings" pitchFamily="2" charset="2"/>
              <a:buChar char="q"/>
            </a:pPr>
            <a:r>
              <a:rPr lang="tr-TR" sz="1400" dirty="0">
                <a:solidFill>
                  <a:schemeClr val="tx1"/>
                </a:solidFill>
              </a:rPr>
              <a:t>Süreçlerin belirlenmesi</a:t>
            </a:r>
          </a:p>
          <a:p>
            <a:pPr marL="342900" indent="-342900" algn="l">
              <a:buFont typeface="Wingdings" pitchFamily="2" charset="2"/>
              <a:buChar char="q"/>
            </a:pPr>
            <a:r>
              <a:rPr lang="tr-TR" sz="1400" dirty="0">
                <a:solidFill>
                  <a:schemeClr val="tx1"/>
                </a:solidFill>
              </a:rPr>
              <a:t>Süreçlerin sırası ve etkileşiminin belirlenmesi</a:t>
            </a:r>
          </a:p>
          <a:p>
            <a:pPr marL="342900" indent="-342900" algn="l">
              <a:buFont typeface="Wingdings" pitchFamily="2" charset="2"/>
              <a:buChar char="q"/>
            </a:pPr>
            <a:r>
              <a:rPr lang="tr-TR" sz="1400" dirty="0">
                <a:solidFill>
                  <a:schemeClr val="tx1"/>
                </a:solidFill>
              </a:rPr>
              <a:t>Süreç sahibinin belirlenmesi</a:t>
            </a:r>
          </a:p>
          <a:p>
            <a:pPr marL="342900" indent="-342900" algn="l">
              <a:buFont typeface="Wingdings" pitchFamily="2" charset="2"/>
              <a:buChar char="q"/>
            </a:pPr>
            <a:r>
              <a:rPr lang="tr-TR" sz="1400" dirty="0">
                <a:solidFill>
                  <a:schemeClr val="tx1"/>
                </a:solidFill>
              </a:rPr>
              <a:t>Süreç </a:t>
            </a:r>
            <a:r>
              <a:rPr lang="tr-TR" sz="1400" dirty="0" err="1">
                <a:solidFill>
                  <a:schemeClr val="tx1"/>
                </a:solidFill>
              </a:rPr>
              <a:t>dökümantasyonunun</a:t>
            </a:r>
            <a:r>
              <a:rPr lang="tr-TR" sz="1400" dirty="0">
                <a:solidFill>
                  <a:schemeClr val="tx1"/>
                </a:solidFill>
              </a:rPr>
              <a:t> belirlenmesi</a:t>
            </a:r>
          </a:p>
          <a:p>
            <a:pPr marL="342900" indent="-342900" algn="l">
              <a:buFont typeface="Wingdings" pitchFamily="2" charset="2"/>
              <a:buChar char="q"/>
            </a:pPr>
            <a:endParaRPr lang="tr-TR" sz="1400" dirty="0">
              <a:solidFill>
                <a:schemeClr val="tx1"/>
              </a:solidFill>
            </a:endParaRPr>
          </a:p>
          <a:p>
            <a:pPr marL="342900" indent="-342900" algn="l">
              <a:buFont typeface="Wingdings" pitchFamily="2" charset="2"/>
              <a:buChar char="q"/>
            </a:pPr>
            <a:endParaRPr lang="tr-TR" sz="1400" dirty="0">
              <a:solidFill>
                <a:schemeClr val="tx1"/>
              </a:solidFill>
            </a:endParaRPr>
          </a:p>
          <a:p>
            <a:pPr marL="342900" indent="-342900" algn="l">
              <a:buFont typeface="Wingdings" pitchFamily="2" charset="2"/>
              <a:buChar char="q"/>
            </a:pPr>
            <a:r>
              <a:rPr lang="tr-TR" sz="1400" dirty="0">
                <a:solidFill>
                  <a:schemeClr val="tx1"/>
                </a:solidFill>
              </a:rPr>
              <a:t>Alt süreç ve faaliyetlerinin belirlenmesi</a:t>
            </a:r>
          </a:p>
          <a:p>
            <a:pPr marL="342900" indent="-342900" algn="l">
              <a:buFont typeface="Wingdings" pitchFamily="2" charset="2"/>
              <a:buChar char="q"/>
            </a:pPr>
            <a:r>
              <a:rPr lang="tr-TR" sz="1400" dirty="0">
                <a:solidFill>
                  <a:schemeClr val="tx1"/>
                </a:solidFill>
              </a:rPr>
              <a:t>İzleme ve ölçme gerekliliklerinin belirlenmesi</a:t>
            </a:r>
          </a:p>
          <a:p>
            <a:pPr marL="342900" indent="-342900" algn="l">
              <a:buFont typeface="Wingdings" pitchFamily="2" charset="2"/>
              <a:buChar char="q"/>
            </a:pPr>
            <a:r>
              <a:rPr lang="tr-TR" sz="1400" dirty="0">
                <a:solidFill>
                  <a:schemeClr val="tx1"/>
                </a:solidFill>
              </a:rPr>
              <a:t>Kaynak ihtiyaçlarının belirlenmesi</a:t>
            </a:r>
          </a:p>
          <a:p>
            <a:pPr marL="342900" indent="-342900" algn="l">
              <a:buFont typeface="Wingdings" pitchFamily="2" charset="2"/>
              <a:buChar char="q"/>
            </a:pPr>
            <a:r>
              <a:rPr lang="tr-TR" sz="1400" dirty="0">
                <a:solidFill>
                  <a:schemeClr val="tx1"/>
                </a:solidFill>
              </a:rPr>
              <a:t>Doğrulama</a:t>
            </a:r>
          </a:p>
          <a:p>
            <a:pPr marL="342900" indent="-342900" algn="l">
              <a:buFont typeface="Wingdings" pitchFamily="2" charset="2"/>
              <a:buChar char="q"/>
            </a:pPr>
            <a:endParaRPr lang="en-US" sz="1400" dirty="0">
              <a:solidFill>
                <a:schemeClr val="tx1"/>
              </a:solidFill>
            </a:endParaRPr>
          </a:p>
        </p:txBody>
      </p:sp>
      <p:sp>
        <p:nvSpPr>
          <p:cNvPr id="4" name="Rectangle 3"/>
          <p:cNvSpPr/>
          <p:nvPr/>
        </p:nvSpPr>
        <p:spPr>
          <a:xfrm>
            <a:off x="1219200" y="1295400"/>
            <a:ext cx="3048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Sürecin Tanımlanması</a:t>
            </a:r>
            <a:endParaRPr lang="en-US" dirty="0"/>
          </a:p>
        </p:txBody>
      </p:sp>
      <p:sp>
        <p:nvSpPr>
          <p:cNvPr id="6" name="Rectangle 5"/>
          <p:cNvSpPr/>
          <p:nvPr/>
        </p:nvSpPr>
        <p:spPr>
          <a:xfrm>
            <a:off x="1219200" y="3492500"/>
            <a:ext cx="3048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Sürecin Planlanması</a:t>
            </a:r>
            <a:endParaRPr lang="en-US" dirty="0"/>
          </a:p>
        </p:txBody>
      </p:sp>
      <p:sp>
        <p:nvSpPr>
          <p:cNvPr id="7" name="Rectangle 6"/>
          <p:cNvSpPr/>
          <p:nvPr/>
        </p:nvSpPr>
        <p:spPr>
          <a:xfrm>
            <a:off x="1219200" y="5219700"/>
            <a:ext cx="3048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Uygulama ve Ölçme</a:t>
            </a:r>
            <a:endParaRPr lang="en-US" dirty="0"/>
          </a:p>
        </p:txBody>
      </p:sp>
      <p:sp>
        <p:nvSpPr>
          <p:cNvPr id="8" name="Rectangle 7"/>
          <p:cNvSpPr/>
          <p:nvPr/>
        </p:nvSpPr>
        <p:spPr>
          <a:xfrm>
            <a:off x="1211263" y="5805488"/>
            <a:ext cx="3048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Analiz</a:t>
            </a:r>
            <a:endParaRPr lang="en-US" dirty="0"/>
          </a:p>
        </p:txBody>
      </p:sp>
      <p:sp>
        <p:nvSpPr>
          <p:cNvPr id="9" name="Rectangle 8"/>
          <p:cNvSpPr/>
          <p:nvPr/>
        </p:nvSpPr>
        <p:spPr>
          <a:xfrm>
            <a:off x="1219200" y="6402388"/>
            <a:ext cx="3048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Sürecin Tanımlanması</a:t>
            </a:r>
            <a:endParaRPr lang="en-US" dirty="0"/>
          </a:p>
        </p:txBody>
      </p:sp>
      <p:cxnSp>
        <p:nvCxnSpPr>
          <p:cNvPr id="11" name="Straight Arrow Connector 10"/>
          <p:cNvCxnSpPr>
            <a:stCxn id="4" idx="2"/>
            <a:endCxn id="6" idx="0"/>
          </p:cNvCxnSpPr>
          <p:nvPr/>
        </p:nvCxnSpPr>
        <p:spPr>
          <a:xfrm>
            <a:off x="2743200" y="1676400"/>
            <a:ext cx="0" cy="1816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7" idx="0"/>
          </p:cNvCxnSpPr>
          <p:nvPr/>
        </p:nvCxnSpPr>
        <p:spPr>
          <a:xfrm>
            <a:off x="2743200" y="3873500"/>
            <a:ext cx="0" cy="134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2"/>
            <a:endCxn id="8" idx="0"/>
          </p:cNvCxnSpPr>
          <p:nvPr/>
        </p:nvCxnSpPr>
        <p:spPr>
          <a:xfrm flipH="1">
            <a:off x="2735263" y="5600700"/>
            <a:ext cx="7937" cy="2047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2"/>
            <a:endCxn id="9" idx="0"/>
          </p:cNvCxnSpPr>
          <p:nvPr/>
        </p:nvCxnSpPr>
        <p:spPr>
          <a:xfrm>
            <a:off x="2735263" y="6186488"/>
            <a:ext cx="7937" cy="215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181600" y="6418263"/>
            <a:ext cx="3048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Süreç İyileştirme Aşamaları</a:t>
            </a:r>
            <a:endParaRPr lang="en-US" dirty="0"/>
          </a:p>
        </p:txBody>
      </p:sp>
      <p:cxnSp>
        <p:nvCxnSpPr>
          <p:cNvPr id="21" name="Straight Arrow Connector 20"/>
          <p:cNvCxnSpPr>
            <a:stCxn id="9" idx="3"/>
            <a:endCxn id="19" idx="1"/>
          </p:cNvCxnSpPr>
          <p:nvPr/>
        </p:nvCxnSpPr>
        <p:spPr>
          <a:xfrm>
            <a:off x="4267200" y="6592888"/>
            <a:ext cx="914400" cy="15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5440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algn="l"/>
            <a:r>
              <a:rPr lang="tr-TR" sz="2800"/>
              <a:t>SÜREÇ İYİLEŞTİRME AŞAMALARI</a:t>
            </a:r>
            <a:endParaRPr lang="en-US" sz="2800"/>
          </a:p>
        </p:txBody>
      </p:sp>
      <p:sp>
        <p:nvSpPr>
          <p:cNvPr id="5" name="Rectangle 4"/>
          <p:cNvSpPr/>
          <p:nvPr/>
        </p:nvSpPr>
        <p:spPr>
          <a:xfrm>
            <a:off x="2220913" y="1485900"/>
            <a:ext cx="448786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Sürecin Tanımlanması</a:t>
            </a:r>
            <a:endParaRPr lang="en-US" dirty="0"/>
          </a:p>
        </p:txBody>
      </p:sp>
      <p:sp>
        <p:nvSpPr>
          <p:cNvPr id="6" name="Rectangle 5"/>
          <p:cNvSpPr/>
          <p:nvPr/>
        </p:nvSpPr>
        <p:spPr>
          <a:xfrm>
            <a:off x="2233613" y="2070100"/>
            <a:ext cx="448786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KBF`lerin Belirlenmesi</a:t>
            </a:r>
            <a:endParaRPr lang="en-US" dirty="0"/>
          </a:p>
        </p:txBody>
      </p:sp>
      <p:sp>
        <p:nvSpPr>
          <p:cNvPr id="7" name="Rectangle 6"/>
          <p:cNvSpPr/>
          <p:nvPr/>
        </p:nvSpPr>
        <p:spPr>
          <a:xfrm>
            <a:off x="2225675" y="2741613"/>
            <a:ext cx="4487863"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İyileştirme önceliklerinin Belirlenmesi</a:t>
            </a:r>
            <a:endParaRPr lang="en-US" dirty="0"/>
          </a:p>
        </p:txBody>
      </p:sp>
      <p:sp>
        <p:nvSpPr>
          <p:cNvPr id="8" name="Rectangle 7"/>
          <p:cNvSpPr/>
          <p:nvPr/>
        </p:nvSpPr>
        <p:spPr>
          <a:xfrm>
            <a:off x="2217738" y="3327400"/>
            <a:ext cx="448786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Süreç İyileştirme Ekiplerinin Oluşturulması</a:t>
            </a:r>
            <a:endParaRPr lang="en-US" dirty="0"/>
          </a:p>
        </p:txBody>
      </p:sp>
      <p:sp>
        <p:nvSpPr>
          <p:cNvPr id="9" name="Rectangle 8"/>
          <p:cNvSpPr/>
          <p:nvPr/>
        </p:nvSpPr>
        <p:spPr>
          <a:xfrm>
            <a:off x="2225675" y="3924300"/>
            <a:ext cx="4487863"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Planlama</a:t>
            </a:r>
            <a:endParaRPr lang="en-US" dirty="0"/>
          </a:p>
        </p:txBody>
      </p:sp>
      <p:cxnSp>
        <p:nvCxnSpPr>
          <p:cNvPr id="10" name="Straight Arrow Connector 9"/>
          <p:cNvCxnSpPr>
            <a:stCxn id="5" idx="2"/>
            <a:endCxn id="6" idx="0"/>
          </p:cNvCxnSpPr>
          <p:nvPr/>
        </p:nvCxnSpPr>
        <p:spPr>
          <a:xfrm>
            <a:off x="4465638" y="1866900"/>
            <a:ext cx="11112" cy="203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2"/>
            <a:endCxn id="7" idx="0"/>
          </p:cNvCxnSpPr>
          <p:nvPr/>
        </p:nvCxnSpPr>
        <p:spPr>
          <a:xfrm flipH="1">
            <a:off x="4468813" y="2451100"/>
            <a:ext cx="7937" cy="2905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2"/>
            <a:endCxn id="8" idx="0"/>
          </p:cNvCxnSpPr>
          <p:nvPr/>
        </p:nvCxnSpPr>
        <p:spPr>
          <a:xfrm flipH="1">
            <a:off x="4460875" y="3122613"/>
            <a:ext cx="7938" cy="2047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2"/>
            <a:endCxn id="9" idx="0"/>
          </p:cNvCxnSpPr>
          <p:nvPr/>
        </p:nvCxnSpPr>
        <p:spPr>
          <a:xfrm>
            <a:off x="4460875" y="3708400"/>
            <a:ext cx="7938" cy="215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220913" y="4570413"/>
            <a:ext cx="448786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Uygulama</a:t>
            </a:r>
            <a:endParaRPr lang="en-US" dirty="0"/>
          </a:p>
        </p:txBody>
      </p:sp>
      <p:cxnSp>
        <p:nvCxnSpPr>
          <p:cNvPr id="50" name="Straight Arrow Connector 49"/>
          <p:cNvCxnSpPr>
            <a:stCxn id="9" idx="2"/>
            <a:endCxn id="14" idx="0"/>
          </p:cNvCxnSpPr>
          <p:nvPr/>
        </p:nvCxnSpPr>
        <p:spPr>
          <a:xfrm flipH="1">
            <a:off x="4465638" y="4305300"/>
            <a:ext cx="3175" cy="2651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2233613" y="5257800"/>
            <a:ext cx="448786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Performans İzleme</a:t>
            </a:r>
            <a:endParaRPr lang="en-US" dirty="0"/>
          </a:p>
        </p:txBody>
      </p:sp>
      <p:sp>
        <p:nvSpPr>
          <p:cNvPr id="79" name="Rectangle 78"/>
          <p:cNvSpPr/>
          <p:nvPr/>
        </p:nvSpPr>
        <p:spPr>
          <a:xfrm>
            <a:off x="2217738" y="5867400"/>
            <a:ext cx="448786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tr-TR" dirty="0"/>
              <a:t>Standartlaştırma</a:t>
            </a:r>
            <a:endParaRPr lang="en-US" dirty="0"/>
          </a:p>
        </p:txBody>
      </p:sp>
      <p:cxnSp>
        <p:nvCxnSpPr>
          <p:cNvPr id="81" name="Straight Arrow Connector 80"/>
          <p:cNvCxnSpPr>
            <a:stCxn id="14" idx="2"/>
            <a:endCxn id="78" idx="0"/>
          </p:cNvCxnSpPr>
          <p:nvPr/>
        </p:nvCxnSpPr>
        <p:spPr>
          <a:xfrm>
            <a:off x="4465638" y="4951413"/>
            <a:ext cx="11112" cy="3063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8" idx="2"/>
            <a:endCxn id="79" idx="0"/>
          </p:cNvCxnSpPr>
          <p:nvPr/>
        </p:nvCxnSpPr>
        <p:spPr>
          <a:xfrm flipH="1">
            <a:off x="4460875" y="5638800"/>
            <a:ext cx="15875"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8468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tr-TR" sz="2800" dirty="0"/>
              <a:t>KRİTİK BAŞARI FAKTÖRLERİNİN BELİRLENMESİ</a:t>
            </a:r>
            <a:endParaRPr lang="en-US" sz="2800" dirty="0"/>
          </a:p>
        </p:txBody>
      </p:sp>
      <p:sp>
        <p:nvSpPr>
          <p:cNvPr id="3" name="Subtitle 2"/>
          <p:cNvSpPr>
            <a:spLocks noGrp="1"/>
          </p:cNvSpPr>
          <p:nvPr>
            <p:ph sz="quarter" idx="1"/>
          </p:nvPr>
        </p:nvSpPr>
        <p:spPr/>
        <p:txBody>
          <a:bodyPr rtlCol="0">
            <a:noAutofit/>
          </a:bodyPr>
          <a:lstStyle/>
          <a:p>
            <a:pPr algn="l" fontAlgn="auto">
              <a:spcAft>
                <a:spcPts val="0"/>
              </a:spcAft>
              <a:buFont typeface="Arial" pitchFamily="34" charset="0"/>
              <a:buNone/>
              <a:defRPr/>
            </a:pPr>
            <a:r>
              <a:rPr lang="tr-TR" sz="2000" dirty="0">
                <a:solidFill>
                  <a:schemeClr val="tx1"/>
                </a:solidFill>
              </a:rPr>
              <a:t>Sektörde başarılı olunması için, mutlaka iyi olunması gereken temel birkaç konu</a:t>
            </a:r>
          </a:p>
          <a:p>
            <a:pPr marL="342900" indent="-342900" algn="l" fontAlgn="auto">
              <a:spcAft>
                <a:spcPts val="0"/>
              </a:spcAft>
              <a:buFont typeface="Arial" pitchFamily="34" charset="0"/>
              <a:buChar char="•"/>
              <a:defRPr/>
            </a:pPr>
            <a:r>
              <a:rPr lang="tr-TR" sz="2000" dirty="0">
                <a:solidFill>
                  <a:schemeClr val="tx1"/>
                </a:solidFill>
              </a:rPr>
              <a:t>Ürün çeşitliliği</a:t>
            </a:r>
          </a:p>
          <a:p>
            <a:pPr marL="342900" indent="-342900" algn="l" fontAlgn="auto">
              <a:spcAft>
                <a:spcPts val="0"/>
              </a:spcAft>
              <a:buFont typeface="Arial" pitchFamily="34" charset="0"/>
              <a:buChar char="•"/>
              <a:defRPr/>
            </a:pPr>
            <a:r>
              <a:rPr lang="tr-TR" sz="2000" dirty="0">
                <a:solidFill>
                  <a:schemeClr val="tx1"/>
                </a:solidFill>
              </a:rPr>
              <a:t>Servis ağının yaygınlığı</a:t>
            </a:r>
          </a:p>
          <a:p>
            <a:pPr marL="342900" indent="-342900" algn="l" fontAlgn="auto">
              <a:spcAft>
                <a:spcPts val="0"/>
              </a:spcAft>
              <a:buFont typeface="Arial" pitchFamily="34" charset="0"/>
              <a:buChar char="•"/>
              <a:defRPr/>
            </a:pPr>
            <a:r>
              <a:rPr lang="tr-TR" sz="2000" dirty="0">
                <a:solidFill>
                  <a:schemeClr val="tx1"/>
                </a:solidFill>
              </a:rPr>
              <a:t>Yüksek ürün kalitesi</a:t>
            </a:r>
          </a:p>
          <a:p>
            <a:pPr marL="342900" indent="-342900" algn="l" fontAlgn="auto">
              <a:spcAft>
                <a:spcPts val="0"/>
              </a:spcAft>
              <a:buFont typeface="Arial" pitchFamily="34" charset="0"/>
              <a:buChar char="•"/>
              <a:defRPr/>
            </a:pPr>
            <a:r>
              <a:rPr lang="tr-TR" sz="2000" dirty="0">
                <a:solidFill>
                  <a:schemeClr val="tx1"/>
                </a:solidFill>
              </a:rPr>
              <a:t>......</a:t>
            </a:r>
          </a:p>
          <a:p>
            <a:pPr algn="l" fontAlgn="auto">
              <a:spcAft>
                <a:spcPts val="0"/>
              </a:spcAft>
              <a:buFont typeface="Arial" pitchFamily="34" charset="0"/>
              <a:buNone/>
              <a:defRPr/>
            </a:pPr>
            <a:endParaRPr lang="tr-TR" sz="2000" dirty="0">
              <a:solidFill>
                <a:schemeClr val="tx1"/>
              </a:solidFill>
            </a:endParaRPr>
          </a:p>
          <a:p>
            <a:pPr algn="l" fontAlgn="auto">
              <a:spcAft>
                <a:spcPts val="0"/>
              </a:spcAft>
              <a:buFont typeface="Arial" pitchFamily="34" charset="0"/>
              <a:buNone/>
              <a:defRPr/>
            </a:pPr>
            <a:r>
              <a:rPr lang="tr-TR" sz="2000" dirty="0">
                <a:solidFill>
                  <a:schemeClr val="tx1"/>
                </a:solidFill>
              </a:rPr>
              <a:t>Kritik başarı faktörleri, müşterinin seçim yaparken dikkate aldığı kriterlerle yakından ilgilidir.</a:t>
            </a:r>
          </a:p>
          <a:p>
            <a:pPr algn="l" fontAlgn="auto">
              <a:spcAft>
                <a:spcPts val="0"/>
              </a:spcAft>
              <a:buFont typeface="Arial" pitchFamily="34" charset="0"/>
              <a:buNone/>
              <a:defRPr/>
            </a:pPr>
            <a:endParaRPr lang="tr-TR" sz="1000" dirty="0">
              <a:solidFill>
                <a:schemeClr val="tx1"/>
              </a:solidFill>
            </a:endParaRPr>
          </a:p>
          <a:p>
            <a:pPr lvl="1" algn="l" fontAlgn="auto">
              <a:spcAft>
                <a:spcPts val="0"/>
              </a:spcAft>
              <a:buFont typeface="Arial" pitchFamily="34" charset="0"/>
              <a:buNone/>
              <a:defRPr/>
            </a:pPr>
            <a:r>
              <a:rPr lang="tr-TR" sz="1600" dirty="0">
                <a:solidFill>
                  <a:schemeClr val="tx1"/>
                </a:solidFill>
              </a:rPr>
              <a:t>Örnek:</a:t>
            </a:r>
          </a:p>
          <a:p>
            <a:pPr marL="742950" lvl="1" indent="-285750" algn="l" fontAlgn="auto">
              <a:spcAft>
                <a:spcPts val="0"/>
              </a:spcAft>
              <a:buFont typeface="Arial" pitchFamily="34" charset="0"/>
              <a:buChar char="•"/>
              <a:defRPr/>
            </a:pPr>
            <a:r>
              <a:rPr lang="tr-TR" sz="1600" dirty="0">
                <a:solidFill>
                  <a:schemeClr val="tx1"/>
                </a:solidFill>
              </a:rPr>
              <a:t>Otomotiv sektörünün kritik başarı faktörleri neler olabilir?</a:t>
            </a:r>
          </a:p>
          <a:p>
            <a:pPr marL="742950" lvl="1" indent="-285750" algn="l" fontAlgn="auto">
              <a:spcAft>
                <a:spcPts val="0"/>
              </a:spcAft>
              <a:buFont typeface="Arial" pitchFamily="34" charset="0"/>
              <a:buChar char="•"/>
              <a:defRPr/>
            </a:pPr>
            <a:r>
              <a:rPr lang="tr-TR" sz="1600" dirty="0">
                <a:solidFill>
                  <a:schemeClr val="tx1"/>
                </a:solidFill>
              </a:rPr>
              <a:t>Otomobil seçerken hangi kriterleri dikkate alırsınız?</a:t>
            </a:r>
          </a:p>
        </p:txBody>
      </p:sp>
    </p:spTree>
    <p:extLst>
      <p:ext uri="{BB962C8B-B14F-4D97-AF65-F5344CB8AC3E}">
        <p14:creationId xmlns:p14="http://schemas.microsoft.com/office/powerpoint/2010/main" val="18647273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tr-TR" sz="2800" dirty="0"/>
              <a:t>KRİTİK BAŞARI FAKTÖRLERİNİN BELİRLENMESİ</a:t>
            </a:r>
            <a:endParaRPr lang="en-US" sz="2800" dirty="0"/>
          </a:p>
        </p:txBody>
      </p:sp>
      <p:sp>
        <p:nvSpPr>
          <p:cNvPr id="3" name="Subtitle 2"/>
          <p:cNvSpPr>
            <a:spLocks noGrp="1"/>
          </p:cNvSpPr>
          <p:nvPr>
            <p:ph sz="quarter" idx="1"/>
          </p:nvPr>
        </p:nvSpPr>
        <p:spPr/>
        <p:txBody>
          <a:bodyPr rtlCol="0">
            <a:noAutofit/>
          </a:bodyPr>
          <a:lstStyle/>
          <a:p>
            <a:pPr algn="l" fontAlgn="auto">
              <a:spcAft>
                <a:spcPts val="600"/>
              </a:spcAft>
              <a:buFont typeface="Arial" pitchFamily="34" charset="0"/>
              <a:buNone/>
              <a:defRPr/>
            </a:pPr>
            <a:r>
              <a:rPr lang="tr-TR" sz="2000" dirty="0">
                <a:solidFill>
                  <a:schemeClr val="tx1"/>
                </a:solidFill>
              </a:rPr>
              <a:t>KBF`lerin belirlenmesi için müşteri eğilimleri, şirketin yapısı, sektör ve rakiplerin durumu, ülkedeki ve dünyadaki ekonomik/politik/teknolojik trendler dikkatli bir şekilde analiz edilmelidir.</a:t>
            </a:r>
          </a:p>
          <a:p>
            <a:pPr algn="l" fontAlgn="auto">
              <a:spcAft>
                <a:spcPts val="600"/>
              </a:spcAft>
              <a:buFont typeface="Arial" pitchFamily="34" charset="0"/>
              <a:buNone/>
              <a:defRPr/>
            </a:pPr>
            <a:r>
              <a:rPr lang="tr-TR" sz="2000" dirty="0">
                <a:solidFill>
                  <a:schemeClr val="tx1"/>
                </a:solidFill>
              </a:rPr>
              <a:t>KBF`lerin belirlenmesi için kullanılabilecek bazı yöntemler:</a:t>
            </a:r>
          </a:p>
          <a:p>
            <a:pPr marL="342900" indent="-342900" algn="l" fontAlgn="auto">
              <a:spcAft>
                <a:spcPts val="600"/>
              </a:spcAft>
              <a:buFont typeface="Arial" pitchFamily="34" charset="0"/>
              <a:buChar char="•"/>
              <a:defRPr/>
            </a:pPr>
            <a:r>
              <a:rPr lang="tr-TR" sz="2000" dirty="0">
                <a:solidFill>
                  <a:schemeClr val="tx1"/>
                </a:solidFill>
              </a:rPr>
              <a:t>Ulusal/uluslar arası sektörel kurum ve kuruluşlar</a:t>
            </a:r>
          </a:p>
          <a:p>
            <a:pPr marL="342900" indent="-342900" algn="l" fontAlgn="auto">
              <a:spcAft>
                <a:spcPts val="600"/>
              </a:spcAft>
              <a:buFont typeface="Arial" pitchFamily="34" charset="0"/>
              <a:buChar char="•"/>
              <a:defRPr/>
            </a:pPr>
            <a:r>
              <a:rPr lang="tr-TR" sz="2000" dirty="0">
                <a:solidFill>
                  <a:schemeClr val="tx1"/>
                </a:solidFill>
              </a:rPr>
              <a:t>Sektörel yayınlar</a:t>
            </a:r>
          </a:p>
          <a:p>
            <a:pPr marL="342900" indent="-342900" algn="l" fontAlgn="auto">
              <a:spcAft>
                <a:spcPts val="600"/>
              </a:spcAft>
              <a:buFont typeface="Arial" pitchFamily="34" charset="0"/>
              <a:buChar char="•"/>
              <a:defRPr/>
            </a:pPr>
            <a:r>
              <a:rPr lang="tr-TR" sz="2000" dirty="0">
                <a:solidFill>
                  <a:schemeClr val="tx1"/>
                </a:solidFill>
              </a:rPr>
              <a:t>Müşteri anketleri/görüşmeleri</a:t>
            </a:r>
          </a:p>
          <a:p>
            <a:pPr marL="342900" indent="-342900" algn="l" fontAlgn="auto">
              <a:spcAft>
                <a:spcPts val="600"/>
              </a:spcAft>
              <a:buFont typeface="Arial" pitchFamily="34" charset="0"/>
              <a:buChar char="•"/>
              <a:defRPr/>
            </a:pPr>
            <a:r>
              <a:rPr lang="tr-TR" sz="2000" dirty="0">
                <a:solidFill>
                  <a:schemeClr val="tx1"/>
                </a:solidFill>
              </a:rPr>
              <a:t>Benchmarking</a:t>
            </a:r>
          </a:p>
          <a:p>
            <a:pPr marL="342900" indent="-342900" algn="l" fontAlgn="auto">
              <a:spcAft>
                <a:spcPts val="600"/>
              </a:spcAft>
              <a:buFont typeface="Arial" pitchFamily="34" charset="0"/>
              <a:buChar char="•"/>
              <a:defRPr/>
            </a:pPr>
            <a:r>
              <a:rPr lang="tr-TR" sz="2000" dirty="0">
                <a:solidFill>
                  <a:schemeClr val="tx1"/>
                </a:solidFill>
              </a:rPr>
              <a:t>Uzman görüşleri</a:t>
            </a:r>
          </a:p>
          <a:p>
            <a:pPr marL="342900" indent="-342900" algn="l" fontAlgn="auto">
              <a:spcAft>
                <a:spcPts val="600"/>
              </a:spcAft>
              <a:buFont typeface="Arial" pitchFamily="34" charset="0"/>
              <a:buChar char="•"/>
              <a:defRPr/>
            </a:pPr>
            <a:r>
              <a:rPr lang="tr-TR" sz="2000" dirty="0">
                <a:solidFill>
                  <a:schemeClr val="tx1"/>
                </a:solidFill>
              </a:rPr>
              <a:t>........</a:t>
            </a:r>
            <a:endParaRPr lang="en-US" sz="2000" dirty="0">
              <a:solidFill>
                <a:schemeClr val="tx1"/>
              </a:solidFill>
            </a:endParaRPr>
          </a:p>
        </p:txBody>
      </p:sp>
    </p:spTree>
    <p:extLst>
      <p:ext uri="{BB962C8B-B14F-4D97-AF65-F5344CB8AC3E}">
        <p14:creationId xmlns:p14="http://schemas.microsoft.com/office/powerpoint/2010/main" val="9982445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tr-TR" sz="2800" dirty="0"/>
              <a:t>İYİLEŞTİRME ÖNCELİKLERİNİN BELİRLENMESİ – </a:t>
            </a:r>
            <a:r>
              <a:rPr lang="tr-TR" sz="2800" i="1" dirty="0"/>
              <a:t>ETKİ ANALİZİ</a:t>
            </a:r>
            <a:endParaRPr lang="en-US" sz="2800" dirty="0"/>
          </a:p>
        </p:txBody>
      </p:sp>
      <p:sp>
        <p:nvSpPr>
          <p:cNvPr id="3" name="Subtitle 2"/>
          <p:cNvSpPr>
            <a:spLocks noGrp="1"/>
          </p:cNvSpPr>
          <p:nvPr>
            <p:ph sz="quarter" idx="1"/>
          </p:nvPr>
        </p:nvSpPr>
        <p:spPr/>
        <p:txBody>
          <a:bodyPr rtlCol="0">
            <a:noAutofit/>
          </a:bodyPr>
          <a:lstStyle/>
          <a:p>
            <a:pPr marL="342900" indent="-342900" algn="l" fontAlgn="auto">
              <a:spcAft>
                <a:spcPts val="0"/>
              </a:spcAft>
              <a:buFont typeface="Wingdings" pitchFamily="2" charset="2"/>
              <a:buChar char="Ø"/>
              <a:defRPr/>
            </a:pPr>
            <a:r>
              <a:rPr lang="tr-TR" sz="2000" dirty="0">
                <a:solidFill>
                  <a:schemeClr val="tx1"/>
                </a:solidFill>
              </a:rPr>
              <a:t>Kritik Başarı Faktörleri belirlendikten sonra, süreçlerin kritk başarı faktörlerine etkileri belirlenir.</a:t>
            </a:r>
          </a:p>
          <a:p>
            <a:pPr marL="342900" indent="-342900" algn="l" fontAlgn="auto">
              <a:spcAft>
                <a:spcPts val="0"/>
              </a:spcAft>
              <a:buFont typeface="Wingdings" pitchFamily="2" charset="2"/>
              <a:buChar char="Ø"/>
              <a:defRPr/>
            </a:pPr>
            <a:endParaRPr lang="tr-TR" sz="2000" dirty="0">
              <a:solidFill>
                <a:schemeClr val="tx1"/>
              </a:solidFill>
            </a:endParaRPr>
          </a:p>
          <a:p>
            <a:pPr marL="342900" indent="-342900" algn="l" fontAlgn="auto">
              <a:spcAft>
                <a:spcPts val="0"/>
              </a:spcAft>
              <a:buFont typeface="Wingdings" pitchFamily="2" charset="2"/>
              <a:buChar char="Ø"/>
              <a:defRPr/>
            </a:pPr>
            <a:endParaRPr lang="tr-TR" sz="2000" dirty="0">
              <a:solidFill>
                <a:schemeClr val="tx1"/>
              </a:solidFill>
            </a:endParaRPr>
          </a:p>
          <a:p>
            <a:pPr marL="342900" indent="-342900" algn="l" fontAlgn="auto">
              <a:spcAft>
                <a:spcPts val="0"/>
              </a:spcAft>
              <a:buFont typeface="Wingdings" pitchFamily="2" charset="2"/>
              <a:buChar char="Ø"/>
              <a:defRPr/>
            </a:pPr>
            <a:endParaRPr lang="tr-TR" sz="2000" dirty="0">
              <a:solidFill>
                <a:schemeClr val="tx1"/>
              </a:solidFill>
            </a:endParaRPr>
          </a:p>
          <a:p>
            <a:pPr marL="342900" indent="-342900" algn="l" fontAlgn="auto">
              <a:spcAft>
                <a:spcPts val="0"/>
              </a:spcAft>
              <a:buFont typeface="Wingdings" pitchFamily="2" charset="2"/>
              <a:buChar char="Ø"/>
              <a:defRPr/>
            </a:pPr>
            <a:endParaRPr lang="tr-TR" sz="2000" dirty="0">
              <a:solidFill>
                <a:schemeClr val="tx1"/>
              </a:solidFill>
            </a:endParaRPr>
          </a:p>
          <a:p>
            <a:pPr marL="342900" indent="-342900" algn="l" fontAlgn="auto">
              <a:spcAft>
                <a:spcPts val="0"/>
              </a:spcAft>
              <a:buFont typeface="Wingdings" pitchFamily="2" charset="2"/>
              <a:buChar char="Ø"/>
              <a:defRPr/>
            </a:pPr>
            <a:endParaRPr lang="tr-TR" sz="2000" dirty="0">
              <a:solidFill>
                <a:schemeClr val="tx1"/>
              </a:solidFill>
            </a:endParaRPr>
          </a:p>
          <a:p>
            <a:pPr marL="342900" indent="-342900" algn="l" fontAlgn="auto">
              <a:spcAft>
                <a:spcPts val="0"/>
              </a:spcAft>
              <a:buFont typeface="Wingdings" pitchFamily="2" charset="2"/>
              <a:buChar char="Ø"/>
              <a:defRPr/>
            </a:pPr>
            <a:endParaRPr lang="tr-TR" sz="2000" dirty="0">
              <a:solidFill>
                <a:schemeClr val="tx1"/>
              </a:solidFill>
            </a:endParaRPr>
          </a:p>
          <a:p>
            <a:pPr marL="342900" indent="-342900" algn="l" fontAlgn="auto">
              <a:spcAft>
                <a:spcPts val="0"/>
              </a:spcAft>
              <a:buFont typeface="Wingdings" pitchFamily="2" charset="2"/>
              <a:buChar char="Ø"/>
              <a:defRPr/>
            </a:pPr>
            <a:endParaRPr lang="tr-TR" sz="2000" dirty="0">
              <a:solidFill>
                <a:schemeClr val="tx1"/>
              </a:solidFill>
            </a:endParaRPr>
          </a:p>
          <a:p>
            <a:pPr algn="l" fontAlgn="auto">
              <a:spcAft>
                <a:spcPts val="0"/>
              </a:spcAft>
              <a:buFont typeface="Arial" pitchFamily="34" charset="0"/>
              <a:buNone/>
              <a:defRPr/>
            </a:pPr>
            <a:r>
              <a:rPr lang="tr-TR" sz="2000" dirty="0">
                <a:solidFill>
                  <a:schemeClr val="tx1"/>
                </a:solidFill>
              </a:rPr>
              <a:t>0: ETKİSİZ         5: ORTA DERECEDE ETKİ           10: YÜKSEK ETKİ</a:t>
            </a:r>
          </a:p>
        </p:txBody>
      </p:sp>
      <p:graphicFrame>
        <p:nvGraphicFramePr>
          <p:cNvPr id="4" name="Table 3"/>
          <p:cNvGraphicFramePr>
            <a:graphicFrameLocks noGrp="1"/>
          </p:cNvGraphicFramePr>
          <p:nvPr/>
        </p:nvGraphicFramePr>
        <p:xfrm>
          <a:off x="838200" y="2819400"/>
          <a:ext cx="7239000" cy="2228850"/>
        </p:xfrm>
        <a:graphic>
          <a:graphicData uri="http://schemas.openxmlformats.org/drawingml/2006/table">
            <a:tbl>
              <a:tblPr/>
              <a:tblGrid>
                <a:gridCol w="16002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1" i="0" u="none" strike="noStrike" cap="none" normalizeH="0" baseline="0">
                          <a:ln>
                            <a:noFill/>
                          </a:ln>
                          <a:solidFill>
                            <a:srgbClr val="FFFFFF"/>
                          </a:solidFill>
                          <a:effectLst/>
                          <a:latin typeface="Calibri" pitchFamily="34" charset="0"/>
                        </a:rPr>
                        <a:t>ANA SÜREÇ</a:t>
                      </a:r>
                      <a:endParaRPr kumimoji="0" lang="en-US" sz="1800" b="1" i="0" u="none" strike="noStrike" cap="none" normalizeH="0" baseline="0">
                        <a:ln>
                          <a:noFill/>
                        </a:ln>
                        <a:solidFill>
                          <a:srgbClr val="FFFFFF"/>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1" i="0" u="none" strike="noStrike" cap="none" normalizeH="0" baseline="0">
                          <a:ln>
                            <a:noFill/>
                          </a:ln>
                          <a:solidFill>
                            <a:srgbClr val="FFFFFF"/>
                          </a:solidFill>
                          <a:effectLst/>
                          <a:latin typeface="Calibri" pitchFamily="34" charset="0"/>
                        </a:rPr>
                        <a:t>KBF 1</a:t>
                      </a:r>
                      <a:endParaRPr kumimoji="0" lang="en-US" sz="1800" b="1" i="0" u="none" strike="noStrike" cap="none" normalizeH="0" baseline="0">
                        <a:ln>
                          <a:noFill/>
                        </a:ln>
                        <a:solidFill>
                          <a:srgbClr val="FFFFFF"/>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1" i="0" u="none" strike="noStrike" cap="none" normalizeH="0" baseline="0">
                          <a:ln>
                            <a:noFill/>
                          </a:ln>
                          <a:solidFill>
                            <a:srgbClr val="FFFFFF"/>
                          </a:solidFill>
                          <a:effectLst/>
                          <a:latin typeface="Calibri" pitchFamily="34" charset="0"/>
                        </a:rPr>
                        <a:t>KBF 2</a:t>
                      </a:r>
                      <a:endParaRPr kumimoji="0" lang="en-US" sz="1800" b="1" i="0" u="none" strike="noStrike" cap="none" normalizeH="0" baseline="0">
                        <a:ln>
                          <a:noFill/>
                        </a:ln>
                        <a:solidFill>
                          <a:srgbClr val="FFFFFF"/>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1" i="0" u="none" strike="noStrike" cap="none" normalizeH="0" baseline="0">
                          <a:ln>
                            <a:noFill/>
                          </a:ln>
                          <a:solidFill>
                            <a:srgbClr val="FFFFFF"/>
                          </a:solidFill>
                          <a:effectLst/>
                          <a:latin typeface="Calibri" pitchFamily="34" charset="0"/>
                        </a:rPr>
                        <a:t>KBF 3</a:t>
                      </a:r>
                      <a:endParaRPr kumimoji="0" lang="en-US" sz="1800" b="1" i="0" u="none" strike="noStrike" cap="none" normalizeH="0" baseline="0">
                        <a:ln>
                          <a:noFill/>
                        </a:ln>
                        <a:solidFill>
                          <a:srgbClr val="FFFFFF"/>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1" i="0" u="none" strike="noStrike" cap="none" normalizeH="0" baseline="0">
                          <a:ln>
                            <a:noFill/>
                          </a:ln>
                          <a:solidFill>
                            <a:srgbClr val="FFFFFF"/>
                          </a:solidFill>
                          <a:effectLst/>
                          <a:latin typeface="Calibri" pitchFamily="34" charset="0"/>
                        </a:rPr>
                        <a:t>KBF 4</a:t>
                      </a:r>
                      <a:endParaRPr kumimoji="0" lang="en-US" sz="1800" b="1" i="0" u="none" strike="noStrike" cap="none" normalizeH="0" baseline="0">
                        <a:ln>
                          <a:noFill/>
                        </a:ln>
                        <a:solidFill>
                          <a:srgbClr val="FFFFFF"/>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1" i="0" u="none" strike="noStrike" cap="none" normalizeH="0" baseline="0">
                          <a:ln>
                            <a:noFill/>
                          </a:ln>
                          <a:solidFill>
                            <a:srgbClr val="FFFFFF"/>
                          </a:solidFill>
                          <a:effectLst/>
                          <a:latin typeface="Calibri" pitchFamily="34" charset="0"/>
                        </a:rPr>
                        <a:t>TOPLAM</a:t>
                      </a:r>
                      <a:endParaRPr kumimoji="0" lang="en-US" sz="1800" b="1" i="0" u="none" strike="noStrike" cap="none" normalizeH="0" baseline="0">
                        <a:ln>
                          <a:noFill/>
                        </a:ln>
                        <a:solidFill>
                          <a:srgbClr val="FFFFFF"/>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1. TASARIM</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9</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10</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6</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29</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2. SİPARİŞ</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9</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8</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10</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9</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36</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3. PLANLAMA</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2</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4</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3</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1</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10</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4. ÜRETİM</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9</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5</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5</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0</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19</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a:ln>
                            <a:noFill/>
                          </a:ln>
                          <a:solidFill>
                            <a:srgbClr val="000000"/>
                          </a:solidFill>
                          <a:effectLst/>
                          <a:latin typeface="Calibri" pitchFamily="34" charset="0"/>
                        </a:rPr>
                        <a:t>......</a:t>
                      </a:r>
                      <a:endParaRPr kumimoji="0" lang="en-US"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068294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tr-TR" sz="2800" dirty="0"/>
              <a:t>KRİTİK SÜREÇLERİN BELİRLENMESİ – </a:t>
            </a:r>
            <a:r>
              <a:rPr lang="tr-TR" sz="2200" i="1" dirty="0"/>
              <a:t>MEVCUT DURUM ANALİZİ</a:t>
            </a:r>
            <a:endParaRPr lang="en-US" sz="2200" dirty="0"/>
          </a:p>
        </p:txBody>
      </p:sp>
      <p:sp>
        <p:nvSpPr>
          <p:cNvPr id="3" name="Subtitle 2"/>
          <p:cNvSpPr>
            <a:spLocks noGrp="1"/>
          </p:cNvSpPr>
          <p:nvPr>
            <p:ph sz="quarter" idx="1"/>
          </p:nvPr>
        </p:nvSpPr>
        <p:spPr/>
        <p:txBody>
          <a:bodyPr>
            <a:noAutofit/>
          </a:bodyPr>
          <a:lstStyle/>
          <a:p>
            <a:pPr marL="342900" indent="-342900" algn="l">
              <a:buFont typeface="Wingdings" pitchFamily="2" charset="2"/>
              <a:buChar char="Ø"/>
            </a:pPr>
            <a:r>
              <a:rPr lang="tr-TR" sz="2000">
                <a:solidFill>
                  <a:schemeClr val="tx1"/>
                </a:solidFill>
              </a:rPr>
              <a:t>Ana süreçlerin performan göstergeleri kullanılarak veri analizi yapılır ve mevcut durum sayısal olarak belirlenir.</a:t>
            </a:r>
          </a:p>
          <a:p>
            <a:pPr marL="342900" indent="-342900" algn="l">
              <a:buFont typeface="Wingdings" pitchFamily="2" charset="2"/>
              <a:buChar char="Ø"/>
            </a:pPr>
            <a:r>
              <a:rPr lang="tr-TR" sz="2000">
                <a:solidFill>
                  <a:schemeClr val="tx1"/>
                </a:solidFill>
              </a:rPr>
              <a:t>Aynı göstergeler kullanılarak, kıyaslama (Benchmarking) gibi metodlar ve çeşitli kaynaklardan edinilen bilgiler ile sektörün en iyi rakamlar/hedef değerler belirlenmeye çalışılır.</a:t>
            </a:r>
          </a:p>
          <a:p>
            <a:pPr marL="342900" indent="-342900" algn="l">
              <a:buFont typeface="Wingdings" pitchFamily="2" charset="2"/>
              <a:buChar char="Ø"/>
            </a:pPr>
            <a:endParaRPr lang="tr-TR" sz="2000">
              <a:solidFill>
                <a:schemeClr val="tx1"/>
              </a:solidFill>
            </a:endParaRPr>
          </a:p>
          <a:p>
            <a:pPr marL="342900" indent="-342900" algn="l"/>
            <a:r>
              <a:rPr lang="tr-TR" sz="2000">
                <a:solidFill>
                  <a:schemeClr val="tx1"/>
                </a:solidFill>
              </a:rPr>
              <a:t>1. TASARIM SÜRECİ – Performans Göstergeleri</a:t>
            </a:r>
          </a:p>
          <a:p>
            <a:pPr marL="342900" indent="-342900" algn="l">
              <a:buFont typeface="Wingdings" pitchFamily="2" charset="2"/>
              <a:buChar char="Ø"/>
            </a:pPr>
            <a:r>
              <a:rPr lang="tr-TR" sz="2000">
                <a:solidFill>
                  <a:schemeClr val="tx1"/>
                </a:solidFill>
              </a:rPr>
              <a:t>Yeni Ürün Tasarım Süreci</a:t>
            </a:r>
          </a:p>
          <a:p>
            <a:pPr marL="342900" indent="-342900" algn="l">
              <a:buFont typeface="Wingdings" pitchFamily="2" charset="2"/>
              <a:buChar char="Ø"/>
            </a:pPr>
            <a:r>
              <a:rPr lang="tr-TR" sz="2000">
                <a:solidFill>
                  <a:schemeClr val="tx1"/>
                </a:solidFill>
              </a:rPr>
              <a:t>Üretimde Tespit Edilen Tasarım Hata Sayısı</a:t>
            </a:r>
          </a:p>
          <a:p>
            <a:pPr marL="342900" indent="-342900" algn="l">
              <a:buFont typeface="Wingdings" pitchFamily="2" charset="2"/>
              <a:buChar char="Ø"/>
            </a:pPr>
            <a:r>
              <a:rPr lang="tr-TR" sz="2000">
                <a:solidFill>
                  <a:schemeClr val="tx1"/>
                </a:solidFill>
              </a:rPr>
              <a:t>Ortalama Tasarım Maliyeti</a:t>
            </a:r>
          </a:p>
          <a:p>
            <a:pPr marL="342900" indent="-342900" algn="l">
              <a:buFont typeface="Wingdings" pitchFamily="2" charset="2"/>
              <a:buChar char="Ø"/>
            </a:pPr>
            <a:r>
              <a:rPr lang="tr-TR" sz="2000">
                <a:solidFill>
                  <a:schemeClr val="tx1"/>
                </a:solidFill>
              </a:rPr>
              <a:t>.......</a:t>
            </a:r>
          </a:p>
        </p:txBody>
      </p:sp>
    </p:spTree>
    <p:extLst>
      <p:ext uri="{BB962C8B-B14F-4D97-AF65-F5344CB8AC3E}">
        <p14:creationId xmlns:p14="http://schemas.microsoft.com/office/powerpoint/2010/main" val="38658970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800" dirty="0">
                <a:solidFill>
                  <a:srgbClr val="7030A0"/>
                </a:solidFill>
                <a:effectLst>
                  <a:outerShdw blurRad="38100" dist="38100" dir="2700000" algn="tl">
                    <a:srgbClr val="000000">
                      <a:alpha val="43137"/>
                    </a:srgbClr>
                  </a:outerShdw>
                </a:effectLst>
              </a:rPr>
              <a:t>MEVCUT DURUM ANALİZİ</a:t>
            </a:r>
          </a:p>
        </p:txBody>
      </p:sp>
      <p:sp>
        <p:nvSpPr>
          <p:cNvPr id="3" name="2 Alt Başlık"/>
          <p:cNvSpPr>
            <a:spLocks noGrp="1"/>
          </p:cNvSpPr>
          <p:nvPr>
            <p:ph sz="quarter" idx="1"/>
          </p:nvPr>
        </p:nvSpPr>
        <p:spPr>
          <a:xfrm>
            <a:off x="612648" y="5384800"/>
            <a:ext cx="8153400" cy="711200"/>
          </a:xfrm>
        </p:spPr>
        <p:txBody>
          <a:bodyPr>
            <a:normAutofit/>
          </a:bodyPr>
          <a:lstStyle/>
          <a:p>
            <a:r>
              <a:rPr lang="tr-TR" sz="2000" dirty="0">
                <a:solidFill>
                  <a:srgbClr val="7030A0"/>
                </a:solidFill>
                <a:effectLst>
                  <a:outerShdw blurRad="38100" dist="38100" dir="2700000" algn="tl">
                    <a:srgbClr val="000000">
                      <a:alpha val="43137"/>
                    </a:srgbClr>
                  </a:outerShdw>
                </a:effectLst>
              </a:rPr>
              <a:t>0:Yetersiz      5:Sektör Ortalamalarında       10: Mükemmel</a:t>
            </a:r>
          </a:p>
        </p:txBody>
      </p:sp>
      <p:graphicFrame>
        <p:nvGraphicFramePr>
          <p:cNvPr id="4" name="3 Tablo"/>
          <p:cNvGraphicFramePr>
            <a:graphicFrameLocks noGrp="1"/>
          </p:cNvGraphicFramePr>
          <p:nvPr>
            <p:extLst>
              <p:ext uri="{D42A27DB-BD31-4B8C-83A1-F6EECF244321}">
                <p14:modId xmlns:p14="http://schemas.microsoft.com/office/powerpoint/2010/main" val="3801095179"/>
              </p:ext>
            </p:extLst>
          </p:nvPr>
        </p:nvGraphicFramePr>
        <p:xfrm>
          <a:off x="1547664" y="1421163"/>
          <a:ext cx="6192688" cy="3528392"/>
        </p:xfrm>
        <a:graphic>
          <a:graphicData uri="http://schemas.openxmlformats.org/drawingml/2006/table">
            <a:tbl>
              <a:tblPr firstRow="1" bandRow="1">
                <a:tableStyleId>{5C22544A-7EE6-4342-B048-85BDC9FD1C3A}</a:tableStyleId>
              </a:tblPr>
              <a:tblGrid>
                <a:gridCol w="1548172">
                  <a:extLst>
                    <a:ext uri="{9D8B030D-6E8A-4147-A177-3AD203B41FA5}">
                      <a16:colId xmlns:a16="http://schemas.microsoft.com/office/drawing/2014/main" val="20000"/>
                    </a:ext>
                  </a:extLst>
                </a:gridCol>
                <a:gridCol w="1548172">
                  <a:extLst>
                    <a:ext uri="{9D8B030D-6E8A-4147-A177-3AD203B41FA5}">
                      <a16:colId xmlns:a16="http://schemas.microsoft.com/office/drawing/2014/main" val="20001"/>
                    </a:ext>
                  </a:extLst>
                </a:gridCol>
                <a:gridCol w="1548172">
                  <a:extLst>
                    <a:ext uri="{9D8B030D-6E8A-4147-A177-3AD203B41FA5}">
                      <a16:colId xmlns:a16="http://schemas.microsoft.com/office/drawing/2014/main" val="20002"/>
                    </a:ext>
                  </a:extLst>
                </a:gridCol>
                <a:gridCol w="1548172">
                  <a:extLst>
                    <a:ext uri="{9D8B030D-6E8A-4147-A177-3AD203B41FA5}">
                      <a16:colId xmlns:a16="http://schemas.microsoft.com/office/drawing/2014/main" val="20003"/>
                    </a:ext>
                  </a:extLst>
                </a:gridCol>
              </a:tblGrid>
              <a:tr h="771980">
                <a:tc>
                  <a:txBody>
                    <a:bodyPr/>
                    <a:lstStyle/>
                    <a:p>
                      <a:r>
                        <a:rPr lang="tr-TR" dirty="0"/>
                        <a:t>Ana</a:t>
                      </a:r>
                      <a:r>
                        <a:rPr lang="tr-TR" baseline="0" dirty="0"/>
                        <a:t> Süreç</a:t>
                      </a:r>
                      <a:endParaRPr lang="tr-TR" dirty="0"/>
                    </a:p>
                  </a:txBody>
                  <a:tcPr/>
                </a:tc>
                <a:tc>
                  <a:txBody>
                    <a:bodyPr/>
                    <a:lstStyle/>
                    <a:p>
                      <a:r>
                        <a:rPr lang="tr-TR" dirty="0"/>
                        <a:t>Mevcut Durum</a:t>
                      </a:r>
                    </a:p>
                  </a:txBody>
                  <a:tcPr/>
                </a:tc>
                <a:tc>
                  <a:txBody>
                    <a:bodyPr/>
                    <a:lstStyle/>
                    <a:p>
                      <a:r>
                        <a:rPr lang="tr-TR" dirty="0"/>
                        <a:t>Sektör</a:t>
                      </a:r>
                      <a:r>
                        <a:rPr lang="tr-TR" baseline="0" dirty="0"/>
                        <a:t> Verileri</a:t>
                      </a:r>
                      <a:endParaRPr lang="tr-TR" dirty="0"/>
                    </a:p>
                  </a:txBody>
                  <a:tcPr/>
                </a:tc>
                <a:tc>
                  <a:txBody>
                    <a:bodyPr/>
                    <a:lstStyle/>
                    <a:p>
                      <a:r>
                        <a:rPr lang="tr-TR" dirty="0"/>
                        <a:t>Durum   Puanı</a:t>
                      </a:r>
                    </a:p>
                  </a:txBody>
                  <a:tcPr/>
                </a:tc>
                <a:extLst>
                  <a:ext uri="{0D108BD9-81ED-4DB2-BD59-A6C34878D82A}">
                    <a16:rowId xmlns:a16="http://schemas.microsoft.com/office/drawing/2014/main" val="10000"/>
                  </a:ext>
                </a:extLst>
              </a:tr>
              <a:tr h="459402">
                <a:tc>
                  <a:txBody>
                    <a:bodyPr/>
                    <a:lstStyle/>
                    <a:p>
                      <a:r>
                        <a:rPr lang="tr-TR" dirty="0"/>
                        <a:t>1.TASARIM</a:t>
                      </a:r>
                    </a:p>
                  </a:txBody>
                  <a:tcPr/>
                </a:tc>
                <a:tc>
                  <a:txBody>
                    <a:bodyPr/>
                    <a:lstStyle/>
                    <a:p>
                      <a:endParaRPr lang="tr-TR" dirty="0"/>
                    </a:p>
                  </a:txBody>
                  <a:tcPr/>
                </a:tc>
                <a:tc>
                  <a:txBody>
                    <a:bodyPr/>
                    <a:lstStyle/>
                    <a:p>
                      <a:endParaRPr lang="tr-TR" dirty="0"/>
                    </a:p>
                  </a:txBody>
                  <a:tcPr/>
                </a:tc>
                <a:tc>
                  <a:txBody>
                    <a:bodyPr/>
                    <a:lstStyle/>
                    <a:p>
                      <a:r>
                        <a:rPr lang="tr-TR" dirty="0"/>
                        <a:t>2</a:t>
                      </a:r>
                    </a:p>
                  </a:txBody>
                  <a:tcPr/>
                </a:tc>
                <a:extLst>
                  <a:ext uri="{0D108BD9-81ED-4DB2-BD59-A6C34878D82A}">
                    <a16:rowId xmlns:a16="http://schemas.microsoft.com/office/drawing/2014/main" val="10001"/>
                  </a:ext>
                </a:extLst>
              </a:tr>
              <a:tr h="459402">
                <a:tc>
                  <a:txBody>
                    <a:bodyPr/>
                    <a:lstStyle/>
                    <a:p>
                      <a:r>
                        <a:rPr lang="tr-TR" dirty="0"/>
                        <a:t>Tasarım</a:t>
                      </a:r>
                      <a:r>
                        <a:rPr lang="tr-TR" baseline="0" dirty="0"/>
                        <a:t> Süresi</a:t>
                      </a:r>
                      <a:endParaRPr lang="tr-TR" dirty="0"/>
                    </a:p>
                  </a:txBody>
                  <a:tcPr/>
                </a:tc>
                <a:tc>
                  <a:txBody>
                    <a:bodyPr/>
                    <a:lstStyle/>
                    <a:p>
                      <a:r>
                        <a:rPr lang="tr-TR" dirty="0"/>
                        <a:t>6,7</a:t>
                      </a:r>
                    </a:p>
                  </a:txBody>
                  <a:tcPr/>
                </a:tc>
                <a:tc>
                  <a:txBody>
                    <a:bodyPr/>
                    <a:lstStyle/>
                    <a:p>
                      <a:r>
                        <a:rPr lang="tr-TR" dirty="0"/>
                        <a:t>6,9</a:t>
                      </a:r>
                    </a:p>
                  </a:txBody>
                  <a:tcPr/>
                </a:tc>
                <a:tc>
                  <a:txBody>
                    <a:bodyPr/>
                    <a:lstStyle/>
                    <a:p>
                      <a:r>
                        <a:rPr lang="tr-TR" dirty="0"/>
                        <a:t>5</a:t>
                      </a:r>
                    </a:p>
                  </a:txBody>
                  <a:tcPr/>
                </a:tc>
                <a:extLst>
                  <a:ext uri="{0D108BD9-81ED-4DB2-BD59-A6C34878D82A}">
                    <a16:rowId xmlns:a16="http://schemas.microsoft.com/office/drawing/2014/main" val="10002"/>
                  </a:ext>
                </a:extLst>
              </a:tr>
              <a:tr h="459402">
                <a:tc>
                  <a:txBody>
                    <a:bodyPr/>
                    <a:lstStyle/>
                    <a:p>
                      <a:r>
                        <a:rPr lang="tr-TR" dirty="0"/>
                        <a:t>Hata Sayısı</a:t>
                      </a:r>
                    </a:p>
                  </a:txBody>
                  <a:tcPr/>
                </a:tc>
                <a:tc>
                  <a:txBody>
                    <a:bodyPr/>
                    <a:lstStyle/>
                    <a:p>
                      <a:r>
                        <a:rPr lang="tr-TR" dirty="0"/>
                        <a:t>24,6</a:t>
                      </a:r>
                    </a:p>
                  </a:txBody>
                  <a:tcPr/>
                </a:tc>
                <a:tc>
                  <a:txBody>
                    <a:bodyPr/>
                    <a:lstStyle/>
                    <a:p>
                      <a:r>
                        <a:rPr lang="tr-TR" dirty="0"/>
                        <a:t>8,4</a:t>
                      </a:r>
                    </a:p>
                  </a:txBody>
                  <a:tcPr/>
                </a:tc>
                <a:tc>
                  <a:txBody>
                    <a:bodyPr/>
                    <a:lstStyle/>
                    <a:p>
                      <a:r>
                        <a:rPr lang="tr-TR" dirty="0"/>
                        <a:t>0</a:t>
                      </a:r>
                    </a:p>
                  </a:txBody>
                  <a:tcPr/>
                </a:tc>
                <a:extLst>
                  <a:ext uri="{0D108BD9-81ED-4DB2-BD59-A6C34878D82A}">
                    <a16:rowId xmlns:a16="http://schemas.microsoft.com/office/drawing/2014/main" val="10003"/>
                  </a:ext>
                </a:extLst>
              </a:tr>
              <a:tr h="459402">
                <a:tc>
                  <a:txBody>
                    <a:bodyPr/>
                    <a:lstStyle/>
                    <a:p>
                      <a:r>
                        <a:rPr lang="tr-TR" dirty="0"/>
                        <a:t>Maliyet</a:t>
                      </a:r>
                    </a:p>
                  </a:txBody>
                  <a:tcPr/>
                </a:tc>
                <a:tc>
                  <a:txBody>
                    <a:bodyPr/>
                    <a:lstStyle/>
                    <a:p>
                      <a:r>
                        <a:rPr lang="tr-TR" dirty="0"/>
                        <a:t>57800</a:t>
                      </a:r>
                    </a:p>
                  </a:txBody>
                  <a:tcPr/>
                </a:tc>
                <a:tc>
                  <a:txBody>
                    <a:bodyPr/>
                    <a:lstStyle/>
                    <a:p>
                      <a:r>
                        <a:rPr lang="tr-TR" dirty="0"/>
                        <a:t>45500</a:t>
                      </a:r>
                    </a:p>
                  </a:txBody>
                  <a:tcPr/>
                </a:tc>
                <a:tc>
                  <a:txBody>
                    <a:bodyPr/>
                    <a:lstStyle/>
                    <a:p>
                      <a:r>
                        <a:rPr lang="tr-TR" dirty="0"/>
                        <a:t>1</a:t>
                      </a:r>
                    </a:p>
                  </a:txBody>
                  <a:tcPr/>
                </a:tc>
                <a:extLst>
                  <a:ext uri="{0D108BD9-81ED-4DB2-BD59-A6C34878D82A}">
                    <a16:rowId xmlns:a16="http://schemas.microsoft.com/office/drawing/2014/main" val="10004"/>
                  </a:ext>
                </a:extLst>
              </a:tr>
              <a:tr h="459402">
                <a:tc>
                  <a:txBody>
                    <a:bodyPr/>
                    <a:lstStyle/>
                    <a:p>
                      <a:r>
                        <a:rPr lang="tr-TR" dirty="0"/>
                        <a:t>2.SİPARİŞ</a:t>
                      </a:r>
                    </a:p>
                  </a:txBody>
                  <a:tcPr/>
                </a:tc>
                <a:tc>
                  <a:txBody>
                    <a:bodyPr/>
                    <a:lstStyle/>
                    <a:p>
                      <a:endParaRPr lang="tr-TR" dirty="0"/>
                    </a:p>
                  </a:txBody>
                  <a:tcPr/>
                </a:tc>
                <a:tc>
                  <a:txBody>
                    <a:bodyPr/>
                    <a:lstStyle/>
                    <a:p>
                      <a:endParaRPr lang="tr-TR" dirty="0"/>
                    </a:p>
                  </a:txBody>
                  <a:tcPr/>
                </a:tc>
                <a:tc>
                  <a:txBody>
                    <a:bodyPr/>
                    <a:lstStyle/>
                    <a:p>
                      <a:r>
                        <a:rPr lang="tr-TR" dirty="0"/>
                        <a:t>9</a:t>
                      </a:r>
                    </a:p>
                  </a:txBody>
                  <a:tcPr/>
                </a:tc>
                <a:extLst>
                  <a:ext uri="{0D108BD9-81ED-4DB2-BD59-A6C34878D82A}">
                    <a16:rowId xmlns:a16="http://schemas.microsoft.com/office/drawing/2014/main" val="10005"/>
                  </a:ext>
                </a:extLst>
              </a:tr>
              <a:tr h="459402">
                <a:tc>
                  <a:txBody>
                    <a:bodyPr/>
                    <a:lstStyle/>
                    <a:p>
                      <a:r>
                        <a:rPr lang="tr-TR" dirty="0"/>
                        <a:t>3.PLANLAMA</a:t>
                      </a:r>
                    </a:p>
                  </a:txBody>
                  <a:tcPr/>
                </a:tc>
                <a:tc>
                  <a:txBody>
                    <a:bodyPr/>
                    <a:lstStyle/>
                    <a:p>
                      <a:endParaRPr lang="tr-TR"/>
                    </a:p>
                  </a:txBody>
                  <a:tcPr/>
                </a:tc>
                <a:tc>
                  <a:txBody>
                    <a:bodyPr/>
                    <a:lstStyle/>
                    <a:p>
                      <a:endParaRPr lang="tr-TR"/>
                    </a:p>
                  </a:txBody>
                  <a:tcPr/>
                </a:tc>
                <a:tc>
                  <a:txBody>
                    <a:bodyPr/>
                    <a:lstStyle/>
                    <a:p>
                      <a:r>
                        <a:rPr lang="tr-TR" dirty="0"/>
                        <a:t>5</a:t>
                      </a:r>
                    </a:p>
                  </a:txBody>
                  <a:tcPr/>
                </a:tc>
                <a:extLst>
                  <a:ext uri="{0D108BD9-81ED-4DB2-BD59-A6C34878D82A}">
                    <a16:rowId xmlns:a16="http://schemas.microsoft.com/office/drawing/2014/main" val="10006"/>
                  </a:ext>
                </a:extLst>
              </a:tr>
            </a:tbl>
          </a:graphicData>
        </a:graphic>
      </p:graphicFrame>
      <p:graphicFrame>
        <p:nvGraphicFramePr>
          <p:cNvPr id="5" name="4 Tablo"/>
          <p:cNvGraphicFramePr>
            <a:graphicFrameLocks noGrp="1"/>
          </p:cNvGraphicFramePr>
          <p:nvPr>
            <p:extLst>
              <p:ext uri="{D42A27DB-BD31-4B8C-83A1-F6EECF244321}">
                <p14:modId xmlns:p14="http://schemas.microsoft.com/office/powerpoint/2010/main" val="4087692120"/>
              </p:ext>
            </p:extLst>
          </p:nvPr>
        </p:nvGraphicFramePr>
        <p:xfrm>
          <a:off x="1547664" y="4797152"/>
          <a:ext cx="6120680" cy="365760"/>
        </p:xfrm>
        <a:graphic>
          <a:graphicData uri="http://schemas.openxmlformats.org/drawingml/2006/table">
            <a:tbl>
              <a:tblPr firstRow="1" bandRow="1">
                <a:tableStyleId>{5C22544A-7EE6-4342-B048-85BDC9FD1C3A}</a:tableStyleId>
              </a:tblPr>
              <a:tblGrid>
                <a:gridCol w="1482080">
                  <a:extLst>
                    <a:ext uri="{9D8B030D-6E8A-4147-A177-3AD203B41FA5}">
                      <a16:colId xmlns:a16="http://schemas.microsoft.com/office/drawing/2014/main" val="20000"/>
                    </a:ext>
                  </a:extLst>
                </a:gridCol>
                <a:gridCol w="1614264">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tblGrid>
              <a:tr h="283056">
                <a:tc>
                  <a:txBody>
                    <a:bodyPr/>
                    <a:lstStyle/>
                    <a:p>
                      <a:r>
                        <a:rPr lang="tr-TR" dirty="0"/>
                        <a:t>4.ÜRETTİM</a:t>
                      </a:r>
                    </a:p>
                  </a:txBody>
                  <a:tcPr/>
                </a:tc>
                <a:tc>
                  <a:txBody>
                    <a:bodyPr/>
                    <a:lstStyle/>
                    <a:p>
                      <a:endParaRPr lang="tr-TR"/>
                    </a:p>
                  </a:txBody>
                  <a:tcPr/>
                </a:tc>
                <a:tc>
                  <a:txBody>
                    <a:bodyPr/>
                    <a:lstStyle/>
                    <a:p>
                      <a:endParaRPr lang="tr-TR"/>
                    </a:p>
                  </a:txBody>
                  <a:tcPr/>
                </a:tc>
                <a:tc>
                  <a:txBody>
                    <a:bodyPr/>
                    <a:lstStyle/>
                    <a:p>
                      <a:r>
                        <a:rPr lang="tr-TR" dirty="0"/>
                        <a:t>7</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610263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200" b="1" dirty="0">
                <a:solidFill>
                  <a:schemeClr val="tx1"/>
                </a:solidFill>
                <a:effectLst>
                  <a:outerShdw blurRad="38100" dist="38100" dir="2700000" algn="tl">
                    <a:srgbClr val="000000">
                      <a:alpha val="43137"/>
                    </a:srgbClr>
                  </a:outerShdw>
                </a:effectLst>
              </a:rPr>
              <a:t>KRİTİK SÜRECLERİN BELİRLENMESİ-</a:t>
            </a:r>
            <a:br>
              <a:rPr lang="tr-TR" sz="3200" b="1" dirty="0">
                <a:solidFill>
                  <a:schemeClr val="tx1"/>
                </a:solidFill>
                <a:effectLst>
                  <a:outerShdw blurRad="38100" dist="38100" dir="2700000" algn="tl">
                    <a:srgbClr val="000000">
                      <a:alpha val="43137"/>
                    </a:srgbClr>
                  </a:outerShdw>
                </a:effectLst>
              </a:rPr>
            </a:br>
            <a:r>
              <a:rPr lang="tr-TR" sz="3200" b="1" i="1" dirty="0">
                <a:solidFill>
                  <a:schemeClr val="tx1"/>
                </a:solidFill>
                <a:effectLst>
                  <a:outerShdw blurRad="38100" dist="38100" dir="2700000" algn="tl">
                    <a:srgbClr val="000000">
                      <a:alpha val="43137"/>
                    </a:srgbClr>
                  </a:outerShdw>
                </a:effectLst>
              </a:rPr>
              <a:t>İYİLEŞTİRME ÖNCELİKLERİ</a:t>
            </a:r>
          </a:p>
        </p:txBody>
      </p:sp>
      <p:graphicFrame>
        <p:nvGraphicFramePr>
          <p:cNvPr id="4" name="3 Tablo"/>
          <p:cNvGraphicFramePr>
            <a:graphicFrameLocks noGrp="1"/>
          </p:cNvGraphicFramePr>
          <p:nvPr>
            <p:extLst>
              <p:ext uri="{D42A27DB-BD31-4B8C-83A1-F6EECF244321}">
                <p14:modId xmlns:p14="http://schemas.microsoft.com/office/powerpoint/2010/main" val="1410788376"/>
              </p:ext>
            </p:extLst>
          </p:nvPr>
        </p:nvGraphicFramePr>
        <p:xfrm>
          <a:off x="1547664" y="1772816"/>
          <a:ext cx="6120680" cy="2664300"/>
        </p:xfrm>
        <a:graphic>
          <a:graphicData uri="http://schemas.openxmlformats.org/drawingml/2006/table">
            <a:tbl>
              <a:tblPr firstRow="1" bandRow="1">
                <a:tableStyleId>{5C22544A-7EE6-4342-B048-85BDC9FD1C3A}</a:tableStyleId>
              </a:tblPr>
              <a:tblGrid>
                <a:gridCol w="1530170">
                  <a:extLst>
                    <a:ext uri="{9D8B030D-6E8A-4147-A177-3AD203B41FA5}">
                      <a16:colId xmlns:a16="http://schemas.microsoft.com/office/drawing/2014/main" val="20000"/>
                    </a:ext>
                  </a:extLst>
                </a:gridCol>
                <a:gridCol w="1530170">
                  <a:extLst>
                    <a:ext uri="{9D8B030D-6E8A-4147-A177-3AD203B41FA5}">
                      <a16:colId xmlns:a16="http://schemas.microsoft.com/office/drawing/2014/main" val="20001"/>
                    </a:ext>
                  </a:extLst>
                </a:gridCol>
                <a:gridCol w="1530170">
                  <a:extLst>
                    <a:ext uri="{9D8B030D-6E8A-4147-A177-3AD203B41FA5}">
                      <a16:colId xmlns:a16="http://schemas.microsoft.com/office/drawing/2014/main" val="20002"/>
                    </a:ext>
                  </a:extLst>
                </a:gridCol>
                <a:gridCol w="1530170">
                  <a:extLst>
                    <a:ext uri="{9D8B030D-6E8A-4147-A177-3AD203B41FA5}">
                      <a16:colId xmlns:a16="http://schemas.microsoft.com/office/drawing/2014/main" val="20003"/>
                    </a:ext>
                  </a:extLst>
                </a:gridCol>
              </a:tblGrid>
              <a:tr h="532860">
                <a:tc>
                  <a:txBody>
                    <a:bodyPr/>
                    <a:lstStyle/>
                    <a:p>
                      <a:endParaRPr lang="tr-TR" dirty="0"/>
                    </a:p>
                  </a:txBody>
                  <a:tcPr/>
                </a:tc>
                <a:tc>
                  <a:txBody>
                    <a:bodyPr/>
                    <a:lstStyle/>
                    <a:p>
                      <a:endParaRPr lang="tr-TR"/>
                    </a:p>
                  </a:txBody>
                  <a:tcPr/>
                </a:tc>
                <a:tc>
                  <a:txBody>
                    <a:bodyPr/>
                    <a:lstStyle/>
                    <a:p>
                      <a:endParaRPr lang="tr-TR"/>
                    </a:p>
                  </a:txBody>
                  <a:tcPr/>
                </a:tc>
                <a:tc>
                  <a:txBody>
                    <a:bodyPr/>
                    <a:lstStyle/>
                    <a:p>
                      <a:endParaRPr lang="tr-TR" dirty="0"/>
                    </a:p>
                  </a:txBody>
                  <a:tcPr/>
                </a:tc>
                <a:extLst>
                  <a:ext uri="{0D108BD9-81ED-4DB2-BD59-A6C34878D82A}">
                    <a16:rowId xmlns:a16="http://schemas.microsoft.com/office/drawing/2014/main" val="10000"/>
                  </a:ext>
                </a:extLst>
              </a:tr>
              <a:tr h="532860">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endParaRPr lang="tr-TR" dirty="0"/>
                    </a:p>
                  </a:txBody>
                  <a:tcPr/>
                </a:tc>
                <a:extLst>
                  <a:ext uri="{0D108BD9-81ED-4DB2-BD59-A6C34878D82A}">
                    <a16:rowId xmlns:a16="http://schemas.microsoft.com/office/drawing/2014/main" val="10001"/>
                  </a:ext>
                </a:extLst>
              </a:tr>
              <a:tr h="532860">
                <a:tc>
                  <a:txBody>
                    <a:bodyPr/>
                    <a:lstStyle/>
                    <a:p>
                      <a:endParaRPr lang="tr-TR" dirty="0"/>
                    </a:p>
                  </a:txBody>
                  <a:tcPr/>
                </a:tc>
                <a:tc>
                  <a:txBody>
                    <a:bodyPr/>
                    <a:lstStyle/>
                    <a:p>
                      <a:endParaRPr lang="tr-TR" dirty="0"/>
                    </a:p>
                  </a:txBody>
                  <a:tcPr/>
                </a:tc>
                <a:tc>
                  <a:txBody>
                    <a:bodyPr/>
                    <a:lstStyle/>
                    <a:p>
                      <a:endParaRPr lang="tr-TR"/>
                    </a:p>
                  </a:txBody>
                  <a:tcPr/>
                </a:tc>
                <a:tc>
                  <a:txBody>
                    <a:bodyPr/>
                    <a:lstStyle/>
                    <a:p>
                      <a:endParaRPr lang="tr-TR"/>
                    </a:p>
                  </a:txBody>
                  <a:tcPr/>
                </a:tc>
                <a:extLst>
                  <a:ext uri="{0D108BD9-81ED-4DB2-BD59-A6C34878D82A}">
                    <a16:rowId xmlns:a16="http://schemas.microsoft.com/office/drawing/2014/main" val="10002"/>
                  </a:ext>
                </a:extLst>
              </a:tr>
              <a:tr h="532860">
                <a:tc>
                  <a:txBody>
                    <a:bodyPr/>
                    <a:lstStyle/>
                    <a:p>
                      <a:endParaRPr lang="tr-TR" dirty="0"/>
                    </a:p>
                  </a:txBody>
                  <a:tcPr/>
                </a:tc>
                <a:tc>
                  <a:txBody>
                    <a:bodyPr/>
                    <a:lstStyle/>
                    <a:p>
                      <a:endParaRPr lang="tr-TR" dirty="0"/>
                    </a:p>
                  </a:txBody>
                  <a:tcPr/>
                </a:tc>
                <a:tc>
                  <a:txBody>
                    <a:bodyPr/>
                    <a:lstStyle/>
                    <a:p>
                      <a:endParaRPr lang="tr-TR"/>
                    </a:p>
                  </a:txBody>
                  <a:tcPr/>
                </a:tc>
                <a:tc>
                  <a:txBody>
                    <a:bodyPr/>
                    <a:lstStyle/>
                    <a:p>
                      <a:endParaRPr lang="tr-TR" dirty="0"/>
                    </a:p>
                  </a:txBody>
                  <a:tcPr/>
                </a:tc>
                <a:extLst>
                  <a:ext uri="{0D108BD9-81ED-4DB2-BD59-A6C34878D82A}">
                    <a16:rowId xmlns:a16="http://schemas.microsoft.com/office/drawing/2014/main" val="10003"/>
                  </a:ext>
                </a:extLst>
              </a:tr>
              <a:tr h="532860">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endParaRPr lang="tr-TR" dirty="0"/>
                    </a:p>
                  </a:txBody>
                  <a:tcPr/>
                </a:tc>
                <a:extLst>
                  <a:ext uri="{0D108BD9-81ED-4DB2-BD59-A6C34878D82A}">
                    <a16:rowId xmlns:a16="http://schemas.microsoft.com/office/drawing/2014/main" val="10004"/>
                  </a:ext>
                </a:extLst>
              </a:tr>
            </a:tbl>
          </a:graphicData>
        </a:graphic>
      </p:graphicFrame>
      <p:graphicFrame>
        <p:nvGraphicFramePr>
          <p:cNvPr id="5" name="4 Tablo"/>
          <p:cNvGraphicFramePr>
            <a:graphicFrameLocks noGrp="1"/>
          </p:cNvGraphicFramePr>
          <p:nvPr>
            <p:extLst>
              <p:ext uri="{D42A27DB-BD31-4B8C-83A1-F6EECF244321}">
                <p14:modId xmlns:p14="http://schemas.microsoft.com/office/powerpoint/2010/main" val="4192428487"/>
              </p:ext>
            </p:extLst>
          </p:nvPr>
        </p:nvGraphicFramePr>
        <p:xfrm>
          <a:off x="1907704" y="5445224"/>
          <a:ext cx="5159895" cy="576064"/>
        </p:xfrm>
        <a:graphic>
          <a:graphicData uri="http://schemas.openxmlformats.org/drawingml/2006/table">
            <a:tbl>
              <a:tblPr firstRow="1" bandRow="1">
                <a:tableStyleId>{5C22544A-7EE6-4342-B048-85BDC9FD1C3A}</a:tableStyleId>
              </a:tblPr>
              <a:tblGrid>
                <a:gridCol w="1719965">
                  <a:extLst>
                    <a:ext uri="{9D8B030D-6E8A-4147-A177-3AD203B41FA5}">
                      <a16:colId xmlns:a16="http://schemas.microsoft.com/office/drawing/2014/main" val="20000"/>
                    </a:ext>
                  </a:extLst>
                </a:gridCol>
                <a:gridCol w="1719965">
                  <a:extLst>
                    <a:ext uri="{9D8B030D-6E8A-4147-A177-3AD203B41FA5}">
                      <a16:colId xmlns:a16="http://schemas.microsoft.com/office/drawing/2014/main" val="20001"/>
                    </a:ext>
                  </a:extLst>
                </a:gridCol>
                <a:gridCol w="1719965">
                  <a:extLst>
                    <a:ext uri="{9D8B030D-6E8A-4147-A177-3AD203B41FA5}">
                      <a16:colId xmlns:a16="http://schemas.microsoft.com/office/drawing/2014/main" val="20002"/>
                    </a:ext>
                  </a:extLst>
                </a:gridCol>
              </a:tblGrid>
              <a:tr h="576064">
                <a:tc>
                  <a:txBody>
                    <a:bodyPr/>
                    <a:lstStyle/>
                    <a:p>
                      <a:r>
                        <a:rPr lang="tr-TR" dirty="0">
                          <a:solidFill>
                            <a:schemeClr val="bg1"/>
                          </a:solidFill>
                        </a:rPr>
                        <a:t>Yüksek</a:t>
                      </a:r>
                      <a:r>
                        <a:rPr lang="tr-TR" baseline="0" dirty="0">
                          <a:solidFill>
                            <a:schemeClr val="bg1"/>
                          </a:solidFill>
                        </a:rPr>
                        <a:t> Öncelik</a:t>
                      </a:r>
                      <a:endParaRPr lang="tr-TR" dirty="0">
                        <a:solidFill>
                          <a:schemeClr val="bg1"/>
                        </a:solidFill>
                      </a:endParaRPr>
                    </a:p>
                  </a:txBody>
                  <a:tcPr/>
                </a:tc>
                <a:tc>
                  <a:txBody>
                    <a:bodyPr/>
                    <a:lstStyle/>
                    <a:p>
                      <a:r>
                        <a:rPr lang="tr-TR" dirty="0">
                          <a:solidFill>
                            <a:schemeClr val="bg1"/>
                          </a:solidFill>
                        </a:rPr>
                        <a:t>Orta Öncelik</a:t>
                      </a:r>
                    </a:p>
                  </a:txBody>
                  <a:tcPr/>
                </a:tc>
                <a:tc>
                  <a:txBody>
                    <a:bodyPr/>
                    <a:lstStyle/>
                    <a:p>
                      <a:r>
                        <a:rPr lang="tr-TR" dirty="0">
                          <a:solidFill>
                            <a:schemeClr val="bg1"/>
                          </a:solidFill>
                        </a:rPr>
                        <a:t>Düşük Öncelik</a:t>
                      </a:r>
                    </a:p>
                  </a:txBody>
                  <a:tcPr/>
                </a:tc>
                <a:extLst>
                  <a:ext uri="{0D108BD9-81ED-4DB2-BD59-A6C34878D82A}">
                    <a16:rowId xmlns:a16="http://schemas.microsoft.com/office/drawing/2014/main" val="10000"/>
                  </a:ext>
                </a:extLst>
              </a:tr>
            </a:tbl>
          </a:graphicData>
        </a:graphic>
      </p:graphicFrame>
      <p:sp>
        <p:nvSpPr>
          <p:cNvPr id="6" name="5 Oval"/>
          <p:cNvSpPr/>
          <p:nvPr/>
        </p:nvSpPr>
        <p:spPr>
          <a:xfrm>
            <a:off x="2123728" y="2204864"/>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7" name="6 Oval"/>
          <p:cNvSpPr/>
          <p:nvPr/>
        </p:nvSpPr>
        <p:spPr>
          <a:xfrm>
            <a:off x="2843808" y="2924944"/>
            <a:ext cx="360040" cy="2796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8" name="7 Oval"/>
          <p:cNvSpPr/>
          <p:nvPr/>
        </p:nvSpPr>
        <p:spPr>
          <a:xfrm>
            <a:off x="2123728" y="3789040"/>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9" name="8 Oval"/>
          <p:cNvSpPr/>
          <p:nvPr/>
        </p:nvSpPr>
        <p:spPr>
          <a:xfrm>
            <a:off x="4283968" y="2348880"/>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10" name="9 Oval"/>
          <p:cNvSpPr/>
          <p:nvPr/>
        </p:nvSpPr>
        <p:spPr>
          <a:xfrm>
            <a:off x="5580112" y="2564904"/>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11" name="10 Oval"/>
          <p:cNvSpPr/>
          <p:nvPr/>
        </p:nvSpPr>
        <p:spPr>
          <a:xfrm>
            <a:off x="6948264" y="1916832"/>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12" name="11 Oval"/>
          <p:cNvSpPr/>
          <p:nvPr/>
        </p:nvSpPr>
        <p:spPr>
          <a:xfrm>
            <a:off x="4932040" y="3429000"/>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sp>
        <p:nvSpPr>
          <p:cNvPr id="13" name="12 Oval"/>
          <p:cNvSpPr/>
          <p:nvPr/>
        </p:nvSpPr>
        <p:spPr>
          <a:xfrm>
            <a:off x="5796136" y="3645024"/>
            <a:ext cx="360040"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a:solidFill>
                <a:schemeClr val="bg1"/>
              </a:solidFill>
              <a:effectLst>
                <a:outerShdw blurRad="38100" dist="38100" dir="2700000" algn="tl">
                  <a:srgbClr val="000000">
                    <a:alpha val="43137"/>
                  </a:srgbClr>
                </a:outerShdw>
              </a:effectLst>
            </a:endParaRPr>
          </a:p>
        </p:txBody>
      </p:sp>
      <p:cxnSp>
        <p:nvCxnSpPr>
          <p:cNvPr id="18" name="17 Düz Ok Bağlayıcısı"/>
          <p:cNvCxnSpPr/>
          <p:nvPr/>
        </p:nvCxnSpPr>
        <p:spPr>
          <a:xfrm rot="5400000" flipH="1" flipV="1">
            <a:off x="7236296" y="2996952"/>
            <a:ext cx="648072"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4 Dikdörtgen"/>
          <p:cNvSpPr/>
          <p:nvPr/>
        </p:nvSpPr>
        <p:spPr>
          <a:xfrm>
            <a:off x="7236296" y="2492896"/>
            <a:ext cx="1584176" cy="3600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tr-TR" b="1" dirty="0">
                <a:solidFill>
                  <a:schemeClr val="bg1"/>
                </a:solidFill>
                <a:effectLst>
                  <a:outerShdw blurRad="38100" dist="38100" dir="2700000" algn="tl">
                    <a:srgbClr val="000000">
                      <a:alpha val="43137"/>
                    </a:srgbClr>
                  </a:outerShdw>
                </a:effectLst>
              </a:rPr>
              <a:t>Kritik Süreçler</a:t>
            </a:r>
          </a:p>
        </p:txBody>
      </p:sp>
      <p:sp>
        <p:nvSpPr>
          <p:cNvPr id="16" name="15 Dikdörtgen"/>
          <p:cNvSpPr/>
          <p:nvPr/>
        </p:nvSpPr>
        <p:spPr>
          <a:xfrm>
            <a:off x="2915816" y="4509120"/>
            <a:ext cx="5112568" cy="46805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tr-TR" b="1" dirty="0">
                <a:solidFill>
                  <a:schemeClr val="tx1"/>
                </a:solidFill>
                <a:effectLst>
                  <a:outerShdw blurRad="38100" dist="38100" dir="2700000" algn="tl">
                    <a:srgbClr val="000000">
                      <a:alpha val="43137"/>
                    </a:srgbClr>
                  </a:outerShdw>
                </a:effectLst>
              </a:rPr>
              <a:t>10                 20                        30     ETKİ            40</a:t>
            </a:r>
          </a:p>
        </p:txBody>
      </p:sp>
      <p:sp>
        <p:nvSpPr>
          <p:cNvPr id="19" name="18 Dikdörtgen"/>
          <p:cNvSpPr/>
          <p:nvPr/>
        </p:nvSpPr>
        <p:spPr>
          <a:xfrm>
            <a:off x="1115616" y="1196752"/>
            <a:ext cx="504056" cy="331236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tr-TR" b="1" dirty="0">
                <a:solidFill>
                  <a:schemeClr val="bg1"/>
                </a:solidFill>
                <a:effectLst>
                  <a:outerShdw blurRad="38100" dist="38100" dir="2700000" algn="tl">
                    <a:srgbClr val="000000">
                      <a:alpha val="43137"/>
                    </a:srgbClr>
                  </a:outerShdw>
                </a:effectLst>
              </a:rPr>
              <a:t>10</a:t>
            </a:r>
          </a:p>
          <a:p>
            <a:pPr algn="ctr"/>
            <a:endParaRPr lang="tr-TR" b="1" dirty="0">
              <a:solidFill>
                <a:schemeClr val="bg1"/>
              </a:solidFill>
              <a:effectLst>
                <a:outerShdw blurRad="38100" dist="38100" dir="2700000" algn="tl">
                  <a:srgbClr val="000000">
                    <a:alpha val="43137"/>
                  </a:srgbClr>
                </a:outerShdw>
              </a:effectLst>
            </a:endParaRPr>
          </a:p>
          <a:p>
            <a:pPr algn="ctr"/>
            <a:r>
              <a:rPr lang="tr-TR" b="1" dirty="0">
                <a:solidFill>
                  <a:schemeClr val="bg1"/>
                </a:solidFill>
                <a:effectLst>
                  <a:outerShdw blurRad="38100" dist="38100" dir="2700000" algn="tl">
                    <a:srgbClr val="000000">
                      <a:alpha val="43137"/>
                    </a:srgbClr>
                  </a:outerShdw>
                </a:effectLst>
              </a:rPr>
              <a:t>8</a:t>
            </a:r>
          </a:p>
          <a:p>
            <a:pPr algn="ctr"/>
            <a:endParaRPr lang="tr-TR" b="1" dirty="0">
              <a:solidFill>
                <a:schemeClr val="bg1"/>
              </a:solidFill>
              <a:effectLst>
                <a:outerShdw blurRad="38100" dist="38100" dir="2700000" algn="tl">
                  <a:srgbClr val="000000">
                    <a:alpha val="43137"/>
                  </a:srgbClr>
                </a:outerShdw>
              </a:effectLst>
            </a:endParaRPr>
          </a:p>
          <a:p>
            <a:pPr algn="ctr"/>
            <a:r>
              <a:rPr lang="tr-TR" b="1" dirty="0">
                <a:solidFill>
                  <a:schemeClr val="bg1"/>
                </a:solidFill>
                <a:effectLst>
                  <a:outerShdw blurRad="38100" dist="38100" dir="2700000" algn="tl">
                    <a:srgbClr val="000000">
                      <a:alpha val="43137"/>
                    </a:srgbClr>
                  </a:outerShdw>
                </a:effectLst>
              </a:rPr>
              <a:t>6</a:t>
            </a:r>
          </a:p>
          <a:p>
            <a:pPr algn="ctr"/>
            <a:endParaRPr lang="tr-TR" b="1" dirty="0">
              <a:solidFill>
                <a:schemeClr val="bg1"/>
              </a:solidFill>
              <a:effectLst>
                <a:outerShdw blurRad="38100" dist="38100" dir="2700000" algn="tl">
                  <a:srgbClr val="000000">
                    <a:alpha val="43137"/>
                  </a:srgbClr>
                </a:outerShdw>
              </a:effectLst>
            </a:endParaRPr>
          </a:p>
          <a:p>
            <a:pPr algn="ctr"/>
            <a:r>
              <a:rPr lang="tr-TR" b="1" dirty="0">
                <a:solidFill>
                  <a:schemeClr val="bg1"/>
                </a:solidFill>
                <a:effectLst>
                  <a:outerShdw blurRad="38100" dist="38100" dir="2700000" algn="tl">
                    <a:srgbClr val="000000">
                      <a:alpha val="43137"/>
                    </a:srgbClr>
                  </a:outerShdw>
                </a:effectLst>
              </a:rPr>
              <a:t>4</a:t>
            </a:r>
          </a:p>
          <a:p>
            <a:pPr algn="ctr"/>
            <a:endParaRPr lang="tr-TR" b="1" dirty="0">
              <a:solidFill>
                <a:schemeClr val="bg1"/>
              </a:solidFill>
              <a:effectLst>
                <a:outerShdw blurRad="38100" dist="38100" dir="2700000" algn="tl">
                  <a:srgbClr val="000000">
                    <a:alpha val="43137"/>
                  </a:srgbClr>
                </a:outerShdw>
              </a:effectLst>
            </a:endParaRPr>
          </a:p>
          <a:p>
            <a:pPr algn="ctr"/>
            <a:r>
              <a:rPr lang="tr-TR" b="1" dirty="0">
                <a:solidFill>
                  <a:schemeClr val="bg1"/>
                </a:solidFill>
                <a:effectLst>
                  <a:outerShdw blurRad="38100" dist="38100" dir="2700000" algn="tl">
                    <a:srgbClr val="000000">
                      <a:alpha val="43137"/>
                    </a:srgbClr>
                  </a:outerShdw>
                </a:effectLst>
              </a:rPr>
              <a:t>2</a:t>
            </a:r>
          </a:p>
        </p:txBody>
      </p:sp>
    </p:spTree>
    <p:extLst>
      <p:ext uri="{BB962C8B-B14F-4D97-AF65-F5344CB8AC3E}">
        <p14:creationId xmlns:p14="http://schemas.microsoft.com/office/powerpoint/2010/main" val="9368662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860032" y="1600200"/>
            <a:ext cx="4032448" cy="4525963"/>
          </a:xfrm>
        </p:spPr>
        <p:txBody>
          <a:bodyPr>
            <a:normAutofit fontScale="92500" lnSpcReduction="10000"/>
          </a:bodyPr>
          <a:lstStyle/>
          <a:p>
            <a:pPr>
              <a:buNone/>
            </a:pPr>
            <a:r>
              <a:rPr lang="tr-TR" sz="2000" b="1" dirty="0"/>
              <a:t>Planla</a:t>
            </a:r>
            <a:r>
              <a:rPr lang="tr-TR" sz="2000" dirty="0"/>
              <a:t>:Müşteri istekleri ve kuruluşun politikası ile uyumlu sonuçların ortaya çıkması için gerekli hedefleri ve süreçleri oluşturur</a:t>
            </a:r>
          </a:p>
          <a:p>
            <a:endParaRPr lang="tr-TR" sz="2000" dirty="0"/>
          </a:p>
          <a:p>
            <a:pPr>
              <a:buNone/>
            </a:pPr>
            <a:r>
              <a:rPr lang="tr-TR" sz="2000" b="1" dirty="0"/>
              <a:t>Uygula: </a:t>
            </a:r>
            <a:r>
              <a:rPr lang="tr-TR" sz="2000" dirty="0"/>
              <a:t>Planı ve süreçleri uygula</a:t>
            </a:r>
          </a:p>
          <a:p>
            <a:pPr>
              <a:buNone/>
            </a:pPr>
            <a:r>
              <a:rPr lang="tr-TR" sz="2000" dirty="0"/>
              <a:t>                                   </a:t>
            </a:r>
          </a:p>
          <a:p>
            <a:pPr>
              <a:buNone/>
            </a:pPr>
            <a:r>
              <a:rPr lang="tr-TR" sz="2000" b="1" dirty="0"/>
              <a:t>Kontrol Et: </a:t>
            </a:r>
            <a:r>
              <a:rPr lang="tr-TR" sz="2000" dirty="0"/>
              <a:t>Süreçleri ve ürünü politikalar hedefler ve ürünün şartlarına göre izle, ölç ve sonuçları raporla.</a:t>
            </a:r>
          </a:p>
          <a:p>
            <a:endParaRPr lang="tr-TR" sz="2000" dirty="0"/>
          </a:p>
          <a:p>
            <a:r>
              <a:rPr lang="tr-TR" sz="2000" b="1" dirty="0"/>
              <a:t>Önlem Al: </a:t>
            </a:r>
            <a:r>
              <a:rPr lang="tr-TR" sz="2000" dirty="0"/>
              <a:t>Süreç performansını sürekli iyileştirmek için faaliyetleri başlat</a:t>
            </a:r>
            <a:endParaRPr lang="tr-TR" sz="2000" b="1" dirty="0"/>
          </a:p>
        </p:txBody>
      </p:sp>
      <p:sp>
        <p:nvSpPr>
          <p:cNvPr id="2" name="1 Başlık"/>
          <p:cNvSpPr>
            <a:spLocks noGrp="1"/>
          </p:cNvSpPr>
          <p:nvPr>
            <p:ph type="title"/>
          </p:nvPr>
        </p:nvSpPr>
        <p:spPr/>
        <p:txBody>
          <a:bodyPr>
            <a:normAutofit/>
          </a:bodyPr>
          <a:lstStyle/>
          <a:p>
            <a:r>
              <a:rPr lang="tr-TR" dirty="0"/>
              <a:t>PUKÖ DÖNGÜSÜ</a:t>
            </a:r>
          </a:p>
        </p:txBody>
      </p:sp>
      <p:pic>
        <p:nvPicPr>
          <p:cNvPr id="1026" name="Picture 2" descr="http://www.bilgiguvenligi.gov.tr/images/stories/fottekin/cok_katmanl_27001_1b.png"/>
          <p:cNvPicPr>
            <a:picLocks noChangeAspect="1" noChangeArrowheads="1"/>
          </p:cNvPicPr>
          <p:nvPr/>
        </p:nvPicPr>
        <p:blipFill>
          <a:blip r:embed="rId2" cstate="print"/>
          <a:srcRect/>
          <a:stretch>
            <a:fillRect/>
          </a:stretch>
        </p:blipFill>
        <p:spPr bwMode="auto">
          <a:xfrm>
            <a:off x="323528" y="1412776"/>
            <a:ext cx="4392488" cy="4680520"/>
          </a:xfrm>
          <a:prstGeom prst="rect">
            <a:avLst/>
          </a:prstGeom>
          <a:noFill/>
        </p:spPr>
      </p:pic>
    </p:spTree>
    <p:extLst>
      <p:ext uri="{BB962C8B-B14F-4D97-AF65-F5344CB8AC3E}">
        <p14:creationId xmlns:p14="http://schemas.microsoft.com/office/powerpoint/2010/main" val="14043891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algn="l"/>
            <a:r>
              <a:rPr lang="tr-TR" dirty="0"/>
              <a:t>PLANLAMA</a:t>
            </a:r>
          </a:p>
        </p:txBody>
      </p:sp>
      <p:sp>
        <p:nvSpPr>
          <p:cNvPr id="3" name="2 Alt Başlık"/>
          <p:cNvSpPr>
            <a:spLocks noGrp="1"/>
          </p:cNvSpPr>
          <p:nvPr>
            <p:ph sz="quarter" idx="1"/>
          </p:nvPr>
        </p:nvSpPr>
        <p:spPr/>
        <p:txBody>
          <a:bodyPr>
            <a:normAutofit/>
          </a:bodyPr>
          <a:lstStyle/>
          <a:p>
            <a:pPr algn="l">
              <a:buFont typeface="Wingdings" pitchFamily="2" charset="2"/>
              <a:buChar char="Ø"/>
            </a:pPr>
            <a:r>
              <a:rPr lang="tr-TR" sz="2200" dirty="0">
                <a:solidFill>
                  <a:schemeClr val="tx1"/>
                </a:solidFill>
              </a:rPr>
              <a:t>Kritik süreçlerden başlayarak, süreç iyileştirme planları oluşturulur.</a:t>
            </a:r>
          </a:p>
          <a:p>
            <a:pPr algn="l">
              <a:buFont typeface="Wingdings" pitchFamily="2" charset="2"/>
              <a:buChar char="Ø"/>
            </a:pPr>
            <a:r>
              <a:rPr lang="tr-TR" sz="2200" dirty="0">
                <a:solidFill>
                  <a:schemeClr val="tx1"/>
                </a:solidFill>
              </a:rPr>
              <a:t>Planlama sürecinde Süreç Performans Göstergelerinin mevcut durumu ve hedefi belirlenerek bu hedefe ulaşabilmek için yapılması gereken faaliyetler belirlenir.</a:t>
            </a:r>
          </a:p>
          <a:p>
            <a:pPr algn="l">
              <a:buFont typeface="Wingdings" pitchFamily="2" charset="2"/>
              <a:buChar char="Ø"/>
            </a:pPr>
            <a:r>
              <a:rPr lang="tr-TR" sz="2200" dirty="0">
                <a:solidFill>
                  <a:schemeClr val="tx1"/>
                </a:solidFill>
              </a:rPr>
              <a:t>Bunlara ek olarak uygulamaların takibi ve performans izleme metot yetki ve sorumluluklar da bu aşamada tanımlanır.</a:t>
            </a:r>
          </a:p>
        </p:txBody>
      </p:sp>
      <p:sp>
        <p:nvSpPr>
          <p:cNvPr id="5" name="4 Metin kutusu"/>
          <p:cNvSpPr txBox="1"/>
          <p:nvPr/>
        </p:nvSpPr>
        <p:spPr>
          <a:xfrm>
            <a:off x="500034" y="4022724"/>
            <a:ext cx="8001056"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tr-TR" sz="2000" dirty="0"/>
              <a:t>Kritik Süreç : 1. TASARIM SÜRECİ</a:t>
            </a:r>
          </a:p>
          <a:p>
            <a:r>
              <a:rPr lang="tr-TR" sz="2000" dirty="0"/>
              <a:t>Performans Göstergesi : Üretimde tespit edilen hata sayısı</a:t>
            </a:r>
          </a:p>
          <a:p>
            <a:r>
              <a:rPr lang="tr-TR" sz="2000" dirty="0"/>
              <a:t>Mevcut Durum : 24,6 Adet        Hedef : 8,4 adet</a:t>
            </a:r>
          </a:p>
        </p:txBody>
      </p:sp>
      <p:graphicFrame>
        <p:nvGraphicFramePr>
          <p:cNvPr id="7" name="6 Tablo"/>
          <p:cNvGraphicFramePr>
            <a:graphicFrameLocks noGrp="1"/>
          </p:cNvGraphicFramePr>
          <p:nvPr/>
        </p:nvGraphicFramePr>
        <p:xfrm>
          <a:off x="500034" y="5214950"/>
          <a:ext cx="8072491" cy="1137920"/>
        </p:xfrm>
        <a:graphic>
          <a:graphicData uri="http://schemas.openxmlformats.org/drawingml/2006/table">
            <a:tbl>
              <a:tblPr firstRow="1" bandRow="1">
                <a:tableStyleId>{5940675A-B579-460E-94D1-54222C63F5DA}</a:tableStyleId>
              </a:tblPr>
              <a:tblGrid>
                <a:gridCol w="1153213">
                  <a:extLst>
                    <a:ext uri="{9D8B030D-6E8A-4147-A177-3AD203B41FA5}">
                      <a16:colId xmlns:a16="http://schemas.microsoft.com/office/drawing/2014/main" val="20000"/>
                    </a:ext>
                  </a:extLst>
                </a:gridCol>
                <a:gridCol w="1153213">
                  <a:extLst>
                    <a:ext uri="{9D8B030D-6E8A-4147-A177-3AD203B41FA5}">
                      <a16:colId xmlns:a16="http://schemas.microsoft.com/office/drawing/2014/main" val="20001"/>
                    </a:ext>
                  </a:extLst>
                </a:gridCol>
                <a:gridCol w="1153213">
                  <a:extLst>
                    <a:ext uri="{9D8B030D-6E8A-4147-A177-3AD203B41FA5}">
                      <a16:colId xmlns:a16="http://schemas.microsoft.com/office/drawing/2014/main" val="20002"/>
                    </a:ext>
                  </a:extLst>
                </a:gridCol>
                <a:gridCol w="1153213">
                  <a:extLst>
                    <a:ext uri="{9D8B030D-6E8A-4147-A177-3AD203B41FA5}">
                      <a16:colId xmlns:a16="http://schemas.microsoft.com/office/drawing/2014/main" val="20003"/>
                    </a:ext>
                  </a:extLst>
                </a:gridCol>
                <a:gridCol w="1153213">
                  <a:extLst>
                    <a:ext uri="{9D8B030D-6E8A-4147-A177-3AD203B41FA5}">
                      <a16:colId xmlns:a16="http://schemas.microsoft.com/office/drawing/2014/main" val="20004"/>
                    </a:ext>
                  </a:extLst>
                </a:gridCol>
                <a:gridCol w="1153213">
                  <a:extLst>
                    <a:ext uri="{9D8B030D-6E8A-4147-A177-3AD203B41FA5}">
                      <a16:colId xmlns:a16="http://schemas.microsoft.com/office/drawing/2014/main" val="20005"/>
                    </a:ext>
                  </a:extLst>
                </a:gridCol>
                <a:gridCol w="1153213">
                  <a:extLst>
                    <a:ext uri="{9D8B030D-6E8A-4147-A177-3AD203B41FA5}">
                      <a16:colId xmlns:a16="http://schemas.microsoft.com/office/drawing/2014/main" val="20006"/>
                    </a:ext>
                  </a:extLst>
                </a:gridCol>
              </a:tblGrid>
              <a:tr h="370840">
                <a:tc>
                  <a:txBody>
                    <a:bodyPr/>
                    <a:lstStyle/>
                    <a:p>
                      <a:r>
                        <a:rPr lang="tr-TR" sz="2000" b="1" dirty="0"/>
                        <a:t>Faaliyet</a:t>
                      </a:r>
                    </a:p>
                  </a:txBody>
                  <a:tcPr/>
                </a:tc>
                <a:tc>
                  <a:txBody>
                    <a:bodyPr/>
                    <a:lstStyle/>
                    <a:p>
                      <a:r>
                        <a:rPr lang="tr-TR" sz="2000" b="1" dirty="0"/>
                        <a:t>Sorumlu</a:t>
                      </a:r>
                    </a:p>
                  </a:txBody>
                  <a:tcPr>
                    <a:lnR w="12700" cap="flat" cmpd="sng" algn="ctr">
                      <a:solidFill>
                        <a:schemeClr val="tx1"/>
                      </a:solidFill>
                      <a:prstDash val="solid"/>
                      <a:round/>
                      <a:headEnd type="none" w="med" len="med"/>
                      <a:tailEnd type="none" w="med" len="med"/>
                    </a:lnR>
                  </a:tcPr>
                </a:tc>
                <a:tc>
                  <a:txBody>
                    <a:bodyPr/>
                    <a:lstStyle/>
                    <a:p>
                      <a:r>
                        <a:rPr lang="tr-TR" sz="2000" b="1" dirty="0" err="1"/>
                        <a:t>Termin</a:t>
                      </a:r>
                      <a:endParaRPr lang="tr-TR"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tr-TR" dirty="0"/>
                    </a:p>
                  </a:txBody>
                  <a:tcPr>
                    <a:lnL w="12700" cap="flat" cmpd="sng" algn="ctr">
                      <a:solidFill>
                        <a:schemeClr val="tx1"/>
                      </a:solidFill>
                      <a:prstDash val="solid"/>
                      <a:round/>
                      <a:headEnd type="none" w="med" len="med"/>
                      <a:tailEnd type="none" w="med" len="med"/>
                    </a:lnL>
                  </a:tcPr>
                </a:tc>
                <a:tc>
                  <a:txBody>
                    <a:bodyPr/>
                    <a:lstStyle/>
                    <a:p>
                      <a:endParaRPr lang="tr-TR"/>
                    </a:p>
                  </a:txBody>
                  <a:tcPr/>
                </a:tc>
                <a:tc>
                  <a:txBody>
                    <a:bodyPr/>
                    <a:lstStyle/>
                    <a:p>
                      <a:endParaRPr lang="tr-TR"/>
                    </a:p>
                  </a:txBody>
                  <a:tcPr/>
                </a:tc>
                <a:tc>
                  <a:txBody>
                    <a:bodyPr/>
                    <a:lstStyle/>
                    <a:p>
                      <a:endParaRPr lang="tr-TR"/>
                    </a:p>
                  </a:txBody>
                  <a:tcPr/>
                </a:tc>
                <a:extLst>
                  <a:ext uri="{0D108BD9-81ED-4DB2-BD59-A6C34878D82A}">
                    <a16:rowId xmlns:a16="http://schemas.microsoft.com/office/drawing/2014/main" val="10000"/>
                  </a:ext>
                </a:extLst>
              </a:tr>
              <a:tr h="370840">
                <a:tc>
                  <a:txBody>
                    <a:bodyPr/>
                    <a:lstStyle/>
                    <a:p>
                      <a:endParaRPr lang="tr-TR"/>
                    </a:p>
                  </a:txBody>
                  <a:tcPr/>
                </a:tc>
                <a:tc>
                  <a:txBody>
                    <a:bodyPr/>
                    <a:lstStyle/>
                    <a:p>
                      <a:endParaRPr lang="tr-TR"/>
                    </a:p>
                  </a:txBody>
                  <a:tcPr/>
                </a:tc>
                <a:tc>
                  <a:txBody>
                    <a:bodyPr/>
                    <a:lstStyle/>
                    <a:p>
                      <a:endParaRPr lang="tr-TR"/>
                    </a:p>
                  </a:txBody>
                  <a:tcPr>
                    <a:lnT w="12700" cap="flat" cmpd="sng" algn="ctr">
                      <a:solidFill>
                        <a:schemeClr val="tx1"/>
                      </a:solidFill>
                      <a:prstDash val="solid"/>
                      <a:round/>
                      <a:headEnd type="none" w="med" len="med"/>
                      <a:tailEnd type="none" w="med" len="med"/>
                    </a:lnT>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extLst>
                  <a:ext uri="{0D108BD9-81ED-4DB2-BD59-A6C34878D82A}">
                    <a16:rowId xmlns:a16="http://schemas.microsoft.com/office/drawing/2014/main" val="10001"/>
                  </a:ext>
                </a:extLst>
              </a:tr>
              <a:tr h="370840">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467412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Bulut"/>
          <p:cNvSpPr/>
          <p:nvPr/>
        </p:nvSpPr>
        <p:spPr>
          <a:xfrm>
            <a:off x="5500694" y="428604"/>
            <a:ext cx="3643306" cy="1714512"/>
          </a:xfrm>
          <a:prstGeom prst="cloud">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3" name="2 İçerik Yer Tutucusu"/>
          <p:cNvSpPr>
            <a:spLocks noGrp="1"/>
          </p:cNvSpPr>
          <p:nvPr>
            <p:ph idx="1"/>
          </p:nvPr>
        </p:nvSpPr>
        <p:spPr>
          <a:xfrm>
            <a:off x="214282" y="1447800"/>
            <a:ext cx="8229600" cy="4717504"/>
          </a:xfrm>
        </p:spPr>
        <p:txBody>
          <a:bodyPr>
            <a:normAutofit fontScale="92500" lnSpcReduction="10000"/>
          </a:bodyPr>
          <a:lstStyle/>
          <a:p>
            <a:pPr>
              <a:buFont typeface="Wingdings" pitchFamily="2" charset="2"/>
              <a:buChar char="Ø"/>
            </a:pPr>
            <a:r>
              <a:rPr lang="tr-TR" dirty="0"/>
              <a:t>Sadeleştirme </a:t>
            </a:r>
          </a:p>
          <a:p>
            <a:r>
              <a:rPr lang="tr-TR" sz="2000" dirty="0"/>
              <a:t>Katma değer yaratmayan adımların kaldırılması </a:t>
            </a:r>
          </a:p>
          <a:p>
            <a:r>
              <a:rPr lang="tr-TR" sz="2000" dirty="0"/>
              <a:t>Kontrol ve karar adımlarının azaltılması</a:t>
            </a:r>
          </a:p>
          <a:p>
            <a:r>
              <a:rPr lang="tr-TR" sz="2000" dirty="0"/>
              <a:t>Hata önleyici sistemlerin kullanılması</a:t>
            </a:r>
          </a:p>
          <a:p>
            <a:r>
              <a:rPr lang="tr-TR" sz="2000" dirty="0"/>
              <a:t>Az sayıda fakat etkin personel kullanımı</a:t>
            </a:r>
          </a:p>
          <a:p>
            <a:r>
              <a:rPr lang="tr-TR" sz="2000" dirty="0"/>
              <a:t>Tekrar eden faaliyetlerin ortadan kaldırılması</a:t>
            </a:r>
          </a:p>
          <a:p>
            <a:pPr>
              <a:buFont typeface="Wingdings" pitchFamily="2" charset="2"/>
              <a:buChar char="Ø"/>
            </a:pPr>
            <a:endParaRPr lang="tr-TR" dirty="0"/>
          </a:p>
          <a:p>
            <a:pPr>
              <a:buFont typeface="Wingdings" pitchFamily="2" charset="2"/>
              <a:buChar char="Ø"/>
            </a:pPr>
            <a:r>
              <a:rPr lang="tr-TR" dirty="0"/>
              <a:t>Basitleştirme</a:t>
            </a:r>
          </a:p>
          <a:p>
            <a:r>
              <a:rPr lang="tr-TR" sz="2000" dirty="0"/>
              <a:t>Erken karar noktaları oluşturma</a:t>
            </a:r>
          </a:p>
          <a:p>
            <a:r>
              <a:rPr lang="tr-TR" sz="2000" dirty="0"/>
              <a:t>İşlerin olabildiğince paralel gerçekleştirilmesi</a:t>
            </a:r>
          </a:p>
          <a:p>
            <a:r>
              <a:rPr lang="tr-TR" sz="2000" dirty="0"/>
              <a:t>Ekip odaklı çalışılması, yetki ve sorumlulukların dağıtılması</a:t>
            </a:r>
          </a:p>
          <a:p>
            <a:r>
              <a:rPr lang="tr-TR" sz="2000" dirty="0"/>
              <a:t>Teknoloji kullanımı (otomasyon, uzman sistemler v.b.)</a:t>
            </a:r>
          </a:p>
        </p:txBody>
      </p:sp>
      <p:sp>
        <p:nvSpPr>
          <p:cNvPr id="2" name="1 Başlık"/>
          <p:cNvSpPr>
            <a:spLocks noGrp="1"/>
          </p:cNvSpPr>
          <p:nvPr>
            <p:ph type="title"/>
          </p:nvPr>
        </p:nvSpPr>
        <p:spPr>
          <a:xfrm>
            <a:off x="214282" y="0"/>
            <a:ext cx="6858048" cy="868346"/>
          </a:xfrm>
        </p:spPr>
        <p:txBody>
          <a:bodyPr>
            <a:normAutofit/>
          </a:bodyPr>
          <a:lstStyle/>
          <a:p>
            <a:pPr algn="l"/>
            <a:r>
              <a:rPr lang="tr-TR" sz="3200" b="1" dirty="0"/>
              <a:t>SÜREÇ İYİLEŞTİRME PRENSİPLERİ</a:t>
            </a:r>
          </a:p>
        </p:txBody>
      </p:sp>
      <p:sp>
        <p:nvSpPr>
          <p:cNvPr id="4" name="3 Metin kutusu"/>
          <p:cNvSpPr txBox="1"/>
          <p:nvPr/>
        </p:nvSpPr>
        <p:spPr>
          <a:xfrm>
            <a:off x="5572132" y="714356"/>
            <a:ext cx="3214678" cy="923330"/>
          </a:xfrm>
          <a:prstGeom prst="rect">
            <a:avLst/>
          </a:prstGeom>
          <a:noFill/>
        </p:spPr>
        <p:txBody>
          <a:bodyPr wrap="square" rtlCol="0">
            <a:spAutoFit/>
          </a:bodyPr>
          <a:lstStyle/>
          <a:p>
            <a:pPr algn="ctr"/>
            <a:r>
              <a:rPr lang="tr-TR" b="1" dirty="0"/>
              <a:t>SÜRECİN ETKİNLİĞİ</a:t>
            </a:r>
          </a:p>
          <a:p>
            <a:pPr algn="ctr"/>
            <a:r>
              <a:rPr lang="tr-TR" dirty="0"/>
              <a:t>Planlanmış sonuçlara ulaşabilme (ISO 9001:2008 gerekliliği)</a:t>
            </a:r>
          </a:p>
        </p:txBody>
      </p:sp>
      <p:sp>
        <p:nvSpPr>
          <p:cNvPr id="7" name="6 Bulut"/>
          <p:cNvSpPr/>
          <p:nvPr/>
        </p:nvSpPr>
        <p:spPr>
          <a:xfrm>
            <a:off x="5214942" y="2857496"/>
            <a:ext cx="3643306" cy="1899264"/>
          </a:xfrm>
          <a:prstGeom prst="cloud">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9" name="8 Metin kutusu"/>
          <p:cNvSpPr txBox="1"/>
          <p:nvPr/>
        </p:nvSpPr>
        <p:spPr>
          <a:xfrm>
            <a:off x="5429256" y="3143248"/>
            <a:ext cx="3214678" cy="1200329"/>
          </a:xfrm>
          <a:prstGeom prst="rect">
            <a:avLst/>
          </a:prstGeom>
          <a:noFill/>
        </p:spPr>
        <p:txBody>
          <a:bodyPr wrap="square" rtlCol="0">
            <a:spAutoFit/>
          </a:bodyPr>
          <a:lstStyle/>
          <a:p>
            <a:pPr algn="ctr"/>
            <a:r>
              <a:rPr lang="tr-TR" b="1" dirty="0"/>
              <a:t>SÜRECİN VERİMİ</a:t>
            </a:r>
          </a:p>
          <a:p>
            <a:pPr algn="ctr"/>
            <a:r>
              <a:rPr lang="tr-TR" dirty="0"/>
              <a:t>Kullanılan kaynaklara karşılık ulaşılan sonuçlar</a:t>
            </a:r>
          </a:p>
          <a:p>
            <a:pPr algn="ctr"/>
            <a:r>
              <a:rPr lang="tr-TR" dirty="0"/>
              <a:t>(ISO 9004:2000 gerekliliği)</a:t>
            </a:r>
          </a:p>
        </p:txBody>
      </p:sp>
    </p:spTree>
    <p:extLst>
      <p:ext uri="{BB962C8B-B14F-4D97-AF65-F5344CB8AC3E}">
        <p14:creationId xmlns:p14="http://schemas.microsoft.com/office/powerpoint/2010/main" val="26566815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lnSpcReduction="10000"/>
          </a:bodyPr>
          <a:lstStyle/>
          <a:p>
            <a:pPr>
              <a:buNone/>
            </a:pPr>
            <a:r>
              <a:rPr lang="tr-TR" sz="2600" b="1" u="sng" dirty="0"/>
              <a:t>Standardizasyon</a:t>
            </a:r>
          </a:p>
          <a:p>
            <a:pPr>
              <a:buNone/>
            </a:pPr>
            <a:r>
              <a:rPr lang="tr-TR" sz="2000" dirty="0"/>
              <a:t>Belirli bir performans düzeyinde sürekliliği sağlamak amacıyla gerekli önlemlerin alınması</a:t>
            </a:r>
          </a:p>
          <a:p>
            <a:pPr>
              <a:buNone/>
            </a:pPr>
            <a:r>
              <a:rPr lang="tr-TR" sz="2600" b="1" u="sng" dirty="0"/>
              <a:t>Kademeli İyileştirmeler</a:t>
            </a:r>
          </a:p>
          <a:p>
            <a:pPr>
              <a:buNone/>
            </a:pPr>
            <a:r>
              <a:rPr lang="tr-TR" sz="2000" dirty="0"/>
              <a:t>Mevcut süreçlere, süreçte çalışanlar tarafından</a:t>
            </a:r>
          </a:p>
          <a:p>
            <a:pPr>
              <a:buNone/>
            </a:pPr>
            <a:r>
              <a:rPr lang="tr-TR" sz="2000" dirty="0"/>
              <a:t> uygulanan, küçük fakat sürekli iyileştirmeler</a:t>
            </a:r>
          </a:p>
          <a:p>
            <a:pPr>
              <a:buNone/>
            </a:pPr>
            <a:r>
              <a:rPr lang="tr-TR" sz="2600" b="1" u="sng" dirty="0"/>
              <a:t>Sıçramalı İyileştirmeler</a:t>
            </a:r>
          </a:p>
          <a:p>
            <a:pPr>
              <a:buNone/>
            </a:pPr>
            <a:r>
              <a:rPr lang="tr-TR" sz="2000" dirty="0"/>
              <a:t>Performansta radikal iyileştirmeler</a:t>
            </a:r>
          </a:p>
          <a:p>
            <a:pPr>
              <a:buNone/>
            </a:pPr>
            <a:r>
              <a:rPr lang="tr-TR" sz="2000" dirty="0"/>
              <a:t>sağlayacak iyileştirmeler</a:t>
            </a:r>
          </a:p>
          <a:p>
            <a:pPr>
              <a:buNone/>
            </a:pPr>
            <a:r>
              <a:rPr lang="tr-TR" sz="2600" b="1" u="sng" dirty="0"/>
              <a:t>Değişim Mühendisliği / </a:t>
            </a:r>
            <a:r>
              <a:rPr lang="tr-TR" sz="2600" b="1" u="sng" dirty="0" err="1"/>
              <a:t>Reengineering</a:t>
            </a:r>
            <a:endParaRPr lang="tr-TR" sz="2600" b="1" u="sng" dirty="0"/>
          </a:p>
          <a:p>
            <a:pPr>
              <a:buNone/>
            </a:pPr>
            <a:r>
              <a:rPr lang="tr-TR" sz="2000" dirty="0"/>
              <a:t>Mevcut süreçlerin geliştirilmesi yerine, işin yeniden yapılandırılması</a:t>
            </a:r>
          </a:p>
        </p:txBody>
      </p:sp>
      <p:sp>
        <p:nvSpPr>
          <p:cNvPr id="2" name="1 Başlık"/>
          <p:cNvSpPr>
            <a:spLocks noGrp="1"/>
          </p:cNvSpPr>
          <p:nvPr>
            <p:ph type="title"/>
          </p:nvPr>
        </p:nvSpPr>
        <p:spPr/>
        <p:txBody>
          <a:bodyPr>
            <a:normAutofit/>
          </a:bodyPr>
          <a:lstStyle/>
          <a:p>
            <a:pPr algn="l"/>
            <a:r>
              <a:rPr lang="tr-TR" sz="3600" b="1" dirty="0"/>
              <a:t>SÜREÇ İYİLEŞTİRME YÖNTEMLERİ</a:t>
            </a:r>
          </a:p>
        </p:txBody>
      </p:sp>
      <p:sp>
        <p:nvSpPr>
          <p:cNvPr id="4" name="3 Akış Çizelgesi: İşlem"/>
          <p:cNvSpPr/>
          <p:nvPr/>
        </p:nvSpPr>
        <p:spPr>
          <a:xfrm>
            <a:off x="5429256" y="2643182"/>
            <a:ext cx="2428892" cy="1285884"/>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dirty="0">
              <a:solidFill>
                <a:schemeClr val="tx1"/>
              </a:solidFill>
            </a:endParaRPr>
          </a:p>
        </p:txBody>
      </p:sp>
      <p:cxnSp>
        <p:nvCxnSpPr>
          <p:cNvPr id="14" name="13 Dirsek Bağlayıcısı"/>
          <p:cNvCxnSpPr/>
          <p:nvPr/>
        </p:nvCxnSpPr>
        <p:spPr>
          <a:xfrm flipV="1">
            <a:off x="5857884" y="3500438"/>
            <a:ext cx="285752" cy="1428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15 Dirsek Bağlayıcısı"/>
          <p:cNvCxnSpPr/>
          <p:nvPr/>
        </p:nvCxnSpPr>
        <p:spPr>
          <a:xfrm rot="5400000" flipH="1" flipV="1">
            <a:off x="6107917" y="3250405"/>
            <a:ext cx="285752" cy="21431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17 Dirsek Bağlayıcısı"/>
          <p:cNvCxnSpPr/>
          <p:nvPr/>
        </p:nvCxnSpPr>
        <p:spPr>
          <a:xfrm flipV="1">
            <a:off x="6357950" y="3071810"/>
            <a:ext cx="285752" cy="1428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19 Dirsek Bağlayıcısı"/>
          <p:cNvCxnSpPr/>
          <p:nvPr/>
        </p:nvCxnSpPr>
        <p:spPr>
          <a:xfrm rot="5400000" flipH="1" flipV="1">
            <a:off x="6608532" y="2893764"/>
            <a:ext cx="214314" cy="1417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25 Akış Çizelgesi: İşlem"/>
          <p:cNvSpPr/>
          <p:nvPr/>
        </p:nvSpPr>
        <p:spPr>
          <a:xfrm>
            <a:off x="4572000" y="3929066"/>
            <a:ext cx="2428892" cy="1285884"/>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cxnSp>
        <p:nvCxnSpPr>
          <p:cNvPr id="28" name="27 Dirsek Bağlayıcısı"/>
          <p:cNvCxnSpPr/>
          <p:nvPr/>
        </p:nvCxnSpPr>
        <p:spPr>
          <a:xfrm flipV="1">
            <a:off x="4786314" y="4714884"/>
            <a:ext cx="571504" cy="285752"/>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29 Dirsek Bağlayıcısı"/>
          <p:cNvCxnSpPr/>
          <p:nvPr/>
        </p:nvCxnSpPr>
        <p:spPr>
          <a:xfrm rot="5400000" flipH="1" flipV="1">
            <a:off x="5214942" y="4071942"/>
            <a:ext cx="785818" cy="500066"/>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1255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1600200"/>
            <a:ext cx="8229600" cy="4637112"/>
          </a:xfrm>
        </p:spPr>
        <p:txBody>
          <a:bodyPr>
            <a:normAutofit fontScale="92500" lnSpcReduction="20000"/>
          </a:bodyPr>
          <a:lstStyle/>
          <a:p>
            <a:pPr>
              <a:lnSpc>
                <a:spcPct val="150000"/>
              </a:lnSpc>
              <a:spcBef>
                <a:spcPts val="0"/>
              </a:spcBef>
              <a:buFont typeface="Wingdings" pitchFamily="2" charset="2"/>
              <a:buChar char="Ø"/>
            </a:pPr>
            <a:r>
              <a:rPr lang="tr-TR" sz="2400" dirty="0"/>
              <a:t>Sürekli  iyileştirme(</a:t>
            </a:r>
            <a:r>
              <a:rPr lang="tr-TR" sz="2400" dirty="0" err="1"/>
              <a:t>continual</a:t>
            </a:r>
            <a:r>
              <a:rPr lang="tr-TR" sz="2400" dirty="0"/>
              <a:t>  </a:t>
            </a:r>
            <a:r>
              <a:rPr lang="tr-TR" sz="2400" dirty="0" err="1"/>
              <a:t>improvement</a:t>
            </a:r>
            <a:r>
              <a:rPr lang="tr-TR" sz="2400" dirty="0"/>
              <a:t>) kademeli iyileştirme  işlemlerinden (</a:t>
            </a:r>
            <a:r>
              <a:rPr lang="tr-TR" sz="2400" dirty="0" err="1"/>
              <a:t>continuous</a:t>
            </a:r>
            <a:r>
              <a:rPr lang="tr-TR" sz="2400" dirty="0"/>
              <a:t> </a:t>
            </a:r>
            <a:r>
              <a:rPr lang="tr-TR" sz="2400" dirty="0" err="1"/>
              <a:t>improvement</a:t>
            </a:r>
            <a:r>
              <a:rPr lang="tr-TR" sz="2400" dirty="0"/>
              <a:t>) daha geniş bir anlama sahiptir. </a:t>
            </a:r>
          </a:p>
          <a:p>
            <a:pPr>
              <a:lnSpc>
                <a:spcPct val="150000"/>
              </a:lnSpc>
              <a:spcBef>
                <a:spcPts val="0"/>
              </a:spcBef>
              <a:buFont typeface="Wingdings" pitchFamily="2" charset="2"/>
              <a:buChar char="Ø"/>
            </a:pPr>
            <a:r>
              <a:rPr lang="tr-TR" sz="2400" dirty="0"/>
              <a:t>Kademeli iyileştirme sürekli iyileştirmenin bir alt metodudur.</a:t>
            </a:r>
          </a:p>
          <a:p>
            <a:pPr>
              <a:lnSpc>
                <a:spcPct val="150000"/>
              </a:lnSpc>
              <a:spcBef>
                <a:spcPts val="0"/>
              </a:spcBef>
              <a:buFont typeface="Wingdings" pitchFamily="2" charset="2"/>
              <a:buChar char="Ø"/>
            </a:pPr>
            <a:r>
              <a:rPr lang="tr-TR" sz="2400" dirty="0"/>
              <a:t>Kademeli iyileştirmeler İPK metotlarını  kullanarak yaptığımız küçük adımlı iyileştirmeleri  içerir ancak sürekli iyileştirme kademeli iyileştirmeler, sıçramalı iyileştirmeleri, yenilikçi iyileştirmeleri, yeniden  yapılandırma çalışmalarının tamamını içerir. </a:t>
            </a:r>
          </a:p>
          <a:p>
            <a:pPr>
              <a:lnSpc>
                <a:spcPct val="150000"/>
              </a:lnSpc>
              <a:spcBef>
                <a:spcPts val="0"/>
              </a:spcBef>
              <a:buFont typeface="Wingdings" pitchFamily="2" charset="2"/>
              <a:buChar char="Ø"/>
            </a:pPr>
            <a:r>
              <a:rPr lang="tr-TR" sz="2400" dirty="0"/>
              <a:t>Başka bir deyişle iyileştirme ile ilgili  her çeşit  işlem sürekli iyileştirme olarak tanınır.</a:t>
            </a:r>
          </a:p>
          <a:p>
            <a:pPr>
              <a:lnSpc>
                <a:spcPct val="150000"/>
              </a:lnSpc>
              <a:spcBef>
                <a:spcPts val="0"/>
              </a:spcBef>
              <a:buFont typeface="Wingdings" pitchFamily="2" charset="2"/>
              <a:buChar char="Ø"/>
            </a:pPr>
            <a:endParaRPr lang="tr-TR" sz="2400" dirty="0"/>
          </a:p>
        </p:txBody>
      </p:sp>
      <p:sp>
        <p:nvSpPr>
          <p:cNvPr id="2" name="1 Başlık"/>
          <p:cNvSpPr>
            <a:spLocks noGrp="1"/>
          </p:cNvSpPr>
          <p:nvPr>
            <p:ph type="title"/>
          </p:nvPr>
        </p:nvSpPr>
        <p:spPr/>
        <p:txBody>
          <a:bodyPr>
            <a:normAutofit fontScale="90000"/>
          </a:bodyPr>
          <a:lstStyle/>
          <a:p>
            <a:r>
              <a:rPr lang="tr-TR" dirty="0"/>
              <a:t>SÜREÇ İYİLEŞTİRME</a:t>
            </a:r>
            <a:br>
              <a:rPr lang="tr-TR" dirty="0"/>
            </a:br>
            <a:endParaRPr lang="tr-TR" dirty="0"/>
          </a:p>
        </p:txBody>
      </p:sp>
    </p:spTree>
    <p:extLst>
      <p:ext uri="{BB962C8B-B14F-4D97-AF65-F5344CB8AC3E}">
        <p14:creationId xmlns:p14="http://schemas.microsoft.com/office/powerpoint/2010/main" val="25557495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872067" y="1916832"/>
            <a:ext cx="7408333" cy="4209331"/>
          </a:xfrm>
          <a:noFill/>
        </p:spPr>
        <p:txBody>
          <a:bodyPr>
            <a:normAutofit fontScale="92500" lnSpcReduction="10000"/>
          </a:bodyPr>
          <a:lstStyle/>
          <a:p>
            <a:pPr>
              <a:buFont typeface="Wingdings" pitchFamily="2" charset="2"/>
              <a:buChar char="Ø"/>
            </a:pPr>
            <a:r>
              <a:rPr lang="tr-TR" dirty="0"/>
              <a:t>Problem Çözme Teknikleri</a:t>
            </a:r>
          </a:p>
          <a:p>
            <a:pPr>
              <a:buFont typeface="Wingdings" pitchFamily="2" charset="2"/>
              <a:buChar char="Ø"/>
            </a:pPr>
            <a:r>
              <a:rPr lang="tr-TR" dirty="0"/>
              <a:t>Süreçleri analiz etmek,problemlerin nedenlerini ve iyileştirme fırsatlarını belirlemek amacıyla kullanılan araçlardır.</a:t>
            </a:r>
          </a:p>
          <a:p>
            <a:pPr>
              <a:buFont typeface="Wingdings" pitchFamily="2" charset="2"/>
              <a:buChar char="Ø"/>
            </a:pPr>
            <a:endParaRPr lang="tr-TR" sz="1600" dirty="0"/>
          </a:p>
          <a:p>
            <a:pPr>
              <a:buNone/>
            </a:pPr>
            <a:r>
              <a:rPr lang="tr-TR" sz="1600" dirty="0"/>
              <a:t>       </a:t>
            </a:r>
          </a:p>
          <a:p>
            <a:pPr>
              <a:buNone/>
            </a:pPr>
            <a:r>
              <a:rPr lang="tr-TR" sz="1600" dirty="0"/>
              <a:t>            MACHINES                   MATERIALS</a:t>
            </a:r>
          </a:p>
          <a:p>
            <a:pPr>
              <a:buNone/>
            </a:pPr>
            <a:endParaRPr lang="tr-TR" sz="1600" dirty="0"/>
          </a:p>
          <a:p>
            <a:pPr>
              <a:buNone/>
            </a:pPr>
            <a:endParaRPr lang="tr-TR" sz="1600" dirty="0"/>
          </a:p>
          <a:p>
            <a:pPr>
              <a:buNone/>
            </a:pPr>
            <a:r>
              <a:rPr lang="tr-TR" sz="1600" dirty="0"/>
              <a:t>                                                                                                                          </a:t>
            </a:r>
          </a:p>
          <a:p>
            <a:pPr>
              <a:buNone/>
            </a:pPr>
            <a:r>
              <a:rPr lang="tr-TR" sz="1600" dirty="0"/>
              <a:t>                                                                                                                 CAPABILITY</a:t>
            </a:r>
          </a:p>
          <a:p>
            <a:pPr>
              <a:buNone/>
            </a:pPr>
            <a:r>
              <a:rPr lang="tr-TR" sz="1600" dirty="0"/>
              <a:t>                       MANPOVER             METHODS        </a:t>
            </a:r>
          </a:p>
        </p:txBody>
      </p:sp>
      <p:sp>
        <p:nvSpPr>
          <p:cNvPr id="2" name="1 Başlık"/>
          <p:cNvSpPr>
            <a:spLocks noGrp="1"/>
          </p:cNvSpPr>
          <p:nvPr>
            <p:ph type="title"/>
          </p:nvPr>
        </p:nvSpPr>
        <p:spPr/>
        <p:txBody>
          <a:bodyPr/>
          <a:lstStyle/>
          <a:p>
            <a:r>
              <a:rPr lang="tr-TR" dirty="0"/>
              <a:t>SÜREÇ İYİLEŞTİRME</a:t>
            </a:r>
          </a:p>
        </p:txBody>
      </p:sp>
      <p:cxnSp>
        <p:nvCxnSpPr>
          <p:cNvPr id="7" name="6 Düz Ok Bağlayıcısı"/>
          <p:cNvCxnSpPr/>
          <p:nvPr/>
        </p:nvCxnSpPr>
        <p:spPr>
          <a:xfrm>
            <a:off x="827584" y="4941168"/>
            <a:ext cx="388843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11 Düz Bağlayıcı"/>
          <p:cNvCxnSpPr/>
          <p:nvPr/>
        </p:nvCxnSpPr>
        <p:spPr>
          <a:xfrm rot="10800000">
            <a:off x="1475656" y="4365104"/>
            <a:ext cx="720080" cy="576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13 Düz Bağlayıcı"/>
          <p:cNvCxnSpPr/>
          <p:nvPr/>
        </p:nvCxnSpPr>
        <p:spPr>
          <a:xfrm rot="5400000">
            <a:off x="1979712" y="4941168"/>
            <a:ext cx="360040" cy="360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16 Düz Bağlayıcı"/>
          <p:cNvCxnSpPr/>
          <p:nvPr/>
        </p:nvCxnSpPr>
        <p:spPr>
          <a:xfrm rot="16200000" flipV="1">
            <a:off x="3131840" y="4365104"/>
            <a:ext cx="648072" cy="5040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20 Düz Bağlayıcı"/>
          <p:cNvCxnSpPr/>
          <p:nvPr/>
        </p:nvCxnSpPr>
        <p:spPr>
          <a:xfrm rot="5400000">
            <a:off x="3527884" y="4977172"/>
            <a:ext cx="432048" cy="360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30 Düz Bağlayıcı"/>
          <p:cNvCxnSpPr/>
          <p:nvPr/>
        </p:nvCxnSpPr>
        <p:spPr>
          <a:xfrm rot="5400000" flipH="1" flipV="1">
            <a:off x="6372200" y="4509120"/>
            <a:ext cx="10081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39 Serbest Form"/>
          <p:cNvSpPr/>
          <p:nvPr/>
        </p:nvSpPr>
        <p:spPr>
          <a:xfrm>
            <a:off x="5416062" y="4386775"/>
            <a:ext cx="1125415" cy="635391"/>
          </a:xfrm>
          <a:custGeom>
            <a:avLst/>
            <a:gdLst>
              <a:gd name="connsiteX0" fmla="*/ 0 w 1125415"/>
              <a:gd name="connsiteY0" fmla="*/ 621323 h 635391"/>
              <a:gd name="connsiteX1" fmla="*/ 492369 w 1125415"/>
              <a:gd name="connsiteY1" fmla="*/ 2345 h 635391"/>
              <a:gd name="connsiteX2" fmla="*/ 1125415 w 1125415"/>
              <a:gd name="connsiteY2" fmla="*/ 635391 h 635391"/>
              <a:gd name="connsiteX3" fmla="*/ 1111347 w 1125415"/>
              <a:gd name="connsiteY3" fmla="*/ 621323 h 635391"/>
            </a:gdLst>
            <a:ahLst/>
            <a:cxnLst>
              <a:cxn ang="0">
                <a:pos x="connsiteX0" y="connsiteY0"/>
              </a:cxn>
              <a:cxn ang="0">
                <a:pos x="connsiteX1" y="connsiteY1"/>
              </a:cxn>
              <a:cxn ang="0">
                <a:pos x="connsiteX2" y="connsiteY2"/>
              </a:cxn>
              <a:cxn ang="0">
                <a:pos x="connsiteX3" y="connsiteY3"/>
              </a:cxn>
            </a:cxnLst>
            <a:rect l="l" t="t" r="r" b="b"/>
            <a:pathLst>
              <a:path w="1125415" h="635391">
                <a:moveTo>
                  <a:pt x="0" y="621323"/>
                </a:moveTo>
                <a:cubicBezTo>
                  <a:pt x="152400" y="310661"/>
                  <a:pt x="304800" y="0"/>
                  <a:pt x="492369" y="2345"/>
                </a:cubicBezTo>
                <a:cubicBezTo>
                  <a:pt x="679938" y="4690"/>
                  <a:pt x="1125415" y="635391"/>
                  <a:pt x="1125415" y="635391"/>
                </a:cubicBezTo>
                <a:lnTo>
                  <a:pt x="1111347" y="621323"/>
                </a:lnTo>
              </a:path>
            </a:pathLst>
          </a:cu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cxnSp>
        <p:nvCxnSpPr>
          <p:cNvPr id="27" name="26 Düz Bağlayıcı"/>
          <p:cNvCxnSpPr/>
          <p:nvPr/>
        </p:nvCxnSpPr>
        <p:spPr>
          <a:xfrm rot="5400000">
            <a:off x="5220072" y="4509120"/>
            <a:ext cx="10081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28 Düz Bağlayıcı"/>
          <p:cNvCxnSpPr/>
          <p:nvPr/>
        </p:nvCxnSpPr>
        <p:spPr>
          <a:xfrm>
            <a:off x="5364088" y="5013176"/>
            <a:ext cx="15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3525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Oval"/>
          <p:cNvSpPr/>
          <p:nvPr/>
        </p:nvSpPr>
        <p:spPr>
          <a:xfrm>
            <a:off x="7596336" y="908720"/>
            <a:ext cx="1368152" cy="1368152"/>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dirty="0"/>
          </a:p>
        </p:txBody>
      </p:sp>
      <p:sp>
        <p:nvSpPr>
          <p:cNvPr id="3" name="2 İçerik Yer Tutucusu"/>
          <p:cNvSpPr>
            <a:spLocks noGrp="1"/>
          </p:cNvSpPr>
          <p:nvPr>
            <p:ph idx="1"/>
          </p:nvPr>
        </p:nvSpPr>
        <p:spPr>
          <a:xfrm>
            <a:off x="457200" y="1484784"/>
            <a:ext cx="8291264" cy="4641379"/>
          </a:xfrm>
        </p:spPr>
        <p:txBody>
          <a:bodyPr>
            <a:noAutofit/>
          </a:bodyPr>
          <a:lstStyle/>
          <a:p>
            <a:pPr>
              <a:lnSpc>
                <a:spcPct val="150000"/>
              </a:lnSpc>
              <a:buFont typeface="Wingdings" pitchFamily="2" charset="2"/>
              <a:buChar char="Ø"/>
            </a:pPr>
            <a:r>
              <a:rPr lang="tr-TR" sz="2000" dirty="0"/>
              <a:t>Bu aşamada,hazırlanmış olan planlar uygulamaya alınır ve faaliyetler gerçekleştirilir.</a:t>
            </a:r>
          </a:p>
          <a:p>
            <a:pPr>
              <a:lnSpc>
                <a:spcPct val="150000"/>
              </a:lnSpc>
              <a:buFont typeface="Wingdings" pitchFamily="2" charset="2"/>
              <a:buChar char="Ø"/>
            </a:pPr>
            <a:r>
              <a:rPr lang="tr-TR" sz="2000" dirty="0"/>
              <a:t>Uygulama sırasında performans göstergeleri planlara uygun olarak düzenli bir şekilde takip edilir ve raporlanır.</a:t>
            </a:r>
          </a:p>
          <a:p>
            <a:pPr>
              <a:lnSpc>
                <a:spcPct val="150000"/>
              </a:lnSpc>
              <a:buFont typeface="Wingdings" pitchFamily="2" charset="2"/>
              <a:buChar char="Ø"/>
            </a:pPr>
            <a:r>
              <a:rPr lang="tr-TR" sz="2000" dirty="0"/>
              <a:t>Performans göstergelerindeki gelişmeler,yönetim,iyileştirme ekibi ve diğer ilgililer tarafından değerlendirilerek hedeflere ulaşıp ulaşmadığı,göstergelerin ‘’kararlı’’ ve ‘’kontrol’’ altında olup olmadığı kontrol edilir.</a:t>
            </a:r>
          </a:p>
          <a:p>
            <a:pPr>
              <a:lnSpc>
                <a:spcPct val="150000"/>
              </a:lnSpc>
              <a:buFont typeface="Wingdings" pitchFamily="2" charset="2"/>
              <a:buChar char="Ø"/>
            </a:pPr>
            <a:r>
              <a:rPr lang="tr-TR" sz="2000" dirty="0"/>
              <a:t>Hedeflerden sapma olması durumunda; bunun nedenleri araştırılır ve bu nedenlerin ortadan kaldırılmasına yönelik düzeltici faaliyetler belirlenir. Planlama tekrar gözden geçirilerek gerekiyorsa revize edilir.</a:t>
            </a:r>
          </a:p>
        </p:txBody>
      </p:sp>
      <p:sp>
        <p:nvSpPr>
          <p:cNvPr id="2" name="1 Başlık"/>
          <p:cNvSpPr>
            <a:spLocks noGrp="1"/>
          </p:cNvSpPr>
          <p:nvPr>
            <p:ph type="title"/>
          </p:nvPr>
        </p:nvSpPr>
        <p:spPr/>
        <p:txBody>
          <a:bodyPr>
            <a:normAutofit fontScale="90000"/>
          </a:bodyPr>
          <a:lstStyle/>
          <a:p>
            <a:r>
              <a:rPr lang="tr-TR" dirty="0"/>
              <a:t>UYGULAMA VE PERFORMANS İZLEME</a:t>
            </a:r>
          </a:p>
        </p:txBody>
      </p:sp>
      <p:cxnSp>
        <p:nvCxnSpPr>
          <p:cNvPr id="10" name="9 Düz Bağlayıcı"/>
          <p:cNvCxnSpPr>
            <a:stCxn id="8" idx="0"/>
            <a:endCxn id="8" idx="4"/>
          </p:cNvCxnSpPr>
          <p:nvPr/>
        </p:nvCxnSpPr>
        <p:spPr>
          <a:xfrm>
            <a:off x="8280412" y="908720"/>
            <a:ext cx="0" cy="13681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12 Düz Bağlayıcı"/>
          <p:cNvCxnSpPr>
            <a:stCxn id="8" idx="2"/>
            <a:endCxn id="8" idx="6"/>
          </p:cNvCxnSpPr>
          <p:nvPr/>
        </p:nvCxnSpPr>
        <p:spPr>
          <a:xfrm>
            <a:off x="7596336" y="1592796"/>
            <a:ext cx="13681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13 Dikdörtgen"/>
          <p:cNvSpPr/>
          <p:nvPr/>
        </p:nvSpPr>
        <p:spPr>
          <a:xfrm>
            <a:off x="4479634" y="2967335"/>
            <a:ext cx="184731" cy="923330"/>
          </a:xfrm>
          <a:prstGeom prst="rect">
            <a:avLst/>
          </a:prstGeom>
          <a:noFill/>
        </p:spPr>
        <p:txBody>
          <a:bodyPr wrap="none" lIns="91440" tIns="45720" rIns="91440" bIns="45720">
            <a:spAutoFit/>
          </a:bodyPr>
          <a:lstStyle/>
          <a:p>
            <a:pPr algn="ctr"/>
            <a:endParaRPr lang="tr-TR"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6" name="15 Metin kutusu"/>
          <p:cNvSpPr txBox="1"/>
          <p:nvPr/>
        </p:nvSpPr>
        <p:spPr>
          <a:xfrm>
            <a:off x="7812360" y="1115452"/>
            <a:ext cx="336952" cy="369332"/>
          </a:xfrm>
          <a:prstGeom prst="rect">
            <a:avLst/>
          </a:prstGeom>
          <a:noFill/>
        </p:spPr>
        <p:txBody>
          <a:bodyPr wrap="none" rtlCol="0">
            <a:spAutoFit/>
          </a:bodyPr>
          <a:lstStyle/>
          <a:p>
            <a:r>
              <a:rPr lang="tr-TR" dirty="0"/>
              <a:t>Ö</a:t>
            </a:r>
          </a:p>
        </p:txBody>
      </p:sp>
      <p:sp>
        <p:nvSpPr>
          <p:cNvPr id="18" name="17 Metin kutusu"/>
          <p:cNvSpPr txBox="1"/>
          <p:nvPr/>
        </p:nvSpPr>
        <p:spPr>
          <a:xfrm>
            <a:off x="8460432" y="1124744"/>
            <a:ext cx="303288" cy="369332"/>
          </a:xfrm>
          <a:prstGeom prst="rect">
            <a:avLst/>
          </a:prstGeom>
          <a:noFill/>
        </p:spPr>
        <p:txBody>
          <a:bodyPr wrap="none" rtlCol="0">
            <a:spAutoFit/>
          </a:bodyPr>
          <a:lstStyle/>
          <a:p>
            <a:r>
              <a:rPr lang="tr-TR" dirty="0"/>
              <a:t>P</a:t>
            </a:r>
          </a:p>
        </p:txBody>
      </p:sp>
      <p:sp>
        <p:nvSpPr>
          <p:cNvPr id="19" name="18 Metin kutusu"/>
          <p:cNvSpPr txBox="1"/>
          <p:nvPr/>
        </p:nvSpPr>
        <p:spPr>
          <a:xfrm>
            <a:off x="7884368" y="1628800"/>
            <a:ext cx="304892" cy="369332"/>
          </a:xfrm>
          <a:prstGeom prst="rect">
            <a:avLst/>
          </a:prstGeom>
          <a:noFill/>
        </p:spPr>
        <p:txBody>
          <a:bodyPr wrap="none" rtlCol="0">
            <a:spAutoFit/>
          </a:bodyPr>
          <a:lstStyle/>
          <a:p>
            <a:r>
              <a:rPr lang="tr-TR" dirty="0"/>
              <a:t>K</a:t>
            </a:r>
          </a:p>
        </p:txBody>
      </p:sp>
      <p:sp>
        <p:nvSpPr>
          <p:cNvPr id="20" name="19 Metin kutusu"/>
          <p:cNvSpPr txBox="1"/>
          <p:nvPr/>
        </p:nvSpPr>
        <p:spPr>
          <a:xfrm>
            <a:off x="8388424" y="1628800"/>
            <a:ext cx="336952" cy="369332"/>
          </a:xfrm>
          <a:prstGeom prst="rect">
            <a:avLst/>
          </a:prstGeom>
          <a:noFill/>
        </p:spPr>
        <p:txBody>
          <a:bodyPr wrap="none" rtlCol="0">
            <a:spAutoFit/>
          </a:bodyPr>
          <a:lstStyle/>
          <a:p>
            <a:r>
              <a:rPr lang="tr-TR" dirty="0"/>
              <a:t>U</a:t>
            </a:r>
          </a:p>
        </p:txBody>
      </p:sp>
    </p:spTree>
    <p:extLst>
      <p:ext uri="{BB962C8B-B14F-4D97-AF65-F5344CB8AC3E}">
        <p14:creationId xmlns:p14="http://schemas.microsoft.com/office/powerpoint/2010/main" val="34316283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Alt Başlık"/>
          <p:cNvSpPr>
            <a:spLocks noGrp="1"/>
          </p:cNvSpPr>
          <p:nvPr>
            <p:ph idx="1"/>
          </p:nvPr>
        </p:nvSpPr>
        <p:spPr>
          <a:xfrm>
            <a:off x="179512" y="1988840"/>
            <a:ext cx="8784976" cy="4525963"/>
          </a:xfrm>
        </p:spPr>
        <p:txBody>
          <a:bodyPr>
            <a:normAutofit fontScale="92500"/>
          </a:bodyPr>
          <a:lstStyle/>
          <a:p>
            <a:pPr algn="l">
              <a:lnSpc>
                <a:spcPct val="150000"/>
              </a:lnSpc>
              <a:spcBef>
                <a:spcPts val="0"/>
              </a:spcBef>
              <a:buFont typeface="Arial" pitchFamily="34" charset="0"/>
              <a:buChar char="•"/>
            </a:pPr>
            <a:r>
              <a:rPr lang="tr-TR" sz="2400" dirty="0"/>
              <a:t>İyileştirme faaliyetleri sonucunda performans hedeflerine ulaşıldığında, tekrar geriye dönüşün olmaması için, sağlanan iyileşmeler sistematik hale getirilmeli ve uygulamalar standartlaştırılmalıdır.</a:t>
            </a:r>
          </a:p>
          <a:p>
            <a:pPr algn="l">
              <a:lnSpc>
                <a:spcPct val="150000"/>
              </a:lnSpc>
              <a:spcBef>
                <a:spcPts val="0"/>
              </a:spcBef>
              <a:buFont typeface="Arial" pitchFamily="34" charset="0"/>
              <a:buChar char="•"/>
            </a:pPr>
            <a:endParaRPr lang="tr-TR" sz="2400" dirty="0"/>
          </a:p>
          <a:p>
            <a:pPr algn="l">
              <a:lnSpc>
                <a:spcPct val="150000"/>
              </a:lnSpc>
              <a:spcBef>
                <a:spcPts val="0"/>
              </a:spcBef>
              <a:buFont typeface="Arial" pitchFamily="34" charset="0"/>
              <a:buChar char="•"/>
            </a:pPr>
            <a:r>
              <a:rPr lang="tr-TR" sz="2400" dirty="0"/>
              <a:t>Bu amaçla:</a:t>
            </a:r>
          </a:p>
          <a:p>
            <a:pPr lvl="1">
              <a:lnSpc>
                <a:spcPct val="150000"/>
              </a:lnSpc>
              <a:spcBef>
                <a:spcPts val="0"/>
              </a:spcBef>
              <a:buFont typeface="Arial" pitchFamily="34" charset="0"/>
              <a:buChar char="•"/>
            </a:pPr>
            <a:r>
              <a:rPr lang="tr-TR" sz="2400" dirty="0"/>
              <a:t>Sürecin ve süreç ile ilgili dokümantasyonu gözden geçirilmesi ve revizyonu,</a:t>
            </a:r>
          </a:p>
          <a:p>
            <a:pPr lvl="1">
              <a:lnSpc>
                <a:spcPct val="150000"/>
              </a:lnSpc>
              <a:spcBef>
                <a:spcPts val="0"/>
              </a:spcBef>
              <a:buFont typeface="Arial" pitchFamily="34" charset="0"/>
              <a:buChar char="•"/>
            </a:pPr>
            <a:r>
              <a:rPr lang="tr-TR" sz="2400" dirty="0"/>
              <a:t>Personelin eğitimi gibi faaliyetler gereklidir.</a:t>
            </a:r>
          </a:p>
          <a:p>
            <a:pPr algn="l">
              <a:lnSpc>
                <a:spcPct val="150000"/>
              </a:lnSpc>
              <a:spcBef>
                <a:spcPts val="0"/>
              </a:spcBef>
              <a:buFont typeface="Arial" pitchFamily="34" charset="0"/>
              <a:buChar char="•"/>
            </a:pPr>
            <a:endParaRPr lang="tr-TR" sz="2400" dirty="0"/>
          </a:p>
          <a:p>
            <a:pPr lvl="2">
              <a:lnSpc>
                <a:spcPct val="150000"/>
              </a:lnSpc>
              <a:spcBef>
                <a:spcPts val="0"/>
              </a:spcBef>
              <a:buFont typeface="Arial" pitchFamily="34" charset="0"/>
              <a:buChar char="•"/>
            </a:pPr>
            <a:endParaRPr lang="tr-TR" dirty="0"/>
          </a:p>
          <a:p>
            <a:pPr>
              <a:lnSpc>
                <a:spcPct val="150000"/>
              </a:lnSpc>
              <a:spcBef>
                <a:spcPts val="0"/>
              </a:spcBef>
            </a:pPr>
            <a:endParaRPr lang="tr-TR" sz="2400" dirty="0"/>
          </a:p>
        </p:txBody>
      </p:sp>
      <p:sp>
        <p:nvSpPr>
          <p:cNvPr id="2" name="1 Başlık"/>
          <p:cNvSpPr>
            <a:spLocks noGrp="1"/>
          </p:cNvSpPr>
          <p:nvPr>
            <p:ph type="title"/>
          </p:nvPr>
        </p:nvSpPr>
        <p:spPr/>
        <p:txBody>
          <a:bodyPr>
            <a:normAutofit/>
          </a:bodyPr>
          <a:lstStyle/>
          <a:p>
            <a:r>
              <a:rPr lang="tr-TR" b="1" dirty="0"/>
              <a:t>STANDARTLAŞMA</a:t>
            </a:r>
          </a:p>
        </p:txBody>
      </p:sp>
    </p:spTree>
    <p:extLst>
      <p:ext uri="{BB962C8B-B14F-4D97-AF65-F5344CB8AC3E}">
        <p14:creationId xmlns:p14="http://schemas.microsoft.com/office/powerpoint/2010/main" val="21036519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İ.Ü. Süreç Oluşturma Standartları</a:t>
            </a:r>
          </a:p>
        </p:txBody>
      </p:sp>
      <p:sp>
        <p:nvSpPr>
          <p:cNvPr id="3" name="Content Placeholder 2"/>
          <p:cNvSpPr>
            <a:spLocks noGrp="1"/>
          </p:cNvSpPr>
          <p:nvPr>
            <p:ph sz="quarter" idx="1"/>
          </p:nvPr>
        </p:nvSpPr>
        <p:spPr>
          <a:xfrm>
            <a:off x="612648" y="1600200"/>
            <a:ext cx="8153400" cy="5156200"/>
          </a:xfrm>
        </p:spPr>
        <p:txBody>
          <a:bodyPr>
            <a:normAutofit fontScale="62500" lnSpcReduction="20000"/>
          </a:bodyPr>
          <a:lstStyle/>
          <a:p>
            <a:pPr lvl="0"/>
            <a:r>
              <a:rPr lang="tr-TR" dirty="0"/>
              <a:t>Süreç el kitabı</a:t>
            </a:r>
          </a:p>
          <a:p>
            <a:pPr lvl="0"/>
            <a:r>
              <a:rPr lang="tr-TR" dirty="0"/>
              <a:t>Size hangi işler geliyor ? (Girdileriniz)</a:t>
            </a:r>
          </a:p>
          <a:p>
            <a:pPr lvl="0"/>
            <a:r>
              <a:rPr lang="tr-TR" dirty="0"/>
              <a:t>Bu işlere verilen sonuç tipleri nelerdir ? (Çıktılarınız)</a:t>
            </a:r>
          </a:p>
          <a:p>
            <a:pPr lvl="0"/>
            <a:r>
              <a:rPr lang="tr-TR" dirty="0"/>
              <a:t>Süreç dönüşüm tipi nedir ? (Fizik, konum, değer, bilgi)</a:t>
            </a:r>
          </a:p>
          <a:p>
            <a:pPr lvl="0"/>
            <a:r>
              <a:rPr lang="tr-TR" dirty="0"/>
              <a:t>Buna göre sürecinizin ismi nedir ?</a:t>
            </a:r>
          </a:p>
          <a:p>
            <a:pPr lvl="0"/>
            <a:r>
              <a:rPr lang="tr-TR" dirty="0"/>
              <a:t>Süreç tipi nedir ? (Yönetim, hizmet, üretim, kaynak sağlama, kontrol, karar, vb)</a:t>
            </a:r>
          </a:p>
          <a:p>
            <a:pPr lvl="0"/>
            <a:r>
              <a:rPr lang="tr-TR" dirty="0"/>
              <a:t>Sürecinizin talimatı nedir ?</a:t>
            </a:r>
          </a:p>
          <a:p>
            <a:pPr lvl="0"/>
            <a:r>
              <a:rPr lang="tr-TR" dirty="0"/>
              <a:t>Sürecinizin kaynakları nelerdir ?</a:t>
            </a:r>
          </a:p>
          <a:p>
            <a:pPr lvl="0"/>
            <a:r>
              <a:rPr lang="tr-TR" dirty="0"/>
              <a:t>Sürecinizin oluşturduğu katma değerler nelerdir ?</a:t>
            </a:r>
          </a:p>
          <a:p>
            <a:pPr lvl="0"/>
            <a:r>
              <a:rPr lang="tr-TR" dirty="0"/>
              <a:t>Süreç girdilerinin ölçüm kriterleri nelerdir ?</a:t>
            </a:r>
          </a:p>
          <a:p>
            <a:pPr lvl="0"/>
            <a:r>
              <a:rPr lang="tr-TR" dirty="0"/>
              <a:t>Süreç girdilerinin kalite unsurları nasıl ölçülür ?</a:t>
            </a:r>
          </a:p>
          <a:p>
            <a:pPr lvl="0"/>
            <a:r>
              <a:rPr lang="tr-TR" dirty="0"/>
              <a:t>Süreç çıktılarının ölçüm kriterleri nelerdir ?</a:t>
            </a:r>
          </a:p>
          <a:p>
            <a:pPr lvl="0"/>
            <a:r>
              <a:rPr lang="tr-TR" dirty="0"/>
              <a:t>Süreç çıktılarının kalite unsurları nasıl ölçülür ?</a:t>
            </a:r>
          </a:p>
          <a:p>
            <a:pPr lvl="0"/>
            <a:r>
              <a:rPr lang="tr-TR" dirty="0"/>
              <a:t>Süreç kaynaklarının ölçüm kriterleri nelerdir ?</a:t>
            </a:r>
          </a:p>
          <a:p>
            <a:pPr lvl="0"/>
            <a:r>
              <a:rPr lang="tr-TR" dirty="0"/>
              <a:t>Süreç kaynaklarının kalite unsurları nasıl ölçülür ?</a:t>
            </a:r>
          </a:p>
          <a:p>
            <a:pPr lvl="0"/>
            <a:r>
              <a:rPr lang="tr-TR" dirty="0"/>
              <a:t>Sürecinizin marka yönetimine katkısı nedir ?</a:t>
            </a:r>
          </a:p>
        </p:txBody>
      </p:sp>
    </p:spTree>
    <p:extLst>
      <p:ext uri="{BB962C8B-B14F-4D97-AF65-F5344CB8AC3E}">
        <p14:creationId xmlns:p14="http://schemas.microsoft.com/office/powerpoint/2010/main" val="4384700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381000" y="3413372"/>
            <a:ext cx="8302625" cy="539251"/>
          </a:xfrm>
          <a:prstGeom prst="rect">
            <a:avLst/>
          </a:prstGeom>
          <a:noFill/>
          <a:ln w="9525">
            <a:noFill/>
            <a:miter lim="800000"/>
            <a:headEnd/>
            <a:tailEnd/>
          </a:ln>
        </p:spPr>
        <p:txBody>
          <a:bodyPr wrap="square" lIns="92075" tIns="46038" rIns="92075" bIns="46038">
            <a:prstTxWarp prst="textNoShape">
              <a:avLst/>
            </a:prstTxWarp>
            <a:spAutoFit/>
          </a:bodyPr>
          <a:lstStyle/>
          <a:p>
            <a:pPr algn="just" eaLnBrk="0" hangingPunct="0">
              <a:lnSpc>
                <a:spcPct val="125000"/>
              </a:lnSpc>
            </a:pPr>
            <a:endParaRPr lang="tr-TR" sz="2400" b="1" dirty="0">
              <a:solidFill>
                <a:srgbClr val="0000FF"/>
              </a:solidFill>
              <a:latin typeface="+mj-lt"/>
            </a:endParaRPr>
          </a:p>
        </p:txBody>
      </p:sp>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latin typeface="Calibri" pitchFamily="34" charset="0"/>
                <a:cs typeface="Calibri" pitchFamily="34" charset="0"/>
              </a:rPr>
              <a:t>BİR SÜREÇTEN BEKLENEN ÖZELLİKLER</a:t>
            </a:r>
            <a:endParaRPr lang="tr-TR" dirty="0"/>
          </a:p>
        </p:txBody>
      </p:sp>
      <p:sp>
        <p:nvSpPr>
          <p:cNvPr id="4" name="Content Placeholder 3"/>
          <p:cNvSpPr>
            <a:spLocks noGrp="1"/>
          </p:cNvSpPr>
          <p:nvPr>
            <p:ph sz="quarter" idx="1"/>
          </p:nvPr>
        </p:nvSpPr>
        <p:spPr/>
        <p:txBody>
          <a:bodyPr>
            <a:noAutofit/>
          </a:bodyPr>
          <a:lstStyle/>
          <a:p>
            <a:pPr>
              <a:lnSpc>
                <a:spcPct val="150000"/>
              </a:lnSpc>
              <a:buClr>
                <a:schemeClr val="tx1"/>
              </a:buClr>
              <a:defRPr/>
            </a:pPr>
            <a:r>
              <a:rPr lang="tr-TR" sz="2800" b="1" dirty="0">
                <a:effectLst>
                  <a:outerShdw blurRad="38100" dist="38100" dir="2700000" algn="tl">
                    <a:srgbClr val="000000">
                      <a:alpha val="43137"/>
                    </a:srgbClr>
                  </a:outerShdw>
                </a:effectLst>
                <a:latin typeface="Calibri" pitchFamily="34" charset="0"/>
                <a:cs typeface="Calibri" pitchFamily="34" charset="0"/>
              </a:rPr>
              <a:t>Tanımlanabilme</a:t>
            </a:r>
          </a:p>
          <a:p>
            <a:pPr>
              <a:lnSpc>
                <a:spcPct val="150000"/>
              </a:lnSpc>
              <a:buClr>
                <a:schemeClr val="tx1"/>
              </a:buClr>
              <a:defRPr/>
            </a:pPr>
            <a:r>
              <a:rPr lang="tr-TR" sz="2800" b="1" dirty="0">
                <a:effectLst>
                  <a:outerShdw blurRad="38100" dist="38100" dir="2700000" algn="tl">
                    <a:srgbClr val="000000">
                      <a:alpha val="43137"/>
                    </a:srgbClr>
                  </a:outerShdw>
                </a:effectLst>
                <a:latin typeface="Calibri" pitchFamily="34" charset="0"/>
                <a:cs typeface="Calibri" pitchFamily="34" charset="0"/>
              </a:rPr>
              <a:t>Ölçülebilme</a:t>
            </a:r>
          </a:p>
          <a:p>
            <a:pPr>
              <a:lnSpc>
                <a:spcPct val="150000"/>
              </a:lnSpc>
              <a:buClr>
                <a:schemeClr val="tx1"/>
              </a:buClr>
              <a:defRPr/>
            </a:pPr>
            <a:r>
              <a:rPr lang="tr-TR" sz="2800" b="1" dirty="0">
                <a:effectLst>
                  <a:outerShdw blurRad="38100" dist="38100" dir="2700000" algn="tl">
                    <a:srgbClr val="000000">
                      <a:alpha val="43137"/>
                    </a:srgbClr>
                  </a:outerShdw>
                </a:effectLst>
                <a:latin typeface="Calibri" pitchFamily="34" charset="0"/>
                <a:cs typeface="Calibri" pitchFamily="34" charset="0"/>
              </a:rPr>
              <a:t>Tekrarlanabilme</a:t>
            </a:r>
          </a:p>
          <a:p>
            <a:pPr>
              <a:lnSpc>
                <a:spcPct val="150000"/>
              </a:lnSpc>
              <a:buClr>
                <a:schemeClr val="tx1"/>
              </a:buClr>
              <a:defRPr/>
            </a:pPr>
            <a:r>
              <a:rPr lang="tr-TR" sz="2800" b="1" dirty="0">
                <a:effectLst>
                  <a:outerShdw blurRad="38100" dist="38100" dir="2700000" algn="tl">
                    <a:srgbClr val="000000">
                      <a:alpha val="43137"/>
                    </a:srgbClr>
                  </a:outerShdw>
                </a:effectLst>
                <a:latin typeface="Calibri" pitchFamily="34" charset="0"/>
                <a:cs typeface="Calibri" pitchFamily="34" charset="0"/>
              </a:rPr>
              <a:t>Kontrol edilebilme</a:t>
            </a:r>
          </a:p>
          <a:p>
            <a:pPr>
              <a:lnSpc>
                <a:spcPct val="150000"/>
              </a:lnSpc>
              <a:buClr>
                <a:schemeClr val="tx1"/>
              </a:buClr>
              <a:defRPr/>
            </a:pPr>
            <a:r>
              <a:rPr lang="tr-TR" sz="2800" b="1" dirty="0">
                <a:effectLst>
                  <a:outerShdw blurRad="38100" dist="38100" dir="2700000" algn="tl">
                    <a:srgbClr val="000000">
                      <a:alpha val="43137"/>
                    </a:srgbClr>
                  </a:outerShdw>
                </a:effectLst>
                <a:latin typeface="Calibri" pitchFamily="34" charset="0"/>
                <a:cs typeface="Calibri" pitchFamily="34" charset="0"/>
              </a:rPr>
              <a:t>Katma değer oluşturma</a:t>
            </a:r>
            <a:endParaRPr lang="tr-TR" sz="2000"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t>BÖLÜM 7</a:t>
            </a:r>
          </a:p>
        </p:txBody>
      </p:sp>
      <p:sp>
        <p:nvSpPr>
          <p:cNvPr id="3" name="Subtitle 2"/>
          <p:cNvSpPr>
            <a:spLocks noGrp="1"/>
          </p:cNvSpPr>
          <p:nvPr>
            <p:ph type="subTitle" idx="1"/>
          </p:nvPr>
        </p:nvSpPr>
        <p:spPr/>
        <p:txBody>
          <a:bodyPr>
            <a:normAutofit fontScale="92500"/>
          </a:bodyPr>
          <a:lstStyle/>
          <a:p>
            <a:r>
              <a:rPr lang="tr-TR" dirty="0"/>
              <a:t>Fonksiyonel organizasyonların darboğazları nelerdir?</a:t>
            </a:r>
          </a:p>
        </p:txBody>
      </p:sp>
    </p:spTree>
    <p:extLst>
      <p:ext uri="{BB962C8B-B14F-4D97-AF65-F5344CB8AC3E}">
        <p14:creationId xmlns:p14="http://schemas.microsoft.com/office/powerpoint/2010/main" val="1856091999"/>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a:xfrm>
            <a:off x="0" y="0"/>
            <a:ext cx="7772400" cy="1143000"/>
          </a:xfrm>
        </p:spPr>
        <p:txBody>
          <a:bodyPr/>
          <a:lstStyle/>
          <a:p>
            <a:pPr eaLnBrk="1" hangingPunct="1"/>
            <a:r>
              <a:rPr lang="tr-TR"/>
              <a:t>Fonksiyonel organizasyon</a:t>
            </a:r>
          </a:p>
        </p:txBody>
      </p:sp>
      <p:sp>
        <p:nvSpPr>
          <p:cNvPr id="620547" name="Rectangle 1027"/>
          <p:cNvSpPr>
            <a:spLocks noGrp="1" noChangeArrowheads="1"/>
          </p:cNvSpPr>
          <p:nvPr>
            <p:ph idx="1"/>
          </p:nvPr>
        </p:nvSpPr>
        <p:spPr>
          <a:xfrm>
            <a:off x="500063" y="1071563"/>
            <a:ext cx="8153400" cy="5562600"/>
          </a:xfrm>
        </p:spPr>
        <p:txBody>
          <a:bodyPr/>
          <a:lstStyle/>
          <a:p>
            <a:pPr eaLnBrk="1" hangingPunct="1"/>
            <a:r>
              <a:rPr lang="tr-TR" sz="2400"/>
              <a:t>Darboğazlar :</a:t>
            </a:r>
          </a:p>
          <a:p>
            <a:pPr lvl="1" eaLnBrk="1" hangingPunct="1"/>
            <a:r>
              <a:rPr lang="tr-TR" sz="2000"/>
              <a:t>Süreçlerin girdileri çıktı haline gelinceye kadar, departmanlar arasındaki aktarımlar nedeniyle, erozyonlar ve gecikmeler olabilir.</a:t>
            </a:r>
          </a:p>
          <a:p>
            <a:pPr lvl="1" eaLnBrk="1" hangingPunct="1"/>
            <a:r>
              <a:rPr lang="tr-TR" sz="2000"/>
              <a:t>Sorumlular, sürecin tümünün nasıl işlediğinden habersizdirler.</a:t>
            </a:r>
          </a:p>
          <a:p>
            <a:pPr lvl="1" eaLnBrk="1" hangingPunct="1"/>
            <a:r>
              <a:rPr lang="tr-TR" sz="2000"/>
              <a:t>Yapılan geliştirmeler sürecin bütünü gözetilmeden yapılır.</a:t>
            </a:r>
          </a:p>
          <a:p>
            <a:pPr lvl="1" eaLnBrk="1" hangingPunct="1"/>
            <a:r>
              <a:rPr lang="tr-TR" sz="2000"/>
              <a:t>Departmanlar sürecin kendilerine ait olan kısmını iyileştirirken sürecin bütününü dikkate almazlar.</a:t>
            </a:r>
          </a:p>
          <a:p>
            <a:pPr lvl="1" eaLnBrk="1" hangingPunct="1"/>
            <a:r>
              <a:rPr lang="tr-TR" sz="2000"/>
              <a:t>Süreç içinde çalışanlar genellikle, süreç içinde rol ve etkinliklerinin bilincinde değildir.</a:t>
            </a:r>
          </a:p>
          <a:p>
            <a:pPr lvl="1" eaLnBrk="1" hangingPunct="1"/>
            <a:r>
              <a:rPr lang="tr-TR" sz="2000"/>
              <a:t>Süreç performansı genellikle bütünü yansıtmayacak şekilde yetersiz düzeyde ölçülür.</a:t>
            </a:r>
          </a:p>
          <a:p>
            <a:pPr lvl="1" eaLnBrk="1" hangingPunct="1"/>
            <a:r>
              <a:rPr lang="tr-TR" sz="2000"/>
              <a:t>...........</a:t>
            </a:r>
          </a:p>
        </p:txBody>
      </p:sp>
    </p:spTree>
    <p:extLst>
      <p:ext uri="{BB962C8B-B14F-4D97-AF65-F5344CB8AC3E}">
        <p14:creationId xmlns:p14="http://schemas.microsoft.com/office/powerpoint/2010/main" val="30692045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20547">
                                            <p:txEl>
                                              <p:pRg st="0" end="0"/>
                                            </p:txEl>
                                          </p:spTgt>
                                        </p:tgtEl>
                                        <p:attrNameLst>
                                          <p:attrName>style.visibility</p:attrName>
                                        </p:attrNameLst>
                                      </p:cBhvr>
                                      <p:to>
                                        <p:strVal val="visible"/>
                                      </p:to>
                                    </p:set>
                                    <p:animEffect transition="in" filter="box(in)">
                                      <p:cBhvr>
                                        <p:cTn id="7" dur="500"/>
                                        <p:tgtEl>
                                          <p:spTgt spid="620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20547">
                                            <p:txEl>
                                              <p:pRg st="1" end="1"/>
                                            </p:txEl>
                                          </p:spTgt>
                                        </p:tgtEl>
                                        <p:attrNameLst>
                                          <p:attrName>style.visibility</p:attrName>
                                        </p:attrNameLst>
                                      </p:cBhvr>
                                      <p:to>
                                        <p:strVal val="visible"/>
                                      </p:to>
                                    </p:set>
                                    <p:animEffect transition="in" filter="box(in)">
                                      <p:cBhvr>
                                        <p:cTn id="12" dur="500"/>
                                        <p:tgtEl>
                                          <p:spTgt spid="6205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20547">
                                            <p:txEl>
                                              <p:pRg st="2" end="2"/>
                                            </p:txEl>
                                          </p:spTgt>
                                        </p:tgtEl>
                                        <p:attrNameLst>
                                          <p:attrName>style.visibility</p:attrName>
                                        </p:attrNameLst>
                                      </p:cBhvr>
                                      <p:to>
                                        <p:strVal val="visible"/>
                                      </p:to>
                                    </p:set>
                                    <p:animEffect transition="in" filter="box(in)">
                                      <p:cBhvr>
                                        <p:cTn id="17" dur="500"/>
                                        <p:tgtEl>
                                          <p:spTgt spid="6205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20547">
                                            <p:txEl>
                                              <p:pRg st="3" end="3"/>
                                            </p:txEl>
                                          </p:spTgt>
                                        </p:tgtEl>
                                        <p:attrNameLst>
                                          <p:attrName>style.visibility</p:attrName>
                                        </p:attrNameLst>
                                      </p:cBhvr>
                                      <p:to>
                                        <p:strVal val="visible"/>
                                      </p:to>
                                    </p:set>
                                    <p:animEffect transition="in" filter="box(in)">
                                      <p:cBhvr>
                                        <p:cTn id="22" dur="500"/>
                                        <p:tgtEl>
                                          <p:spTgt spid="6205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20547">
                                            <p:txEl>
                                              <p:pRg st="4" end="4"/>
                                            </p:txEl>
                                          </p:spTgt>
                                        </p:tgtEl>
                                        <p:attrNameLst>
                                          <p:attrName>style.visibility</p:attrName>
                                        </p:attrNameLst>
                                      </p:cBhvr>
                                      <p:to>
                                        <p:strVal val="visible"/>
                                      </p:to>
                                    </p:set>
                                    <p:animEffect transition="in" filter="box(in)">
                                      <p:cBhvr>
                                        <p:cTn id="27" dur="500"/>
                                        <p:tgtEl>
                                          <p:spTgt spid="6205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20547">
                                            <p:txEl>
                                              <p:pRg st="5" end="5"/>
                                            </p:txEl>
                                          </p:spTgt>
                                        </p:tgtEl>
                                        <p:attrNameLst>
                                          <p:attrName>style.visibility</p:attrName>
                                        </p:attrNameLst>
                                      </p:cBhvr>
                                      <p:to>
                                        <p:strVal val="visible"/>
                                      </p:to>
                                    </p:set>
                                    <p:animEffect transition="in" filter="box(in)">
                                      <p:cBhvr>
                                        <p:cTn id="32" dur="500"/>
                                        <p:tgtEl>
                                          <p:spTgt spid="62054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20547">
                                            <p:txEl>
                                              <p:pRg st="6" end="6"/>
                                            </p:txEl>
                                          </p:spTgt>
                                        </p:tgtEl>
                                        <p:attrNameLst>
                                          <p:attrName>style.visibility</p:attrName>
                                        </p:attrNameLst>
                                      </p:cBhvr>
                                      <p:to>
                                        <p:strVal val="visible"/>
                                      </p:to>
                                    </p:set>
                                    <p:animEffect transition="in" filter="box(in)">
                                      <p:cBhvr>
                                        <p:cTn id="37" dur="500"/>
                                        <p:tgtEl>
                                          <p:spTgt spid="62054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20547">
                                            <p:txEl>
                                              <p:pRg st="7" end="7"/>
                                            </p:txEl>
                                          </p:spTgt>
                                        </p:tgtEl>
                                        <p:attrNameLst>
                                          <p:attrName>style.visibility</p:attrName>
                                        </p:attrNameLst>
                                      </p:cBhvr>
                                      <p:to>
                                        <p:strVal val="visible"/>
                                      </p:to>
                                    </p:set>
                                    <p:animEffect transition="in" filter="box(in)">
                                      <p:cBhvr>
                                        <p:cTn id="42" dur="500"/>
                                        <p:tgtEl>
                                          <p:spTgt spid="6205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7" grpId="0" build="p" bldLvl="2"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1026"/>
          <p:cNvSpPr>
            <a:spLocks noGrp="1" noChangeArrowheads="1"/>
          </p:cNvSpPr>
          <p:nvPr>
            <p:ph type="title"/>
          </p:nvPr>
        </p:nvSpPr>
        <p:spPr>
          <a:xfrm>
            <a:off x="0" y="0"/>
            <a:ext cx="7772400" cy="990600"/>
          </a:xfrm>
        </p:spPr>
        <p:txBody>
          <a:bodyPr/>
          <a:lstStyle/>
          <a:p>
            <a:pPr eaLnBrk="1" hangingPunct="1"/>
            <a:r>
              <a:rPr lang="tr-TR"/>
              <a:t>Organizasyonel Yapılanma</a:t>
            </a:r>
          </a:p>
        </p:txBody>
      </p:sp>
      <p:grpSp>
        <p:nvGrpSpPr>
          <p:cNvPr id="5127" name="Group 1027"/>
          <p:cNvGrpSpPr>
            <a:grpSpLocks/>
          </p:cNvGrpSpPr>
          <p:nvPr/>
        </p:nvGrpSpPr>
        <p:grpSpPr bwMode="auto">
          <a:xfrm>
            <a:off x="2819400" y="1906588"/>
            <a:ext cx="1600200" cy="2665412"/>
            <a:chOff x="1776" y="1201"/>
            <a:chExt cx="1008" cy="1679"/>
          </a:xfrm>
        </p:grpSpPr>
        <p:sp>
          <p:nvSpPr>
            <p:cNvPr id="5167" name="Rectangle 1028"/>
            <p:cNvSpPr>
              <a:spLocks noChangeArrowheads="1"/>
            </p:cNvSpPr>
            <p:nvPr/>
          </p:nvSpPr>
          <p:spPr bwMode="auto">
            <a:xfrm>
              <a:off x="1776" y="1883"/>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sp>
          <p:nvSpPr>
            <p:cNvPr id="5168" name="Rectangle 1029"/>
            <p:cNvSpPr>
              <a:spLocks noChangeArrowheads="1"/>
            </p:cNvSpPr>
            <p:nvPr/>
          </p:nvSpPr>
          <p:spPr bwMode="auto">
            <a:xfrm>
              <a:off x="1776" y="2250"/>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sp>
          <p:nvSpPr>
            <p:cNvPr id="5169" name="Rectangle 1030"/>
            <p:cNvSpPr>
              <a:spLocks noChangeArrowheads="1"/>
            </p:cNvSpPr>
            <p:nvPr/>
          </p:nvSpPr>
          <p:spPr bwMode="auto">
            <a:xfrm>
              <a:off x="1776" y="2618"/>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graphicFrame>
          <p:nvGraphicFramePr>
            <p:cNvPr id="5125" name="Object 5"/>
            <p:cNvGraphicFramePr>
              <a:graphicFrameLocks noChangeAspect="1"/>
            </p:cNvGraphicFramePr>
            <p:nvPr/>
          </p:nvGraphicFramePr>
          <p:xfrm>
            <a:off x="1781" y="1201"/>
            <a:ext cx="998" cy="530"/>
          </p:xfrm>
          <a:graphic>
            <a:graphicData uri="http://schemas.openxmlformats.org/presentationml/2006/ole">
              <mc:AlternateContent xmlns:mc="http://schemas.openxmlformats.org/markup-compatibility/2006">
                <mc:Choice xmlns:v="urn:schemas-microsoft-com:vml" Requires="v">
                  <p:oleObj spid="_x0000_s1106" name="MS Org Chart" r:id="rId4" imgW="5193102" imgH="1121434" progId="">
                    <p:embed followColorScheme="full"/>
                  </p:oleObj>
                </mc:Choice>
                <mc:Fallback>
                  <p:oleObj name="MS Org Chart" r:id="rId4" imgW="5193102" imgH="1121434" progId="">
                    <p:embed followColorScheme="full"/>
                    <p:pic>
                      <p:nvPicPr>
                        <p:cNvPr id="0" name="Picture 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1" y="1201"/>
                          <a:ext cx="998"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70" name="Group 1032"/>
            <p:cNvGrpSpPr>
              <a:grpSpLocks/>
            </p:cNvGrpSpPr>
            <p:nvPr/>
          </p:nvGrpSpPr>
          <p:grpSpPr bwMode="auto">
            <a:xfrm>
              <a:off x="1846" y="1721"/>
              <a:ext cx="173" cy="1159"/>
              <a:chOff x="1846" y="1721"/>
              <a:chExt cx="173" cy="1159"/>
            </a:xfrm>
          </p:grpSpPr>
          <p:sp>
            <p:nvSpPr>
              <p:cNvPr id="5177" name="Rectangle 1033"/>
              <p:cNvSpPr>
                <a:spLocks noChangeArrowheads="1"/>
              </p:cNvSpPr>
              <p:nvPr/>
            </p:nvSpPr>
            <p:spPr bwMode="auto">
              <a:xfrm>
                <a:off x="1846" y="1830"/>
                <a:ext cx="173" cy="1050"/>
              </a:xfrm>
              <a:prstGeom prst="rect">
                <a:avLst/>
              </a:prstGeom>
              <a:solidFill>
                <a:schemeClr val="accent1"/>
              </a:solidFill>
              <a:ln w="9525">
                <a:solidFill>
                  <a:schemeClr val="bg1"/>
                </a:solidFill>
                <a:miter lim="800000"/>
                <a:headEnd/>
                <a:tailEnd/>
              </a:ln>
            </p:spPr>
            <p:txBody>
              <a:bodyPr wrap="none" anchor="ctr"/>
              <a:lstStyle/>
              <a:p>
                <a:endParaRPr lang="tr-TR"/>
              </a:p>
            </p:txBody>
          </p:sp>
          <p:sp>
            <p:nvSpPr>
              <p:cNvPr id="5178" name="Line 1034"/>
              <p:cNvSpPr>
                <a:spLocks noChangeShapeType="1"/>
              </p:cNvSpPr>
              <p:nvPr/>
            </p:nvSpPr>
            <p:spPr bwMode="auto">
              <a:xfrm>
                <a:off x="1935"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71" name="Group 1035"/>
            <p:cNvGrpSpPr>
              <a:grpSpLocks/>
            </p:cNvGrpSpPr>
            <p:nvPr/>
          </p:nvGrpSpPr>
          <p:grpSpPr bwMode="auto">
            <a:xfrm>
              <a:off x="2193" y="1721"/>
              <a:ext cx="174" cy="1159"/>
              <a:chOff x="2193" y="1721"/>
              <a:chExt cx="174" cy="1159"/>
            </a:xfrm>
          </p:grpSpPr>
          <p:sp>
            <p:nvSpPr>
              <p:cNvPr id="5175" name="Rectangle 1036"/>
              <p:cNvSpPr>
                <a:spLocks noChangeArrowheads="1"/>
              </p:cNvSpPr>
              <p:nvPr/>
            </p:nvSpPr>
            <p:spPr bwMode="auto">
              <a:xfrm>
                <a:off x="2193" y="1830"/>
                <a:ext cx="174" cy="1050"/>
              </a:xfrm>
              <a:prstGeom prst="rect">
                <a:avLst/>
              </a:prstGeom>
              <a:solidFill>
                <a:schemeClr val="accent1"/>
              </a:solidFill>
              <a:ln w="9525">
                <a:solidFill>
                  <a:schemeClr val="bg1"/>
                </a:solidFill>
                <a:miter lim="800000"/>
                <a:headEnd/>
                <a:tailEnd/>
              </a:ln>
            </p:spPr>
            <p:txBody>
              <a:bodyPr wrap="none" anchor="ctr"/>
              <a:lstStyle/>
              <a:p>
                <a:endParaRPr lang="tr-TR"/>
              </a:p>
            </p:txBody>
          </p:sp>
          <p:sp>
            <p:nvSpPr>
              <p:cNvPr id="5176" name="Line 1037"/>
              <p:cNvSpPr>
                <a:spLocks noChangeShapeType="1"/>
              </p:cNvSpPr>
              <p:nvPr/>
            </p:nvSpPr>
            <p:spPr bwMode="auto">
              <a:xfrm>
                <a:off x="2283"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72" name="Group 1038"/>
            <p:cNvGrpSpPr>
              <a:grpSpLocks/>
            </p:cNvGrpSpPr>
            <p:nvPr/>
          </p:nvGrpSpPr>
          <p:grpSpPr bwMode="auto">
            <a:xfrm>
              <a:off x="2541" y="1721"/>
              <a:ext cx="173" cy="1159"/>
              <a:chOff x="2541" y="1721"/>
              <a:chExt cx="173" cy="1159"/>
            </a:xfrm>
          </p:grpSpPr>
          <p:sp>
            <p:nvSpPr>
              <p:cNvPr id="5173" name="Rectangle 1039"/>
              <p:cNvSpPr>
                <a:spLocks noChangeArrowheads="1"/>
              </p:cNvSpPr>
              <p:nvPr/>
            </p:nvSpPr>
            <p:spPr bwMode="auto">
              <a:xfrm>
                <a:off x="2541" y="1830"/>
                <a:ext cx="173" cy="1050"/>
              </a:xfrm>
              <a:prstGeom prst="rect">
                <a:avLst/>
              </a:prstGeom>
              <a:solidFill>
                <a:schemeClr val="accent1"/>
              </a:solidFill>
              <a:ln w="9525">
                <a:solidFill>
                  <a:schemeClr val="bg1"/>
                </a:solidFill>
                <a:miter lim="800000"/>
                <a:headEnd/>
                <a:tailEnd/>
              </a:ln>
            </p:spPr>
            <p:txBody>
              <a:bodyPr wrap="none" anchor="ctr"/>
              <a:lstStyle/>
              <a:p>
                <a:endParaRPr lang="tr-TR"/>
              </a:p>
            </p:txBody>
          </p:sp>
          <p:sp>
            <p:nvSpPr>
              <p:cNvPr id="5174" name="Line 1040"/>
              <p:cNvSpPr>
                <a:spLocks noChangeShapeType="1"/>
              </p:cNvSpPr>
              <p:nvPr/>
            </p:nvSpPr>
            <p:spPr bwMode="auto">
              <a:xfrm>
                <a:off x="2630"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grpSp>
        <p:nvGrpSpPr>
          <p:cNvPr id="5128" name="Group 1041"/>
          <p:cNvGrpSpPr>
            <a:grpSpLocks/>
          </p:cNvGrpSpPr>
          <p:nvPr/>
        </p:nvGrpSpPr>
        <p:grpSpPr bwMode="auto">
          <a:xfrm>
            <a:off x="4800600" y="1906588"/>
            <a:ext cx="1600200" cy="2665412"/>
            <a:chOff x="3024" y="1201"/>
            <a:chExt cx="1008" cy="1679"/>
          </a:xfrm>
        </p:grpSpPr>
        <p:graphicFrame>
          <p:nvGraphicFramePr>
            <p:cNvPr id="5124" name="Object 4"/>
            <p:cNvGraphicFramePr>
              <a:graphicFrameLocks noChangeAspect="1"/>
            </p:cNvGraphicFramePr>
            <p:nvPr/>
          </p:nvGraphicFramePr>
          <p:xfrm>
            <a:off x="3029" y="1201"/>
            <a:ext cx="998" cy="530"/>
          </p:xfrm>
          <a:graphic>
            <a:graphicData uri="http://schemas.openxmlformats.org/presentationml/2006/ole">
              <mc:AlternateContent xmlns:mc="http://schemas.openxmlformats.org/markup-compatibility/2006">
                <mc:Choice xmlns:v="urn:schemas-microsoft-com:vml" Requires="v">
                  <p:oleObj spid="_x0000_s1107" name="MS Org Chart" r:id="rId6" imgW="5193102" imgH="1121434" progId="">
                    <p:embed followColorScheme="full"/>
                  </p:oleObj>
                </mc:Choice>
                <mc:Fallback>
                  <p:oleObj name="MS Org Chart" r:id="rId6" imgW="5193102" imgH="1121434" progId="">
                    <p:embed followColorScheme="full"/>
                    <p:pic>
                      <p:nvPicPr>
                        <p:cNvPr id="0" name="Picture 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9" y="1201"/>
                          <a:ext cx="998"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55" name="Group 1043"/>
            <p:cNvGrpSpPr>
              <a:grpSpLocks/>
            </p:cNvGrpSpPr>
            <p:nvPr/>
          </p:nvGrpSpPr>
          <p:grpSpPr bwMode="auto">
            <a:xfrm>
              <a:off x="3094" y="1721"/>
              <a:ext cx="173" cy="1159"/>
              <a:chOff x="3094" y="1721"/>
              <a:chExt cx="173" cy="1159"/>
            </a:xfrm>
          </p:grpSpPr>
          <p:sp>
            <p:nvSpPr>
              <p:cNvPr id="5165" name="Rectangle 1044"/>
              <p:cNvSpPr>
                <a:spLocks noChangeArrowheads="1"/>
              </p:cNvSpPr>
              <p:nvPr/>
            </p:nvSpPr>
            <p:spPr bwMode="auto">
              <a:xfrm>
                <a:off x="3094" y="1830"/>
                <a:ext cx="173" cy="1050"/>
              </a:xfrm>
              <a:prstGeom prst="rect">
                <a:avLst/>
              </a:prstGeom>
              <a:solidFill>
                <a:schemeClr val="accent1"/>
              </a:solidFill>
              <a:ln w="9525">
                <a:solidFill>
                  <a:schemeClr val="bg1"/>
                </a:solidFill>
                <a:miter lim="800000"/>
                <a:headEnd/>
                <a:tailEnd/>
              </a:ln>
            </p:spPr>
            <p:txBody>
              <a:bodyPr wrap="none" anchor="ctr"/>
              <a:lstStyle/>
              <a:p>
                <a:endParaRPr lang="tr-TR"/>
              </a:p>
            </p:txBody>
          </p:sp>
          <p:sp>
            <p:nvSpPr>
              <p:cNvPr id="5166" name="Line 1045"/>
              <p:cNvSpPr>
                <a:spLocks noChangeShapeType="1"/>
              </p:cNvSpPr>
              <p:nvPr/>
            </p:nvSpPr>
            <p:spPr bwMode="auto">
              <a:xfrm>
                <a:off x="3183"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56" name="Group 1046"/>
            <p:cNvGrpSpPr>
              <a:grpSpLocks/>
            </p:cNvGrpSpPr>
            <p:nvPr/>
          </p:nvGrpSpPr>
          <p:grpSpPr bwMode="auto">
            <a:xfrm>
              <a:off x="3441" y="1721"/>
              <a:ext cx="174" cy="1159"/>
              <a:chOff x="3441" y="1721"/>
              <a:chExt cx="174" cy="1159"/>
            </a:xfrm>
          </p:grpSpPr>
          <p:sp>
            <p:nvSpPr>
              <p:cNvPr id="5163" name="Rectangle 1047"/>
              <p:cNvSpPr>
                <a:spLocks noChangeArrowheads="1"/>
              </p:cNvSpPr>
              <p:nvPr/>
            </p:nvSpPr>
            <p:spPr bwMode="auto">
              <a:xfrm>
                <a:off x="3441" y="1830"/>
                <a:ext cx="174" cy="1050"/>
              </a:xfrm>
              <a:prstGeom prst="rect">
                <a:avLst/>
              </a:prstGeom>
              <a:solidFill>
                <a:schemeClr val="accent1"/>
              </a:solidFill>
              <a:ln w="9525">
                <a:solidFill>
                  <a:schemeClr val="bg1"/>
                </a:solidFill>
                <a:miter lim="800000"/>
                <a:headEnd/>
                <a:tailEnd/>
              </a:ln>
            </p:spPr>
            <p:txBody>
              <a:bodyPr wrap="none" anchor="ctr"/>
              <a:lstStyle/>
              <a:p>
                <a:endParaRPr lang="tr-TR"/>
              </a:p>
            </p:txBody>
          </p:sp>
          <p:sp>
            <p:nvSpPr>
              <p:cNvPr id="5164" name="Line 1048"/>
              <p:cNvSpPr>
                <a:spLocks noChangeShapeType="1"/>
              </p:cNvSpPr>
              <p:nvPr/>
            </p:nvSpPr>
            <p:spPr bwMode="auto">
              <a:xfrm>
                <a:off x="3531"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57" name="Group 1049"/>
            <p:cNvGrpSpPr>
              <a:grpSpLocks/>
            </p:cNvGrpSpPr>
            <p:nvPr/>
          </p:nvGrpSpPr>
          <p:grpSpPr bwMode="auto">
            <a:xfrm>
              <a:off x="3789" y="1721"/>
              <a:ext cx="173" cy="1159"/>
              <a:chOff x="3789" y="1721"/>
              <a:chExt cx="173" cy="1159"/>
            </a:xfrm>
          </p:grpSpPr>
          <p:sp>
            <p:nvSpPr>
              <p:cNvPr id="5161" name="Rectangle 1050"/>
              <p:cNvSpPr>
                <a:spLocks noChangeArrowheads="1"/>
              </p:cNvSpPr>
              <p:nvPr/>
            </p:nvSpPr>
            <p:spPr bwMode="auto">
              <a:xfrm>
                <a:off x="3789" y="1830"/>
                <a:ext cx="173" cy="1050"/>
              </a:xfrm>
              <a:prstGeom prst="rect">
                <a:avLst/>
              </a:prstGeom>
              <a:solidFill>
                <a:schemeClr val="accent1"/>
              </a:solidFill>
              <a:ln w="9525">
                <a:solidFill>
                  <a:schemeClr val="bg1"/>
                </a:solidFill>
                <a:miter lim="800000"/>
                <a:headEnd/>
                <a:tailEnd/>
              </a:ln>
            </p:spPr>
            <p:txBody>
              <a:bodyPr wrap="none" anchor="ctr"/>
              <a:lstStyle/>
              <a:p>
                <a:endParaRPr lang="tr-TR"/>
              </a:p>
            </p:txBody>
          </p:sp>
          <p:sp>
            <p:nvSpPr>
              <p:cNvPr id="5162" name="Line 1051"/>
              <p:cNvSpPr>
                <a:spLocks noChangeShapeType="1"/>
              </p:cNvSpPr>
              <p:nvPr/>
            </p:nvSpPr>
            <p:spPr bwMode="auto">
              <a:xfrm>
                <a:off x="3878"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sp>
          <p:nvSpPr>
            <p:cNvPr id="5158" name="Rectangle 1052"/>
            <p:cNvSpPr>
              <a:spLocks noChangeArrowheads="1"/>
            </p:cNvSpPr>
            <p:nvPr/>
          </p:nvSpPr>
          <p:spPr bwMode="auto">
            <a:xfrm>
              <a:off x="3024" y="1883"/>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sp>
          <p:nvSpPr>
            <p:cNvPr id="5159" name="Rectangle 1053"/>
            <p:cNvSpPr>
              <a:spLocks noChangeArrowheads="1"/>
            </p:cNvSpPr>
            <p:nvPr/>
          </p:nvSpPr>
          <p:spPr bwMode="auto">
            <a:xfrm>
              <a:off x="3024" y="2250"/>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sp>
          <p:nvSpPr>
            <p:cNvPr id="5160" name="Rectangle 1054"/>
            <p:cNvSpPr>
              <a:spLocks noChangeArrowheads="1"/>
            </p:cNvSpPr>
            <p:nvPr/>
          </p:nvSpPr>
          <p:spPr bwMode="auto">
            <a:xfrm>
              <a:off x="3024" y="2618"/>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grpSp>
      <p:grpSp>
        <p:nvGrpSpPr>
          <p:cNvPr id="5129" name="Group 1055"/>
          <p:cNvGrpSpPr>
            <a:grpSpLocks/>
          </p:cNvGrpSpPr>
          <p:nvPr/>
        </p:nvGrpSpPr>
        <p:grpSpPr bwMode="auto">
          <a:xfrm>
            <a:off x="6705600" y="1906588"/>
            <a:ext cx="1752600" cy="2582862"/>
            <a:chOff x="2784" y="1201"/>
            <a:chExt cx="1104" cy="1627"/>
          </a:xfrm>
        </p:grpSpPr>
        <p:sp>
          <p:nvSpPr>
            <p:cNvPr id="5146" name="Rectangle 1056"/>
            <p:cNvSpPr>
              <a:spLocks noChangeArrowheads="1"/>
            </p:cNvSpPr>
            <p:nvPr/>
          </p:nvSpPr>
          <p:spPr bwMode="auto">
            <a:xfrm>
              <a:off x="2784" y="1883"/>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sp>
          <p:nvSpPr>
            <p:cNvPr id="5147" name="Rectangle 1057"/>
            <p:cNvSpPr>
              <a:spLocks noChangeArrowheads="1"/>
            </p:cNvSpPr>
            <p:nvPr/>
          </p:nvSpPr>
          <p:spPr bwMode="auto">
            <a:xfrm>
              <a:off x="2784" y="2250"/>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sp>
          <p:nvSpPr>
            <p:cNvPr id="5148" name="Rectangle 1058"/>
            <p:cNvSpPr>
              <a:spLocks noChangeArrowheads="1"/>
            </p:cNvSpPr>
            <p:nvPr/>
          </p:nvSpPr>
          <p:spPr bwMode="auto">
            <a:xfrm>
              <a:off x="2784" y="2618"/>
              <a:ext cx="1008" cy="210"/>
            </a:xfrm>
            <a:prstGeom prst="rect">
              <a:avLst/>
            </a:prstGeom>
            <a:solidFill>
              <a:srgbClr val="FFFF99"/>
            </a:solidFill>
            <a:ln w="9525">
              <a:solidFill>
                <a:schemeClr val="tx1"/>
              </a:solidFill>
              <a:miter lim="800000"/>
              <a:headEnd/>
              <a:tailEnd/>
            </a:ln>
          </p:spPr>
          <p:txBody>
            <a:bodyPr wrap="none" anchor="ctr"/>
            <a:lstStyle/>
            <a:p>
              <a:endParaRPr lang="tr-TR"/>
            </a:p>
          </p:txBody>
        </p:sp>
        <p:graphicFrame>
          <p:nvGraphicFramePr>
            <p:cNvPr id="5123" name="Object 3"/>
            <p:cNvGraphicFramePr>
              <a:graphicFrameLocks noChangeAspect="1"/>
            </p:cNvGraphicFramePr>
            <p:nvPr/>
          </p:nvGraphicFramePr>
          <p:xfrm>
            <a:off x="2789" y="1201"/>
            <a:ext cx="998" cy="530"/>
          </p:xfrm>
          <a:graphic>
            <a:graphicData uri="http://schemas.openxmlformats.org/presentationml/2006/ole">
              <mc:AlternateContent xmlns:mc="http://schemas.openxmlformats.org/markup-compatibility/2006">
                <mc:Choice xmlns:v="urn:schemas-microsoft-com:vml" Requires="v">
                  <p:oleObj spid="_x0000_s1108" name="MS Org Chart" r:id="rId8" imgW="5193102" imgH="1121434" progId="">
                    <p:embed followColorScheme="full"/>
                  </p:oleObj>
                </mc:Choice>
                <mc:Fallback>
                  <p:oleObj name="MS Org Chart" r:id="rId8" imgW="5193102" imgH="1121434" progId="">
                    <p:embed followColorScheme="full"/>
                    <p:pic>
                      <p:nvPicPr>
                        <p:cNvPr id="0" name="Picture 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9" y="1201"/>
                          <a:ext cx="998"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49" name="Line 1060"/>
            <p:cNvSpPr>
              <a:spLocks noChangeShapeType="1"/>
            </p:cNvSpPr>
            <p:nvPr/>
          </p:nvSpPr>
          <p:spPr bwMode="auto">
            <a:xfrm>
              <a:off x="3888" y="1472"/>
              <a:ext cx="0" cy="12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5150" name="Line 1061"/>
            <p:cNvSpPr>
              <a:spLocks noChangeShapeType="1"/>
            </p:cNvSpPr>
            <p:nvPr/>
          </p:nvSpPr>
          <p:spPr bwMode="auto">
            <a:xfrm flipH="1">
              <a:off x="3792" y="273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5151" name="Line 1062"/>
            <p:cNvSpPr>
              <a:spLocks noChangeShapeType="1"/>
            </p:cNvSpPr>
            <p:nvPr/>
          </p:nvSpPr>
          <p:spPr bwMode="auto">
            <a:xfrm flipH="1">
              <a:off x="3792" y="235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5152" name="Line 1063"/>
            <p:cNvSpPr>
              <a:spLocks noChangeShapeType="1"/>
            </p:cNvSpPr>
            <p:nvPr/>
          </p:nvSpPr>
          <p:spPr bwMode="auto">
            <a:xfrm flipH="1">
              <a:off x="3792" y="1968"/>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useBgFill="1">
          <p:nvSpPr>
            <p:cNvPr id="5153" name="Rectangle 1064"/>
            <p:cNvSpPr>
              <a:spLocks noChangeArrowheads="1"/>
            </p:cNvSpPr>
            <p:nvPr/>
          </p:nvSpPr>
          <p:spPr bwMode="auto">
            <a:xfrm>
              <a:off x="2784" y="1464"/>
              <a:ext cx="1008" cy="312"/>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tr-TR"/>
            </a:p>
          </p:txBody>
        </p:sp>
        <p:sp>
          <p:nvSpPr>
            <p:cNvPr id="5154" name="Line 1065"/>
            <p:cNvSpPr>
              <a:spLocks noChangeShapeType="1"/>
            </p:cNvSpPr>
            <p:nvPr/>
          </p:nvSpPr>
          <p:spPr bwMode="auto">
            <a:xfrm flipV="1">
              <a:off x="3292" y="1464"/>
              <a:ext cx="5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30" name="Group 1066"/>
          <p:cNvGrpSpPr>
            <a:grpSpLocks/>
          </p:cNvGrpSpPr>
          <p:nvPr/>
        </p:nvGrpSpPr>
        <p:grpSpPr bwMode="auto">
          <a:xfrm>
            <a:off x="846138" y="1906588"/>
            <a:ext cx="1584325" cy="2665412"/>
            <a:chOff x="533" y="1201"/>
            <a:chExt cx="998" cy="1679"/>
          </a:xfrm>
        </p:grpSpPr>
        <p:graphicFrame>
          <p:nvGraphicFramePr>
            <p:cNvPr id="5122" name="Object 2"/>
            <p:cNvGraphicFramePr>
              <a:graphicFrameLocks noChangeAspect="1"/>
            </p:cNvGraphicFramePr>
            <p:nvPr/>
          </p:nvGraphicFramePr>
          <p:xfrm>
            <a:off x="533" y="1201"/>
            <a:ext cx="998" cy="530"/>
          </p:xfrm>
          <a:graphic>
            <a:graphicData uri="http://schemas.openxmlformats.org/presentationml/2006/ole">
              <mc:AlternateContent xmlns:mc="http://schemas.openxmlformats.org/markup-compatibility/2006">
                <mc:Choice xmlns:v="urn:schemas-microsoft-com:vml" Requires="v">
                  <p:oleObj spid="_x0000_s1109" name="MS Org Chart" r:id="rId9" imgW="5193102" imgH="1121434" progId="">
                    <p:embed followColorScheme="full"/>
                  </p:oleObj>
                </mc:Choice>
                <mc:Fallback>
                  <p:oleObj name="MS Org Chart" r:id="rId9" imgW="5193102" imgH="1121434" progId="">
                    <p:embed followColorScheme="full"/>
                    <p:pic>
                      <p:nvPicPr>
                        <p:cNvPr id="0" name="Picture 8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 y="1201"/>
                          <a:ext cx="998"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37" name="Group 1068"/>
            <p:cNvGrpSpPr>
              <a:grpSpLocks/>
            </p:cNvGrpSpPr>
            <p:nvPr/>
          </p:nvGrpSpPr>
          <p:grpSpPr bwMode="auto">
            <a:xfrm>
              <a:off x="598" y="1721"/>
              <a:ext cx="173" cy="1159"/>
              <a:chOff x="598" y="1721"/>
              <a:chExt cx="173" cy="1159"/>
            </a:xfrm>
          </p:grpSpPr>
          <p:sp>
            <p:nvSpPr>
              <p:cNvPr id="5144" name="Rectangle 1069"/>
              <p:cNvSpPr>
                <a:spLocks noChangeArrowheads="1"/>
              </p:cNvSpPr>
              <p:nvPr/>
            </p:nvSpPr>
            <p:spPr bwMode="auto">
              <a:xfrm>
                <a:off x="598" y="1830"/>
                <a:ext cx="173" cy="1050"/>
              </a:xfrm>
              <a:prstGeom prst="rect">
                <a:avLst/>
              </a:prstGeom>
              <a:solidFill>
                <a:schemeClr val="accent1"/>
              </a:solidFill>
              <a:ln w="9525">
                <a:solidFill>
                  <a:srgbClr val="000000"/>
                </a:solidFill>
                <a:miter lim="800000"/>
                <a:headEnd/>
                <a:tailEnd/>
              </a:ln>
            </p:spPr>
            <p:txBody>
              <a:bodyPr wrap="none" anchor="ctr"/>
              <a:lstStyle/>
              <a:p>
                <a:endParaRPr lang="tr-TR"/>
              </a:p>
            </p:txBody>
          </p:sp>
          <p:sp>
            <p:nvSpPr>
              <p:cNvPr id="5145" name="Line 1070"/>
              <p:cNvSpPr>
                <a:spLocks noChangeShapeType="1"/>
              </p:cNvSpPr>
              <p:nvPr/>
            </p:nvSpPr>
            <p:spPr bwMode="auto">
              <a:xfrm>
                <a:off x="687"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38" name="Group 1071"/>
            <p:cNvGrpSpPr>
              <a:grpSpLocks/>
            </p:cNvGrpSpPr>
            <p:nvPr/>
          </p:nvGrpSpPr>
          <p:grpSpPr bwMode="auto">
            <a:xfrm>
              <a:off x="945" y="1721"/>
              <a:ext cx="174" cy="1159"/>
              <a:chOff x="945" y="1721"/>
              <a:chExt cx="174" cy="1159"/>
            </a:xfrm>
          </p:grpSpPr>
          <p:sp>
            <p:nvSpPr>
              <p:cNvPr id="5142" name="Rectangle 1072"/>
              <p:cNvSpPr>
                <a:spLocks noChangeArrowheads="1"/>
              </p:cNvSpPr>
              <p:nvPr/>
            </p:nvSpPr>
            <p:spPr bwMode="auto">
              <a:xfrm>
                <a:off x="945" y="1830"/>
                <a:ext cx="174" cy="1050"/>
              </a:xfrm>
              <a:prstGeom prst="rect">
                <a:avLst/>
              </a:prstGeom>
              <a:solidFill>
                <a:schemeClr val="accent1"/>
              </a:solidFill>
              <a:ln w="9525">
                <a:solidFill>
                  <a:srgbClr val="000000"/>
                </a:solidFill>
                <a:miter lim="800000"/>
                <a:headEnd/>
                <a:tailEnd/>
              </a:ln>
            </p:spPr>
            <p:txBody>
              <a:bodyPr wrap="none" anchor="ctr"/>
              <a:lstStyle/>
              <a:p>
                <a:endParaRPr lang="tr-TR"/>
              </a:p>
            </p:txBody>
          </p:sp>
          <p:sp>
            <p:nvSpPr>
              <p:cNvPr id="5143" name="Line 1073"/>
              <p:cNvSpPr>
                <a:spLocks noChangeShapeType="1"/>
              </p:cNvSpPr>
              <p:nvPr/>
            </p:nvSpPr>
            <p:spPr bwMode="auto">
              <a:xfrm>
                <a:off x="1035"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nvGrpSpPr>
            <p:cNvPr id="5139" name="Group 1074"/>
            <p:cNvGrpSpPr>
              <a:grpSpLocks/>
            </p:cNvGrpSpPr>
            <p:nvPr/>
          </p:nvGrpSpPr>
          <p:grpSpPr bwMode="auto">
            <a:xfrm>
              <a:off x="1293" y="1721"/>
              <a:ext cx="173" cy="1159"/>
              <a:chOff x="1293" y="1721"/>
              <a:chExt cx="173" cy="1159"/>
            </a:xfrm>
          </p:grpSpPr>
          <p:sp>
            <p:nvSpPr>
              <p:cNvPr id="5140" name="Rectangle 1075"/>
              <p:cNvSpPr>
                <a:spLocks noChangeArrowheads="1"/>
              </p:cNvSpPr>
              <p:nvPr/>
            </p:nvSpPr>
            <p:spPr bwMode="auto">
              <a:xfrm>
                <a:off x="1293" y="1830"/>
                <a:ext cx="173" cy="1050"/>
              </a:xfrm>
              <a:prstGeom prst="rect">
                <a:avLst/>
              </a:prstGeom>
              <a:solidFill>
                <a:schemeClr val="accent1"/>
              </a:solidFill>
              <a:ln w="9525">
                <a:solidFill>
                  <a:srgbClr val="000000"/>
                </a:solidFill>
                <a:miter lim="800000"/>
                <a:headEnd/>
                <a:tailEnd/>
              </a:ln>
            </p:spPr>
            <p:txBody>
              <a:bodyPr wrap="none" anchor="ctr"/>
              <a:lstStyle/>
              <a:p>
                <a:endParaRPr lang="tr-TR"/>
              </a:p>
            </p:txBody>
          </p:sp>
          <p:sp>
            <p:nvSpPr>
              <p:cNvPr id="5141" name="Line 1076"/>
              <p:cNvSpPr>
                <a:spLocks noChangeShapeType="1"/>
              </p:cNvSpPr>
              <p:nvPr/>
            </p:nvSpPr>
            <p:spPr bwMode="auto">
              <a:xfrm>
                <a:off x="1382" y="1721"/>
                <a:ext cx="0"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grpSp>
      <p:sp>
        <p:nvSpPr>
          <p:cNvPr id="5131" name="Text Box 1077"/>
          <p:cNvSpPr txBox="1">
            <a:spLocks noChangeArrowheads="1"/>
          </p:cNvSpPr>
          <p:nvPr/>
        </p:nvSpPr>
        <p:spPr bwMode="auto">
          <a:xfrm>
            <a:off x="304800" y="5029200"/>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bg2"/>
                </a:solidFill>
                <a:latin typeface="Arial Narrow" pitchFamily="34" charset="0"/>
                <a:ea typeface="Arial Unicode MS" pitchFamily="34" charset="-128"/>
                <a:cs typeface="Arial Unicode MS" pitchFamily="34" charset="-128"/>
              </a:defRPr>
            </a:lvl1pPr>
            <a:lvl2pPr marL="742950" indent="-285750" eaLnBrk="0" hangingPunct="0">
              <a:defRPr sz="2400">
                <a:solidFill>
                  <a:schemeClr val="bg2"/>
                </a:solidFill>
                <a:latin typeface="Arial Narrow" pitchFamily="34" charset="0"/>
                <a:ea typeface="Arial Unicode MS" pitchFamily="34" charset="-128"/>
                <a:cs typeface="Arial Unicode MS" pitchFamily="34" charset="-128"/>
              </a:defRPr>
            </a:lvl2pPr>
            <a:lvl3pPr marL="1143000" indent="-228600" eaLnBrk="0" hangingPunct="0">
              <a:defRPr sz="2400">
                <a:solidFill>
                  <a:schemeClr val="bg2"/>
                </a:solidFill>
                <a:latin typeface="Arial Narrow" pitchFamily="34" charset="0"/>
                <a:ea typeface="Arial Unicode MS" pitchFamily="34" charset="-128"/>
                <a:cs typeface="Arial Unicode MS" pitchFamily="34" charset="-128"/>
              </a:defRPr>
            </a:lvl3pPr>
            <a:lvl4pPr marL="1600200" indent="-228600" eaLnBrk="0" hangingPunct="0">
              <a:defRPr sz="2400">
                <a:solidFill>
                  <a:schemeClr val="bg2"/>
                </a:solidFill>
                <a:latin typeface="Arial Narrow" pitchFamily="34" charset="0"/>
                <a:ea typeface="Arial Unicode MS" pitchFamily="34" charset="-128"/>
                <a:cs typeface="Arial Unicode MS" pitchFamily="34" charset="-128"/>
              </a:defRPr>
            </a:lvl4pPr>
            <a:lvl5pPr marL="2057400" indent="-228600" eaLnBrk="0" hangingPunct="0">
              <a:defRPr sz="2400">
                <a:solidFill>
                  <a:schemeClr val="bg2"/>
                </a:solidFill>
                <a:latin typeface="Arial Narrow"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sz="2400">
                <a:solidFill>
                  <a:schemeClr val="bg2"/>
                </a:solidFill>
                <a:latin typeface="Arial Narrow" pitchFamily="34" charset="0"/>
                <a:ea typeface="Arial Unicode MS" pitchFamily="34" charset="-128"/>
                <a:cs typeface="Arial Unicode MS" pitchFamily="34" charset="-128"/>
              </a:defRPr>
            </a:lvl9pPr>
          </a:lstStyle>
          <a:p>
            <a:pPr eaLnBrk="1" hangingPunct="1">
              <a:spcBef>
                <a:spcPct val="50000"/>
              </a:spcBef>
            </a:pPr>
            <a:r>
              <a:rPr lang="tr-TR" dirty="0">
                <a:solidFill>
                  <a:schemeClr val="tx1"/>
                </a:solidFill>
              </a:rPr>
              <a:t>Fonksiyonel Organizasyon			Süreç Bazlı Organizasyon</a:t>
            </a:r>
          </a:p>
        </p:txBody>
      </p:sp>
      <p:sp>
        <p:nvSpPr>
          <p:cNvPr id="5132" name="Line 1078"/>
          <p:cNvSpPr>
            <a:spLocks noChangeShapeType="1"/>
          </p:cNvSpPr>
          <p:nvPr/>
        </p:nvSpPr>
        <p:spPr bwMode="auto">
          <a:xfrm>
            <a:off x="3581400" y="5257800"/>
            <a:ext cx="830263" cy="0"/>
          </a:xfrm>
          <a:prstGeom prst="line">
            <a:avLst/>
          </a:prstGeom>
          <a:noFill/>
          <a:ln w="57150">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tr-TR"/>
          </a:p>
        </p:txBody>
      </p:sp>
      <p:sp>
        <p:nvSpPr>
          <p:cNvPr id="5133" name="Rectangle 2"/>
          <p:cNvSpPr>
            <a:spLocks noChangeArrowheads="1"/>
          </p:cNvSpPr>
          <p:nvPr/>
        </p:nvSpPr>
        <p:spPr bwMode="auto">
          <a:xfrm>
            <a:off x="704215" y="1021080"/>
            <a:ext cx="1981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tr-TR" sz="1600" dirty="0">
                <a:solidFill>
                  <a:schemeClr val="tx2"/>
                </a:solidFill>
                <a:latin typeface="Times"/>
              </a:rPr>
              <a:t>Dikey, Fonksiyonel Yönetim</a:t>
            </a:r>
          </a:p>
        </p:txBody>
      </p:sp>
      <p:sp>
        <p:nvSpPr>
          <p:cNvPr id="5134" name="Rectangle 3"/>
          <p:cNvSpPr>
            <a:spLocks noChangeArrowheads="1"/>
          </p:cNvSpPr>
          <p:nvPr/>
        </p:nvSpPr>
        <p:spPr bwMode="auto">
          <a:xfrm>
            <a:off x="2786063" y="786448"/>
            <a:ext cx="1752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tr-TR" sz="1600">
                <a:solidFill>
                  <a:schemeClr val="tx2"/>
                </a:solidFill>
                <a:latin typeface="Times"/>
              </a:rPr>
              <a:t>Süreçlerle çakışan Fonksiyonel Yönetim</a:t>
            </a:r>
          </a:p>
        </p:txBody>
      </p:sp>
      <p:sp>
        <p:nvSpPr>
          <p:cNvPr id="5135" name="Rectangle 4"/>
          <p:cNvSpPr>
            <a:spLocks noChangeArrowheads="1"/>
          </p:cNvSpPr>
          <p:nvPr/>
        </p:nvSpPr>
        <p:spPr bwMode="auto">
          <a:xfrm>
            <a:off x="4714875" y="786765"/>
            <a:ext cx="1981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tr-TR" sz="1600" dirty="0">
                <a:solidFill>
                  <a:schemeClr val="tx2"/>
                </a:solidFill>
                <a:latin typeface="Times"/>
              </a:rPr>
              <a:t>Fonksiyonlarla  çakışan Süreçlerle Yönetim</a:t>
            </a:r>
          </a:p>
        </p:txBody>
      </p:sp>
      <p:sp>
        <p:nvSpPr>
          <p:cNvPr id="5136" name="Rectangle 5"/>
          <p:cNvSpPr>
            <a:spLocks noChangeArrowheads="1"/>
          </p:cNvSpPr>
          <p:nvPr/>
        </p:nvSpPr>
        <p:spPr bwMode="auto">
          <a:xfrm>
            <a:off x="6858000" y="1020763"/>
            <a:ext cx="1981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tr-TR" sz="1600" dirty="0">
                <a:solidFill>
                  <a:schemeClr val="tx2"/>
                </a:solidFill>
                <a:latin typeface="Times"/>
              </a:rPr>
              <a:t>Yatay, Süreçlerle Yönetim</a:t>
            </a:r>
          </a:p>
        </p:txBody>
      </p:sp>
    </p:spTree>
    <p:extLst>
      <p:ext uri="{BB962C8B-B14F-4D97-AF65-F5344CB8AC3E}">
        <p14:creationId xmlns:p14="http://schemas.microsoft.com/office/powerpoint/2010/main" val="45730993"/>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algn="l"/>
            <a:r>
              <a:rPr lang="tr-TR" sz="2800" dirty="0"/>
              <a:t>SÜREÇ YÖNETİMİ AŞAMALARI</a:t>
            </a:r>
            <a:endParaRPr lang="en-US" sz="2800" dirty="0"/>
          </a:p>
        </p:txBody>
      </p:sp>
      <p:sp>
        <p:nvSpPr>
          <p:cNvPr id="5123" name="Subtitle 2"/>
          <p:cNvSpPr>
            <a:spLocks noGrp="1"/>
          </p:cNvSpPr>
          <p:nvPr>
            <p:ph sz="quarter" idx="1"/>
          </p:nvPr>
        </p:nvSpPr>
        <p:spPr>
          <a:xfrm>
            <a:off x="1219200" y="1600200"/>
            <a:ext cx="7546848" cy="4840288"/>
          </a:xfrm>
        </p:spPr>
        <p:txBody>
          <a:bodyPr/>
          <a:lstStyle/>
          <a:p>
            <a:pPr marL="342900" indent="-342900" algn="l">
              <a:buFont typeface="Wingdings" pitchFamily="2" charset="2"/>
              <a:buChar char="q"/>
            </a:pPr>
            <a:r>
              <a:rPr lang="tr-TR" sz="1400" dirty="0">
                <a:solidFill>
                  <a:schemeClr val="tx1"/>
                </a:solidFill>
              </a:rPr>
              <a:t>Kuruluş amaçlarının (müşteri ihtiyaç ve beklentilerinin) tanımlanması</a:t>
            </a:r>
          </a:p>
          <a:p>
            <a:pPr marL="342900" indent="-342900">
              <a:buFont typeface="Wingdings" pitchFamily="2" charset="2"/>
              <a:buChar char="q"/>
            </a:pPr>
            <a:r>
              <a:rPr lang="tr-TR" sz="1400" dirty="0"/>
              <a:t>Süreç sahibinin belirlenmesi</a:t>
            </a:r>
          </a:p>
          <a:p>
            <a:pPr marL="342900" indent="-342900" algn="l">
              <a:buFont typeface="Wingdings" pitchFamily="2" charset="2"/>
              <a:buChar char="q"/>
            </a:pPr>
            <a:r>
              <a:rPr lang="tr-TR" sz="1400" dirty="0">
                <a:solidFill>
                  <a:schemeClr val="tx1"/>
                </a:solidFill>
              </a:rPr>
              <a:t>Temel hedeflerinin belirlenmesi</a:t>
            </a:r>
          </a:p>
          <a:p>
            <a:pPr marL="342900" indent="-342900" algn="l">
              <a:buFont typeface="Wingdings" pitchFamily="2" charset="2"/>
              <a:buChar char="q"/>
            </a:pPr>
            <a:r>
              <a:rPr lang="tr-TR" sz="1400" dirty="0">
                <a:solidFill>
                  <a:schemeClr val="tx1"/>
                </a:solidFill>
              </a:rPr>
              <a:t>Faaliyetlerin belirlenmesi</a:t>
            </a:r>
          </a:p>
          <a:p>
            <a:pPr marL="342900" indent="-342900" algn="l">
              <a:buFont typeface="Wingdings" pitchFamily="2" charset="2"/>
              <a:buChar char="q"/>
            </a:pPr>
            <a:r>
              <a:rPr lang="tr-TR" sz="1400" dirty="0">
                <a:solidFill>
                  <a:schemeClr val="tx1"/>
                </a:solidFill>
              </a:rPr>
              <a:t>Faaliyetlerin sırası ve etkileşiminin belirlenmesi</a:t>
            </a:r>
          </a:p>
          <a:p>
            <a:pPr marL="342900" indent="-342900" algn="l">
              <a:buFont typeface="Wingdings" pitchFamily="2" charset="2"/>
              <a:buChar char="q"/>
            </a:pPr>
            <a:r>
              <a:rPr lang="tr-TR" sz="1400" dirty="0">
                <a:solidFill>
                  <a:schemeClr val="tx1"/>
                </a:solidFill>
              </a:rPr>
              <a:t>Süreç dökümantasyonunun belirlenmesi</a:t>
            </a:r>
          </a:p>
          <a:p>
            <a:pPr marL="342900" indent="-342900" algn="l">
              <a:buFont typeface="Wingdings" pitchFamily="2" charset="2"/>
              <a:buChar char="q"/>
            </a:pPr>
            <a:endParaRPr lang="tr-TR" sz="1400" dirty="0">
              <a:solidFill>
                <a:schemeClr val="tx1"/>
              </a:solidFill>
            </a:endParaRPr>
          </a:p>
          <a:p>
            <a:pPr marL="342900" indent="-342900" algn="l">
              <a:buFont typeface="Wingdings" pitchFamily="2" charset="2"/>
              <a:buChar char="q"/>
            </a:pPr>
            <a:r>
              <a:rPr lang="tr-TR" sz="1400" dirty="0">
                <a:solidFill>
                  <a:schemeClr val="tx1"/>
                </a:solidFill>
              </a:rPr>
              <a:t>Alt süreç ve faaliyetlerinin belirlenmesi</a:t>
            </a:r>
          </a:p>
          <a:p>
            <a:pPr marL="342900" indent="-342900" algn="l">
              <a:buFont typeface="Wingdings" pitchFamily="2" charset="2"/>
              <a:buChar char="q"/>
            </a:pPr>
            <a:r>
              <a:rPr lang="tr-TR" sz="1400" dirty="0">
                <a:solidFill>
                  <a:schemeClr val="tx1"/>
                </a:solidFill>
              </a:rPr>
              <a:t>İzleme ve ölçme gerekliliklerinin belirlenmesi</a:t>
            </a:r>
          </a:p>
          <a:p>
            <a:pPr marL="342900" indent="-342900" algn="l">
              <a:buFont typeface="Wingdings" pitchFamily="2" charset="2"/>
              <a:buChar char="q"/>
            </a:pPr>
            <a:r>
              <a:rPr lang="tr-TR" sz="1400" dirty="0">
                <a:solidFill>
                  <a:schemeClr val="tx1"/>
                </a:solidFill>
              </a:rPr>
              <a:t>Kaynak ihtiyaçlarının belirlenmesi</a:t>
            </a:r>
          </a:p>
          <a:p>
            <a:pPr marL="342900" indent="-342900" algn="l">
              <a:buFont typeface="Wingdings" pitchFamily="2" charset="2"/>
              <a:buChar char="q"/>
            </a:pPr>
            <a:r>
              <a:rPr lang="tr-TR" sz="1400" dirty="0">
                <a:solidFill>
                  <a:schemeClr val="tx1"/>
                </a:solidFill>
              </a:rPr>
              <a:t>Doğrulama</a:t>
            </a:r>
          </a:p>
          <a:p>
            <a:pPr marL="342900" indent="-342900" algn="l">
              <a:buFont typeface="Wingdings" pitchFamily="2" charset="2"/>
              <a:buChar char="q"/>
            </a:pPr>
            <a:endParaRPr lang="en-US" sz="1400" dirty="0">
              <a:solidFill>
                <a:schemeClr val="tx1"/>
              </a:solidFill>
            </a:endParaRPr>
          </a:p>
        </p:txBody>
      </p:sp>
      <p:sp>
        <p:nvSpPr>
          <p:cNvPr id="4" name="Rectangle 3"/>
          <p:cNvSpPr/>
          <p:nvPr/>
        </p:nvSpPr>
        <p:spPr>
          <a:xfrm>
            <a:off x="1219199" y="1295400"/>
            <a:ext cx="6670675" cy="381000"/>
          </a:xfrm>
          <a:prstGeom prst="rect">
            <a:avLst/>
          </a:prstGeom>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r>
              <a:rPr lang="tr-TR" dirty="0"/>
              <a:t>Sürecin Tanımlanması</a:t>
            </a:r>
            <a:endParaRPr lang="en-US" dirty="0"/>
          </a:p>
        </p:txBody>
      </p:sp>
      <p:sp>
        <p:nvSpPr>
          <p:cNvPr id="6" name="Rectangle 5"/>
          <p:cNvSpPr/>
          <p:nvPr/>
        </p:nvSpPr>
        <p:spPr>
          <a:xfrm>
            <a:off x="1219199" y="3352800"/>
            <a:ext cx="6670675" cy="381000"/>
          </a:xfrm>
          <a:prstGeom prst="rect">
            <a:avLst/>
          </a:prstGeom>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r>
              <a:rPr lang="tr-TR" dirty="0"/>
              <a:t>Sürecin Planlanması</a:t>
            </a:r>
            <a:endParaRPr lang="en-US" dirty="0"/>
          </a:p>
        </p:txBody>
      </p:sp>
      <p:sp>
        <p:nvSpPr>
          <p:cNvPr id="7" name="Rectangle 6"/>
          <p:cNvSpPr/>
          <p:nvPr/>
        </p:nvSpPr>
        <p:spPr>
          <a:xfrm>
            <a:off x="1219200" y="4876800"/>
            <a:ext cx="6670674" cy="381000"/>
          </a:xfrm>
          <a:prstGeom prst="rect">
            <a:avLst/>
          </a:prstGeom>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r>
              <a:rPr lang="tr-TR" dirty="0"/>
              <a:t>Uygulama ve Ölçme</a:t>
            </a:r>
            <a:endParaRPr lang="en-US" dirty="0"/>
          </a:p>
        </p:txBody>
      </p:sp>
      <p:sp>
        <p:nvSpPr>
          <p:cNvPr id="8" name="Rectangle 7"/>
          <p:cNvSpPr/>
          <p:nvPr/>
        </p:nvSpPr>
        <p:spPr>
          <a:xfrm>
            <a:off x="1211263" y="5462588"/>
            <a:ext cx="6678612" cy="381000"/>
          </a:xfrm>
          <a:prstGeom prst="rect">
            <a:avLst/>
          </a:prstGeom>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r>
              <a:rPr lang="tr-TR" dirty="0"/>
              <a:t>Analiz</a:t>
            </a:r>
            <a:endParaRPr lang="en-US" dirty="0"/>
          </a:p>
        </p:txBody>
      </p:sp>
      <p:sp>
        <p:nvSpPr>
          <p:cNvPr id="19" name="Rectangle 18"/>
          <p:cNvSpPr/>
          <p:nvPr/>
        </p:nvSpPr>
        <p:spPr>
          <a:xfrm>
            <a:off x="1219200" y="6075363"/>
            <a:ext cx="6670674" cy="381000"/>
          </a:xfrm>
          <a:prstGeom prst="rect">
            <a:avLst/>
          </a:prstGeom>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r>
              <a:rPr lang="tr-TR" dirty="0"/>
              <a:t>Süreç İyileştirme Aşamaları</a:t>
            </a:r>
            <a:endParaRPr lang="en-US" dirty="0"/>
          </a:p>
        </p:txBody>
      </p:sp>
      <p:sp>
        <p:nvSpPr>
          <p:cNvPr id="17" name="Rectangle 16"/>
          <p:cNvSpPr/>
          <p:nvPr/>
        </p:nvSpPr>
        <p:spPr>
          <a:xfrm>
            <a:off x="4317999" y="2120900"/>
            <a:ext cx="3571875" cy="38100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r>
              <a:rPr lang="tr-TR" dirty="0"/>
              <a:t>KBF`lerin Belirlenmesi</a:t>
            </a:r>
            <a:endParaRPr lang="en-US" dirty="0"/>
          </a:p>
        </p:txBody>
      </p:sp>
    </p:spTree>
    <p:extLst>
      <p:ext uri="{BB962C8B-B14F-4D97-AF65-F5344CB8AC3E}">
        <p14:creationId xmlns:p14="http://schemas.microsoft.com/office/powerpoint/2010/main" val="35408304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28133" y="417126"/>
            <a:ext cx="6321777" cy="707886"/>
          </a:xfrm>
          <a:prstGeom prst="rect">
            <a:avLst/>
          </a:prstGeom>
          <a:noFill/>
        </p:spPr>
        <p:txBody>
          <a:bodyPr wrap="square" rtlCol="0">
            <a:spAutoFit/>
          </a:bodyPr>
          <a:lstStyle/>
          <a:p>
            <a:r>
              <a:rPr lang="en-US" sz="4000" b="1" dirty="0" err="1">
                <a:latin typeface="Calibri" pitchFamily="34" charset="0"/>
                <a:cs typeface="Calibri" pitchFamily="34" charset="0"/>
              </a:rPr>
              <a:t>Kaynakça</a:t>
            </a:r>
            <a:endParaRPr lang="en-US" sz="4000" b="1" dirty="0">
              <a:latin typeface="Calibri" pitchFamily="34" charset="0"/>
              <a:cs typeface="Calibri" pitchFamily="34" charset="0"/>
            </a:endParaRPr>
          </a:p>
        </p:txBody>
      </p:sp>
      <p:sp>
        <p:nvSpPr>
          <p:cNvPr id="6" name="TextBox 5"/>
          <p:cNvSpPr txBox="1"/>
          <p:nvPr/>
        </p:nvSpPr>
        <p:spPr>
          <a:xfrm>
            <a:off x="585893" y="1347893"/>
            <a:ext cx="7653867" cy="3899786"/>
          </a:xfrm>
          <a:prstGeom prst="rect">
            <a:avLst/>
          </a:prstGeom>
          <a:noFill/>
        </p:spPr>
        <p:txBody>
          <a:bodyPr wrap="square" rtlCol="0">
            <a:spAutoFit/>
          </a:bodyPr>
          <a:lstStyle/>
          <a:p>
            <a:pPr marL="342900" indent="-342900">
              <a:lnSpc>
                <a:spcPct val="150000"/>
              </a:lnSpc>
              <a:buFont typeface="Arial" pitchFamily="34" charset="0"/>
              <a:buChar char="•"/>
            </a:pPr>
            <a:r>
              <a:rPr lang="tr-TR" sz="2400" b="1" dirty="0">
                <a:effectLst>
                  <a:outerShdw blurRad="38100" dist="38100" dir="2700000" algn="tl">
                    <a:srgbClr val="000000">
                      <a:alpha val="43137"/>
                    </a:srgbClr>
                  </a:outerShdw>
                </a:effectLst>
                <a:latin typeface="Calibri" pitchFamily="34" charset="0"/>
                <a:cs typeface="Calibri" pitchFamily="34" charset="0"/>
              </a:rPr>
              <a:t>Baray, Alp. İstanbul Üniversitesi Mühendislik Fakültesi</a:t>
            </a:r>
          </a:p>
          <a:p>
            <a:pPr marL="342900" indent="-342900">
              <a:lnSpc>
                <a:spcPct val="150000"/>
              </a:lnSpc>
              <a:buFont typeface="Arial" pitchFamily="34" charset="0"/>
              <a:buChar char="•"/>
            </a:pPr>
            <a:r>
              <a:rPr lang="en-US" sz="2400" b="1" dirty="0" err="1">
                <a:effectLst>
                  <a:outerShdw blurRad="38100" dist="38100" dir="2700000" algn="tl">
                    <a:srgbClr val="000000">
                      <a:alpha val="43137"/>
                    </a:srgbClr>
                  </a:outerShdw>
                </a:effectLst>
                <a:latin typeface="Calibri" pitchFamily="34" charset="0"/>
                <a:cs typeface="Calibri" pitchFamily="34" charset="0"/>
              </a:rPr>
              <a:t>Ağaçkanlı</a:t>
            </a:r>
            <a:r>
              <a:rPr lang="en-US" sz="2400" b="1" dirty="0">
                <a:effectLst>
                  <a:outerShdw blurRad="38100" dist="38100" dir="2700000" algn="tl">
                    <a:srgbClr val="000000">
                      <a:alpha val="43137"/>
                    </a:srgbClr>
                  </a:outerShdw>
                </a:effectLst>
                <a:latin typeface="Calibri" pitchFamily="34" charset="0"/>
                <a:cs typeface="Calibri" pitchFamily="34" charset="0"/>
              </a:rPr>
              <a:t>, İ.H.; </a:t>
            </a:r>
            <a:r>
              <a:rPr lang="en-US" sz="2400" b="1" dirty="0" err="1">
                <a:effectLst>
                  <a:outerShdw blurRad="38100" dist="38100" dir="2700000" algn="tl">
                    <a:srgbClr val="000000">
                      <a:alpha val="43137"/>
                    </a:srgbClr>
                  </a:outerShdw>
                </a:effectLst>
                <a:latin typeface="Calibri" pitchFamily="34" charset="0"/>
                <a:cs typeface="Calibri" pitchFamily="34" charset="0"/>
              </a:rPr>
              <a:t>Toplam</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Kalite</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Yönetimi</a:t>
            </a:r>
            <a:r>
              <a:rPr lang="en-US" sz="2400" b="1" dirty="0">
                <a:effectLst>
                  <a:outerShdw blurRad="38100" dist="38100" dir="2700000" algn="tl">
                    <a:srgbClr val="000000">
                      <a:alpha val="43137"/>
                    </a:srgbClr>
                  </a:outerShdw>
                </a:effectLst>
                <a:latin typeface="Calibri" pitchFamily="34" charset="0"/>
                <a:cs typeface="Calibri" pitchFamily="34" charset="0"/>
              </a:rPr>
              <a:t> – </a:t>
            </a:r>
            <a:r>
              <a:rPr lang="en-US" sz="2400" b="1" dirty="0" err="1">
                <a:effectLst>
                  <a:outerShdw blurRad="38100" dist="38100" dir="2700000" algn="tl">
                    <a:srgbClr val="000000">
                      <a:alpha val="43137"/>
                    </a:srgbClr>
                  </a:outerShdw>
                </a:effectLst>
                <a:latin typeface="Calibri" pitchFamily="34" charset="0"/>
                <a:cs typeface="Calibri" pitchFamily="34" charset="0"/>
              </a:rPr>
              <a:t>Süreçler</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ppt</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sunumu</a:t>
            </a:r>
            <a:r>
              <a:rPr lang="en-US" sz="2400" b="1" dirty="0">
                <a:effectLst>
                  <a:outerShdw blurRad="38100" dist="38100" dir="2700000" algn="tl">
                    <a:srgbClr val="000000">
                      <a:alpha val="43137"/>
                    </a:srgbClr>
                  </a:outerShdw>
                </a:effectLst>
                <a:latin typeface="Calibri" pitchFamily="34" charset="0"/>
                <a:cs typeface="Calibri" pitchFamily="34" charset="0"/>
              </a:rPr>
              <a:t>); 2000.</a:t>
            </a:r>
          </a:p>
          <a:p>
            <a:pPr marL="342900" indent="-342900">
              <a:lnSpc>
                <a:spcPct val="150000"/>
              </a:lnSpc>
              <a:buFont typeface="Arial" pitchFamily="34" charset="0"/>
              <a:buChar char="•"/>
            </a:pPr>
            <a:r>
              <a:rPr lang="en-US" sz="2400" b="1" dirty="0">
                <a:effectLst>
                  <a:outerShdw blurRad="38100" dist="38100" dir="2700000" algn="tl">
                    <a:srgbClr val="000000">
                      <a:alpha val="43137"/>
                    </a:srgbClr>
                  </a:outerShdw>
                </a:effectLst>
                <a:latin typeface="Calibri" pitchFamily="34" charset="0"/>
                <a:cs typeface="Calibri" pitchFamily="34" charset="0"/>
              </a:rPr>
              <a:t>Bureau </a:t>
            </a:r>
            <a:r>
              <a:rPr lang="en-US" sz="2400" b="1" dirty="0" err="1">
                <a:effectLst>
                  <a:outerShdw blurRad="38100" dist="38100" dir="2700000" algn="tl">
                    <a:srgbClr val="000000">
                      <a:alpha val="43137"/>
                    </a:srgbClr>
                  </a:outerShdw>
                </a:effectLst>
                <a:latin typeface="Calibri" pitchFamily="34" charset="0"/>
                <a:cs typeface="Calibri" pitchFamily="34" charset="0"/>
              </a:rPr>
              <a:t>Veritas</a:t>
            </a:r>
            <a:r>
              <a:rPr lang="en-US" sz="2400" b="1" dirty="0">
                <a:effectLst>
                  <a:outerShdw blurRad="38100" dist="38100" dir="2700000" algn="tl">
                    <a:srgbClr val="000000">
                      <a:alpha val="43137"/>
                    </a:srgbClr>
                  </a:outerShdw>
                </a:effectLst>
                <a:latin typeface="Calibri" pitchFamily="34" charset="0"/>
                <a:cs typeface="Calibri" pitchFamily="34" charset="0"/>
              </a:rPr>
              <a:t> BV 535 </a:t>
            </a:r>
            <a:r>
              <a:rPr lang="en-US" sz="2400" b="1" dirty="0" err="1">
                <a:effectLst>
                  <a:outerShdw blurRad="38100" dist="38100" dir="2700000" algn="tl">
                    <a:srgbClr val="000000">
                      <a:alpha val="43137"/>
                    </a:srgbClr>
                  </a:outerShdw>
                </a:effectLst>
                <a:latin typeface="Calibri" pitchFamily="34" charset="0"/>
                <a:cs typeface="Calibri" pitchFamily="34" charset="0"/>
              </a:rPr>
              <a:t>Süreç</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Yönetimi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ve</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Kritik</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Süreçlerin</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Belirlenmesi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Eğitimi</a:t>
            </a:r>
            <a:r>
              <a:rPr lang="en-US" sz="2400" b="1" dirty="0">
                <a:effectLst>
                  <a:outerShdw blurRad="38100" dist="38100" dir="2700000" algn="tl">
                    <a:srgbClr val="000000">
                      <a:alpha val="43137"/>
                    </a:srgbClr>
                  </a:outerShdw>
                </a:effectLst>
                <a:latin typeface="Calibri" pitchFamily="34" charset="0"/>
                <a:cs typeface="Calibri" pitchFamily="34" charset="0"/>
              </a:rPr>
              <a:t>; 2010.</a:t>
            </a:r>
          </a:p>
          <a:p>
            <a:pPr marL="342900" indent="-342900">
              <a:lnSpc>
                <a:spcPct val="150000"/>
              </a:lnSpc>
              <a:buFont typeface="Arial" pitchFamily="34" charset="0"/>
              <a:buChar char="•"/>
            </a:pPr>
            <a:r>
              <a:rPr lang="en-US" sz="2400" b="1" dirty="0" err="1">
                <a:effectLst>
                  <a:outerShdw blurRad="38100" dist="38100" dir="2700000" algn="tl">
                    <a:srgbClr val="000000">
                      <a:alpha val="43137"/>
                    </a:srgbClr>
                  </a:outerShdw>
                </a:effectLst>
                <a:latin typeface="Calibri" pitchFamily="34" charset="0"/>
                <a:cs typeface="Calibri" pitchFamily="34" charset="0"/>
              </a:rPr>
              <a:t>Eriş</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Ertuğrul</a:t>
            </a:r>
            <a:r>
              <a:rPr lang="en-US" sz="2400" b="1" dirty="0">
                <a:effectLst>
                  <a:outerShdw blurRad="38100" dist="38100" dir="2700000" algn="tl">
                    <a:srgbClr val="000000">
                      <a:alpha val="43137"/>
                    </a:srgbClr>
                  </a:outerShdw>
                </a:effectLst>
                <a:latin typeface="Calibri" pitchFamily="34" charset="0"/>
                <a:cs typeface="Calibri" pitchFamily="34" charset="0"/>
              </a:rPr>
              <a:t>; Bologna </a:t>
            </a:r>
            <a:r>
              <a:rPr lang="en-US" sz="2400" b="1" dirty="0" err="1">
                <a:effectLst>
                  <a:outerShdw blurRad="38100" dist="38100" dir="2700000" algn="tl">
                    <a:srgbClr val="000000">
                      <a:alpha val="43137"/>
                    </a:srgbClr>
                  </a:outerShdw>
                </a:effectLst>
                <a:latin typeface="Calibri" pitchFamily="34" charset="0"/>
                <a:cs typeface="Calibri" pitchFamily="34" charset="0"/>
              </a:rPr>
              <a:t>Süreci</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Kapsamında</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Öğrenim</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Programı</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Hazırlanması</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ppt</a:t>
            </a:r>
            <a:r>
              <a:rPr lang="en-US" sz="2400" b="1" dirty="0">
                <a:effectLst>
                  <a:outerShdw blurRad="38100" dist="38100" dir="2700000" algn="tl">
                    <a:srgbClr val="000000">
                      <a:alpha val="43137"/>
                    </a:srgbClr>
                  </a:outerShdw>
                </a:effectLst>
                <a:latin typeface="Calibri" pitchFamily="34" charset="0"/>
                <a:cs typeface="Calibri" pitchFamily="34" charset="0"/>
              </a:rPr>
              <a:t> </a:t>
            </a:r>
            <a:r>
              <a:rPr lang="en-US" sz="2400" b="1" dirty="0" err="1">
                <a:effectLst>
                  <a:outerShdw blurRad="38100" dist="38100" dir="2700000" algn="tl">
                    <a:srgbClr val="000000">
                      <a:alpha val="43137"/>
                    </a:srgbClr>
                  </a:outerShdw>
                </a:effectLst>
                <a:latin typeface="Calibri" pitchFamily="34" charset="0"/>
                <a:cs typeface="Calibri" pitchFamily="34" charset="0"/>
              </a:rPr>
              <a:t>sunumu</a:t>
            </a:r>
            <a:r>
              <a:rPr lang="en-US" sz="2400" b="1" dirty="0">
                <a:effectLst>
                  <a:outerShdw blurRad="38100" dist="38100" dir="2700000" algn="tl">
                    <a:srgbClr val="000000">
                      <a:alpha val="43137"/>
                    </a:srgbClr>
                  </a:outerShdw>
                </a:effectLst>
                <a:latin typeface="Calibri" pitchFamily="34" charset="0"/>
                <a:cs typeface="Calibri" pitchFamily="34" charset="0"/>
              </a:rPr>
              <a:t>); 2010.</a:t>
            </a:r>
          </a:p>
        </p:txBody>
      </p:sp>
    </p:spTree>
  </p:cSld>
  <p:clrMapOvr>
    <a:masterClrMapping/>
  </p:clrMapOvr>
  <p:transition spd="med">
    <p:wipe dir="r"/>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ppt/theme/themeOverride2.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
  <TotalTime>1130</TotalTime>
  <Words>3540</Words>
  <Application>Microsoft Office PowerPoint</Application>
  <PresentationFormat>Ekran Gösterisi (4:3)</PresentationFormat>
  <Paragraphs>1034</Paragraphs>
  <Slides>100</Slides>
  <Notes>6</Notes>
  <HiddenSlides>0</HiddenSlides>
  <MMClips>0</MMClips>
  <ScaleCrop>false</ScaleCrop>
  <HeadingPairs>
    <vt:vector size="8" baseType="variant">
      <vt:variant>
        <vt:lpstr>Kullanılan Yazı Tipleri</vt:lpstr>
      </vt:variant>
      <vt:variant>
        <vt:i4>9</vt:i4>
      </vt:variant>
      <vt:variant>
        <vt:lpstr>Tema</vt:lpstr>
      </vt:variant>
      <vt:variant>
        <vt:i4>1</vt:i4>
      </vt:variant>
      <vt:variant>
        <vt:lpstr>Eklenmiş OLE Hizmet Programları</vt:lpstr>
      </vt:variant>
      <vt:variant>
        <vt:i4>1</vt:i4>
      </vt:variant>
      <vt:variant>
        <vt:lpstr>Slayt Başlıkları</vt:lpstr>
      </vt:variant>
      <vt:variant>
        <vt:i4>100</vt:i4>
      </vt:variant>
    </vt:vector>
  </HeadingPairs>
  <TitlesOfParts>
    <vt:vector size="111" baseType="lpstr">
      <vt:lpstr>Arial</vt:lpstr>
      <vt:lpstr>Arial Narrow</vt:lpstr>
      <vt:lpstr>Calibri</vt:lpstr>
      <vt:lpstr>Tahoma</vt:lpstr>
      <vt:lpstr>Times</vt:lpstr>
      <vt:lpstr>Times New Roman</vt:lpstr>
      <vt:lpstr>Tw Cen MT</vt:lpstr>
      <vt:lpstr>Wingdings</vt:lpstr>
      <vt:lpstr>Wingdings 2</vt:lpstr>
      <vt:lpstr>Median</vt:lpstr>
      <vt:lpstr>MS Org Chart</vt:lpstr>
      <vt:lpstr>SÜREÇ YÖNETİMİ ve süreçlerle yönetİm</vt:lpstr>
      <vt:lpstr>BÖLÜM 1</vt:lpstr>
      <vt:lpstr>Tarihsel Seyir</vt:lpstr>
      <vt:lpstr>Kaynak Yönetimi</vt:lpstr>
      <vt:lpstr>Proses Yönetimi</vt:lpstr>
      <vt:lpstr>Post Fordism</vt:lpstr>
      <vt:lpstr>Makine İnsan Malzeme= Üretim Yönetimi</vt:lpstr>
      <vt:lpstr>SÜREÇLERLE YÖNETİM</vt:lpstr>
      <vt:lpstr>8 KALİTE YÖNETİM PRENSİBİ</vt:lpstr>
      <vt:lpstr>8 KALİTE YÖNETİM PRENSİBİ </vt:lpstr>
      <vt:lpstr>SİSTEM YAKLAŞIMI (Closed Loop)</vt:lpstr>
      <vt:lpstr>BÖLÜM 2 </vt:lpstr>
      <vt:lpstr>Süreç =/= Süre Process =/= Time</vt:lpstr>
      <vt:lpstr>Process ??</vt:lpstr>
      <vt:lpstr>NEDEN SÜREÇ YÖNETİMİ</vt:lpstr>
      <vt:lpstr>TANIMLAR VE KAVRAMLAR</vt:lpstr>
      <vt:lpstr>TANIMLAR VE KAVRAMLAR</vt:lpstr>
      <vt:lpstr>SÜREÇLERİN TANIMLANMASI</vt:lpstr>
      <vt:lpstr>SÜREÇLERİN TANIMLANMASI</vt:lpstr>
      <vt:lpstr>SÜREÇLERİN TANIMLANMASI</vt:lpstr>
      <vt:lpstr>SÜREÇLERİN TANIMLANMASI</vt:lpstr>
      <vt:lpstr>SÜREÇLERİN TANIMLANMASI</vt:lpstr>
      <vt:lpstr>SÜREÇLERİN TANIMLANMASI</vt:lpstr>
      <vt:lpstr>SÜREÇLERİN TANIMLANMASI</vt:lpstr>
      <vt:lpstr>Sorumluluk, Yetki Ve Görev Kavramlarının Grafiksel Tanımlanması</vt:lpstr>
      <vt:lpstr>PowerPoint Sunusu</vt:lpstr>
      <vt:lpstr>SÜREÇLERİN TANIMLANMASI</vt:lpstr>
      <vt:lpstr>SÜREÇLERİN TANIMLANMASI</vt:lpstr>
      <vt:lpstr>SÜREÇLERİN TANIMLANMASI</vt:lpstr>
      <vt:lpstr>SÜREÇLERİN TANIMLANMASI</vt:lpstr>
      <vt:lpstr>SÜREÇLERİN TANIMLANMASI</vt:lpstr>
      <vt:lpstr>SÜREÇLERİN TANIMLANMASI</vt:lpstr>
      <vt:lpstr>Process ??</vt:lpstr>
      <vt:lpstr>SÜREÇLERİN TANIMLANMASI</vt:lpstr>
      <vt:lpstr>SÜREÇLERİN TANIMLANMASI</vt:lpstr>
      <vt:lpstr>SÜREÇLERİN TANIMLANMASI</vt:lpstr>
      <vt:lpstr>SÜREÇLERİN TANIMLANMASI</vt:lpstr>
      <vt:lpstr>TANIMLAR VE KAVRAMLAR</vt:lpstr>
      <vt:lpstr>BÖLÜM 3 </vt:lpstr>
      <vt:lpstr>SÜREÇ HİYERARŞİSİ</vt:lpstr>
      <vt:lpstr>PowerPoint Sunusu</vt:lpstr>
      <vt:lpstr>TANIMLAR VE KAVRAMLAR</vt:lpstr>
      <vt:lpstr>TANIMLAR VE KAVRAMLAR</vt:lpstr>
      <vt:lpstr>YÖNETSEL SÜREÇLER (MP)</vt:lpstr>
      <vt:lpstr>Tanımlanabilme</vt:lpstr>
      <vt:lpstr>Ölçülebilme</vt:lpstr>
      <vt:lpstr>Ölçülebilme</vt:lpstr>
      <vt:lpstr>Ölçülebilme</vt:lpstr>
      <vt:lpstr>BÖLÜM 4</vt:lpstr>
      <vt:lpstr>SÜREÇLERİN DÖKÜMANTASYONU</vt:lpstr>
      <vt:lpstr>SÜREÇLERİN DÖKÜMANTASYONU</vt:lpstr>
      <vt:lpstr>SÜREÇLERİN DÖKÜMANTASYONU</vt:lpstr>
      <vt:lpstr>SÜREÇ AKIŞ ŞEMALARI</vt:lpstr>
      <vt:lpstr>SÜREÇ İLİŞKİ HARİTALARI</vt:lpstr>
      <vt:lpstr>BİRİMLER ARASI SÜREÇ HARİTALARI</vt:lpstr>
      <vt:lpstr>YERLEŞİM İŞ AKIŞ ŞEMASI</vt:lpstr>
      <vt:lpstr>SÜREÇ HARİTALARINDA KULLANILAN SEMBOLLER</vt:lpstr>
      <vt:lpstr>Analogtan Dijitale</vt:lpstr>
      <vt:lpstr>LEAN SYSTEM </vt:lpstr>
      <vt:lpstr>BÖLÜM 5</vt:lpstr>
      <vt:lpstr>EFQM MÜKEMMELLİK MODELİ</vt:lpstr>
      <vt:lpstr>STRATEJİK PLANLAMA</vt:lpstr>
      <vt:lpstr>8 KALİTE YÖNETİM PRENSİBİ</vt:lpstr>
      <vt:lpstr>8 KALİTE YÖNETİM PRENSİBİ </vt:lpstr>
      <vt:lpstr>SİSTEM YAKLAŞIMI</vt:lpstr>
      <vt:lpstr>ISO 9001 :2008</vt:lpstr>
      <vt:lpstr>ISO 9001 :2008 4.1 Genel Şartlar</vt:lpstr>
      <vt:lpstr>ISO 9001 :2008 </vt:lpstr>
      <vt:lpstr>BÖLÜM 6</vt:lpstr>
      <vt:lpstr>NEDEN SÜREÇ İYİLEŞTİRME ?</vt:lpstr>
      <vt:lpstr>NEDEN SÜREÇ İYİLEŞTİRME?</vt:lpstr>
      <vt:lpstr>SÜREÇLERİN İYİLEŞTİRİLMESİ</vt:lpstr>
      <vt:lpstr>SÜREÇ İYİLEŞTİRME İLKELERİ</vt:lpstr>
      <vt:lpstr>SÜREÇ İYİLEŞTİRME İLKELERİ</vt:lpstr>
      <vt:lpstr>SÜREÇ İYİLEŞTİRME EKİPLERİNİN KURULMASI</vt:lpstr>
      <vt:lpstr>PowerPoint Sunusu</vt:lpstr>
      <vt:lpstr>Sürecİn Katma Değerİ</vt:lpstr>
      <vt:lpstr>SÜREÇ YÖNETİMİ AŞAMALARI</vt:lpstr>
      <vt:lpstr>SÜREÇ İYİLEŞTİRME AŞAMALARI</vt:lpstr>
      <vt:lpstr>KRİTİK BAŞARI FAKTÖRLERİNİN BELİRLENMESİ</vt:lpstr>
      <vt:lpstr>KRİTİK BAŞARI FAKTÖRLERİNİN BELİRLENMESİ</vt:lpstr>
      <vt:lpstr>İYİLEŞTİRME ÖNCELİKLERİNİN BELİRLENMESİ – ETKİ ANALİZİ</vt:lpstr>
      <vt:lpstr>KRİTİK SÜREÇLERİN BELİRLENMESİ – MEVCUT DURUM ANALİZİ</vt:lpstr>
      <vt:lpstr>MEVCUT DURUM ANALİZİ</vt:lpstr>
      <vt:lpstr>KRİTİK SÜRECLERİN BELİRLENMESİ- İYİLEŞTİRME ÖNCELİKLERİ</vt:lpstr>
      <vt:lpstr>PUKÖ DÖNGÜSÜ</vt:lpstr>
      <vt:lpstr>PLANLAMA</vt:lpstr>
      <vt:lpstr>SÜREÇ İYİLEŞTİRME PRENSİPLERİ</vt:lpstr>
      <vt:lpstr>SÜREÇ İYİLEŞTİRME YÖNTEMLERİ</vt:lpstr>
      <vt:lpstr>SÜREÇ İYİLEŞTİRME </vt:lpstr>
      <vt:lpstr>SÜREÇ İYİLEŞTİRME</vt:lpstr>
      <vt:lpstr>UYGULAMA VE PERFORMANS İZLEME</vt:lpstr>
      <vt:lpstr>STANDARTLAŞMA</vt:lpstr>
      <vt:lpstr>İ.Ü. Süreç Oluşturma Standartları</vt:lpstr>
      <vt:lpstr>BİR SÜREÇTEN BEKLENEN ÖZELLİKLER</vt:lpstr>
      <vt:lpstr>BÖLÜM 7</vt:lpstr>
      <vt:lpstr>Fonksiyonel organizasyon</vt:lpstr>
      <vt:lpstr>Organizasyonel Yapılanma</vt:lpstr>
      <vt:lpstr>SÜREÇ YÖNETİMİ AŞAMALARI</vt:lpstr>
      <vt:lpstr>PowerPoint Sunusu</vt:lpstr>
    </vt:vector>
  </TitlesOfParts>
  <Company>İstanbul Universitesi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dc:title>
  <dc:creator>Alper CİHAN</dc:creator>
  <cp:lastModifiedBy>Alper Cihan</cp:lastModifiedBy>
  <cp:revision>72</cp:revision>
  <cp:lastPrinted>2010-07-29T20:30:26Z</cp:lastPrinted>
  <dcterms:created xsi:type="dcterms:W3CDTF">2010-07-29T20:03:03Z</dcterms:created>
  <dcterms:modified xsi:type="dcterms:W3CDTF">2020-01-07T11:41:16Z</dcterms:modified>
</cp:coreProperties>
</file>