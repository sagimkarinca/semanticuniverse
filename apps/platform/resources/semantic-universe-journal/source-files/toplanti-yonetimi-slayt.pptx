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6"/>
  </p:notesMasterIdLst>
  <p:sldIdLst>
    <p:sldId id="256" r:id="rId2"/>
    <p:sldId id="274" r:id="rId3"/>
    <p:sldId id="275" r:id="rId4"/>
    <p:sldId id="257" r:id="rId5"/>
    <p:sldId id="276" r:id="rId6"/>
    <p:sldId id="258" r:id="rId7"/>
    <p:sldId id="291" r:id="rId8"/>
    <p:sldId id="259" r:id="rId9"/>
    <p:sldId id="260" r:id="rId10"/>
    <p:sldId id="261" r:id="rId11"/>
    <p:sldId id="262" r:id="rId12"/>
    <p:sldId id="277" r:id="rId13"/>
    <p:sldId id="279" r:id="rId14"/>
    <p:sldId id="280" r:id="rId15"/>
    <p:sldId id="278" r:id="rId16"/>
    <p:sldId id="281" r:id="rId17"/>
    <p:sldId id="263" r:id="rId18"/>
    <p:sldId id="299" r:id="rId19"/>
    <p:sldId id="300" r:id="rId20"/>
    <p:sldId id="264" r:id="rId21"/>
    <p:sldId id="265" r:id="rId22"/>
    <p:sldId id="266" r:id="rId23"/>
    <p:sldId id="267" r:id="rId24"/>
    <p:sldId id="269" r:id="rId25"/>
    <p:sldId id="270" r:id="rId26"/>
    <p:sldId id="282" r:id="rId27"/>
    <p:sldId id="283" r:id="rId28"/>
    <p:sldId id="284" r:id="rId29"/>
    <p:sldId id="285" r:id="rId30"/>
    <p:sldId id="286" r:id="rId31"/>
    <p:sldId id="287" r:id="rId32"/>
    <p:sldId id="288" r:id="rId33"/>
    <p:sldId id="289" r:id="rId34"/>
    <p:sldId id="290" r:id="rId35"/>
    <p:sldId id="272" r:id="rId36"/>
    <p:sldId id="268" r:id="rId37"/>
    <p:sldId id="293" r:id="rId38"/>
    <p:sldId id="294" r:id="rId39"/>
    <p:sldId id="295" r:id="rId40"/>
    <p:sldId id="296" r:id="rId41"/>
    <p:sldId id="297" r:id="rId42"/>
    <p:sldId id="298" r:id="rId43"/>
    <p:sldId id="273" r:id="rId44"/>
    <p:sldId id="292" r:id="rId45"/>
  </p:sldIdLst>
  <p:sldSz cx="9144000" cy="6858000" type="screen4x3"/>
  <p:notesSz cx="6858000" cy="9144000"/>
  <p:defaultTextStyle>
    <a:defPPr>
      <a:defRPr lang="tr-TR"/>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6D5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82" autoAdjust="0"/>
    <p:restoredTop sz="90978" autoAdjust="0"/>
  </p:normalViewPr>
  <p:slideViewPr>
    <p:cSldViewPr>
      <p:cViewPr>
        <p:scale>
          <a:sx n="80" d="100"/>
          <a:sy n="80" d="100"/>
        </p:scale>
        <p:origin x="1878" y="3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648"/>
    </p:cViewPr>
  </p:sorterViewPr>
  <p:notesViewPr>
    <p:cSldViewPr>
      <p:cViewPr varScale="1">
        <p:scale>
          <a:sx n="79" d="100"/>
          <a:sy n="79" d="100"/>
        </p:scale>
        <p:origin x="-2076"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5C52969C-2754-4704-B76A-6900D8CEBCC0}" type="datetimeFigureOut">
              <a:rPr lang="tr-TR"/>
              <a:pPr>
                <a:defRPr/>
              </a:pPr>
              <a:t>8.07.2019</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tr-TR" noProof="0" smtClean="0"/>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noProof="0" smtClean="0"/>
              <a:t>Asıl metin stillerini düzenlemek için tıklatın</a:t>
            </a:r>
          </a:p>
          <a:p>
            <a:pPr lvl="1"/>
            <a:r>
              <a:rPr lang="tr-TR" noProof="0" smtClean="0"/>
              <a:t>İkinci düzey</a:t>
            </a:r>
          </a:p>
          <a:p>
            <a:pPr lvl="2"/>
            <a:r>
              <a:rPr lang="tr-TR" noProof="0" smtClean="0"/>
              <a:t>Üçüncü düzey</a:t>
            </a:r>
          </a:p>
          <a:p>
            <a:pPr lvl="3"/>
            <a:r>
              <a:rPr lang="tr-TR" noProof="0" smtClean="0"/>
              <a:t>Dördüncü düzey</a:t>
            </a:r>
          </a:p>
          <a:p>
            <a:pPr lvl="4"/>
            <a:r>
              <a:rPr lang="tr-TR" noProof="0" smtClean="0"/>
              <a:t>Beşinci düzey</a:t>
            </a: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9488295E-D0AE-43B7-8C08-CC83C1374815}" type="slidenum">
              <a:rPr lang="tr-TR" altLang="tr-TR"/>
              <a:pPr/>
              <a:t>‹#›</a:t>
            </a:fld>
            <a:endParaRPr lang="tr-TR" altLang="tr-T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ayt Görüntüsü Yer Tutucusu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 Yer Tutucusu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tr-TR" altLang="tr-TR" smtClean="0"/>
          </a:p>
        </p:txBody>
      </p:sp>
      <p:sp>
        <p:nvSpPr>
          <p:cNvPr id="49156" name="Slayt Numarası Yer Tutucusu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9FB54A96-AF6A-4437-9AC4-E82ED2C73A26}" type="slidenum">
              <a:rPr lang="tr-TR" altLang="tr-TR" sz="1200"/>
              <a:pPr eaLnBrk="1" hangingPunct="1"/>
              <a:t>8</a:t>
            </a:fld>
            <a:endParaRPr lang="tr-TR" altLang="tr-TR" sz="120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grpSp>
        <p:nvGrpSpPr>
          <p:cNvPr id="4" name="Group 2050"/>
          <p:cNvGrpSpPr>
            <a:grpSpLocks/>
          </p:cNvGrpSpPr>
          <p:nvPr/>
        </p:nvGrpSpPr>
        <p:grpSpPr bwMode="auto">
          <a:xfrm>
            <a:off x="-31750" y="0"/>
            <a:ext cx="9178925" cy="6924675"/>
            <a:chOff x="-20" y="0"/>
            <a:chExt cx="5782" cy="4362"/>
          </a:xfrm>
        </p:grpSpPr>
        <p:sp>
          <p:nvSpPr>
            <p:cNvPr id="5" name="Rectangle 2051" descr="Stonbk"/>
            <p:cNvSpPr>
              <a:spLocks noChangeArrowheads="1"/>
            </p:cNvSpPr>
            <p:nvPr userDrawn="1"/>
          </p:nvSpPr>
          <p:spPr bwMode="white">
            <a:xfrm>
              <a:off x="-15" y="5"/>
              <a:ext cx="5775" cy="4311"/>
            </a:xfrm>
            <a:prstGeom prst="rect">
              <a:avLst/>
            </a:prstGeom>
            <a:blipFill dpi="0" rotWithShape="0">
              <a:blip r:embed="rId2" cstate="print"/>
              <a:srcRect/>
              <a:tile tx="0" ty="0" sx="100000" sy="100000" flip="none" algn="tl"/>
            </a:blipFill>
            <a:ln w="9525">
              <a:noFill/>
              <a:miter lim="800000"/>
              <a:headEnd/>
              <a:tailEnd/>
            </a:ln>
            <a:effectLst/>
          </p:spPr>
          <p:txBody>
            <a:bodyPr wrap="none" anchor="ctr"/>
            <a:lstStyle/>
            <a:p>
              <a:pPr>
                <a:defRPr/>
              </a:pPr>
              <a:endParaRPr lang="tr-TR">
                <a:latin typeface="Arial" charset="0"/>
              </a:endParaRPr>
            </a:p>
          </p:txBody>
        </p:sp>
        <p:sp>
          <p:nvSpPr>
            <p:cNvPr id="6" name="Rectangle 2052"/>
            <p:cNvSpPr>
              <a:spLocks noChangeArrowheads="1"/>
            </p:cNvSpPr>
            <p:nvPr userDrawn="1"/>
          </p:nvSpPr>
          <p:spPr bwMode="ltGray">
            <a:xfrm>
              <a:off x="0" y="0"/>
              <a:ext cx="743" cy="4334"/>
            </a:xfrm>
            <a:prstGeom prst="rect">
              <a:avLst/>
            </a:prstGeom>
            <a:gradFill rotWithShape="0">
              <a:gsLst>
                <a:gs pos="0">
                  <a:schemeClr val="folHlink"/>
                </a:gs>
                <a:gs pos="50000">
                  <a:schemeClr val="folHlink">
                    <a:gamma/>
                    <a:shade val="46275"/>
                    <a:invGamma/>
                  </a:schemeClr>
                </a:gs>
                <a:gs pos="100000">
                  <a:schemeClr val="folHlink"/>
                </a:gs>
              </a:gsLst>
              <a:lin ang="5400000" scaled="1"/>
            </a:gradFill>
            <a:ln>
              <a:noFill/>
            </a:ln>
            <a:effectLst/>
            <a:extLst/>
          </p:spPr>
          <p:txBody>
            <a:bodyPr wrap="none" anchor="ctr"/>
            <a:lstStyle/>
            <a:p>
              <a:pPr>
                <a:defRPr/>
              </a:pPr>
              <a:endParaRPr lang="tr-TR">
                <a:latin typeface="Arial" charset="0"/>
              </a:endParaRPr>
            </a:p>
          </p:txBody>
        </p:sp>
        <p:sp>
          <p:nvSpPr>
            <p:cNvPr id="7" name="Rectangle 2053"/>
            <p:cNvSpPr>
              <a:spLocks noChangeArrowheads="1"/>
            </p:cNvSpPr>
            <p:nvPr userDrawn="1"/>
          </p:nvSpPr>
          <p:spPr bwMode="hidden">
            <a:xfrm>
              <a:off x="695" y="0"/>
              <a:ext cx="50" cy="4362"/>
            </a:xfrm>
            <a:prstGeom prst="rect">
              <a:avLst/>
            </a:prstGeom>
            <a:solidFill>
              <a:srgbClr val="000000"/>
            </a:solidFill>
            <a:ln w="9525">
              <a:noFill/>
              <a:miter lim="800000"/>
              <a:headEnd/>
              <a:tailEnd/>
            </a:ln>
            <a:effectLst/>
          </p:spPr>
          <p:txBody>
            <a:bodyPr wrap="none" anchor="ctr"/>
            <a:lstStyle/>
            <a:p>
              <a:pPr>
                <a:defRPr/>
              </a:pPr>
              <a:endParaRPr lang="tr-TR">
                <a:latin typeface="Arial" charset="0"/>
              </a:endParaRPr>
            </a:p>
          </p:txBody>
        </p:sp>
        <p:pic>
          <p:nvPicPr>
            <p:cNvPr id="8" name="Picture 2054" descr="C:\My Documents\bits\Astonbnr.GIF"/>
            <p:cNvPicPr>
              <a:picLocks noChangeAspect="1" noChangeArrowheads="1"/>
            </p:cNvPicPr>
            <p:nvPr userDrawn="1"/>
          </p:nvPicPr>
          <p:blipFill>
            <a:blip r:embed="rId3">
              <a:extLst>
                <a:ext uri="{28A0092B-C50C-407E-A947-70E740481C1C}">
                  <a14:useLocalDpi xmlns:a14="http://schemas.microsoft.com/office/drawing/2010/main" val="0"/>
                </a:ext>
              </a:extLst>
            </a:blip>
            <a:srcRect t="15163"/>
            <a:stretch>
              <a:fillRect/>
            </a:stretch>
          </p:blipFill>
          <p:spPr bwMode="gray">
            <a:xfrm>
              <a:off x="0" y="1705"/>
              <a:ext cx="5760" cy="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055"/>
            <p:cNvSpPr>
              <a:spLocks noChangeArrowheads="1"/>
            </p:cNvSpPr>
            <p:nvPr userDrawn="1"/>
          </p:nvSpPr>
          <p:spPr bwMode="hidden">
            <a:xfrm rot="5400000">
              <a:off x="3204" y="-396"/>
              <a:ext cx="47" cy="5065"/>
            </a:xfrm>
            <a:prstGeom prst="rect">
              <a:avLst/>
            </a:prstGeom>
            <a:solidFill>
              <a:srgbClr val="000000"/>
            </a:solidFill>
            <a:ln w="9525">
              <a:noFill/>
              <a:miter lim="800000"/>
              <a:headEnd/>
              <a:tailEnd/>
            </a:ln>
            <a:effectLst/>
          </p:spPr>
          <p:txBody>
            <a:bodyPr wrap="none" anchor="ctr"/>
            <a:lstStyle/>
            <a:p>
              <a:pPr>
                <a:defRPr/>
              </a:pPr>
              <a:endParaRPr lang="tr-TR">
                <a:latin typeface="Arial" charset="0"/>
              </a:endParaRPr>
            </a:p>
          </p:txBody>
        </p:sp>
        <p:sp>
          <p:nvSpPr>
            <p:cNvPr id="10" name="Rectangle 2056"/>
            <p:cNvSpPr>
              <a:spLocks noChangeArrowheads="1"/>
            </p:cNvSpPr>
            <p:nvPr userDrawn="1"/>
          </p:nvSpPr>
          <p:spPr bwMode="hidden">
            <a:xfrm rot="5400000">
              <a:off x="3204" y="-852"/>
              <a:ext cx="47" cy="5068"/>
            </a:xfrm>
            <a:prstGeom prst="rect">
              <a:avLst/>
            </a:prstGeom>
            <a:solidFill>
              <a:srgbClr val="000000"/>
            </a:solidFill>
            <a:ln w="9525">
              <a:noFill/>
              <a:miter lim="800000"/>
              <a:headEnd/>
              <a:tailEnd/>
            </a:ln>
            <a:effectLst/>
          </p:spPr>
          <p:txBody>
            <a:bodyPr wrap="none" anchor="ctr"/>
            <a:lstStyle/>
            <a:p>
              <a:pPr>
                <a:defRPr/>
              </a:pPr>
              <a:endParaRPr lang="tr-TR">
                <a:latin typeface="Arial" charset="0"/>
              </a:endParaRPr>
            </a:p>
          </p:txBody>
        </p:sp>
        <p:sp>
          <p:nvSpPr>
            <p:cNvPr id="11" name="Rectangle 2057"/>
            <p:cNvSpPr>
              <a:spLocks noChangeArrowheads="1"/>
            </p:cNvSpPr>
            <p:nvPr userDrawn="1"/>
          </p:nvSpPr>
          <p:spPr bwMode="hidden">
            <a:xfrm>
              <a:off x="-20" y="0"/>
              <a:ext cx="47" cy="4342"/>
            </a:xfrm>
            <a:prstGeom prst="rect">
              <a:avLst/>
            </a:prstGeom>
            <a:solidFill>
              <a:srgbClr val="000000"/>
            </a:solidFill>
            <a:ln w="9525">
              <a:noFill/>
              <a:miter lim="800000"/>
              <a:headEnd/>
              <a:tailEnd/>
            </a:ln>
            <a:effectLst/>
          </p:spPr>
          <p:txBody>
            <a:bodyPr wrap="none" anchor="ctr"/>
            <a:lstStyle/>
            <a:p>
              <a:pPr>
                <a:defRPr/>
              </a:pPr>
              <a:endParaRPr lang="tr-TR">
                <a:latin typeface="Arial" charset="0"/>
              </a:endParaRPr>
            </a:p>
          </p:txBody>
        </p:sp>
        <p:sp>
          <p:nvSpPr>
            <p:cNvPr id="12" name="Line 2058"/>
            <p:cNvSpPr>
              <a:spLocks noChangeShapeType="1"/>
            </p:cNvSpPr>
            <p:nvPr userDrawn="1"/>
          </p:nvSpPr>
          <p:spPr bwMode="auto">
            <a:xfrm>
              <a:off x="414" y="2118"/>
              <a:ext cx="281" cy="0"/>
            </a:xfrm>
            <a:prstGeom prst="line">
              <a:avLst/>
            </a:prstGeom>
            <a:noFill/>
            <a:ln w="15875">
              <a:solidFill>
                <a:schemeClr val="tx1"/>
              </a:solidFill>
              <a:round/>
              <a:headEnd/>
              <a:tailEnd/>
            </a:ln>
            <a:effectLst/>
          </p:spPr>
          <p:txBody>
            <a:bodyPr wrap="none" anchor="ctr"/>
            <a:lstStyle/>
            <a:p>
              <a:pPr>
                <a:defRPr/>
              </a:pPr>
              <a:endParaRPr lang="tr-TR">
                <a:latin typeface="Arial" charset="0"/>
              </a:endParaRPr>
            </a:p>
          </p:txBody>
        </p:sp>
        <p:sp>
          <p:nvSpPr>
            <p:cNvPr id="13" name="Line 2059"/>
            <p:cNvSpPr>
              <a:spLocks noChangeShapeType="1"/>
            </p:cNvSpPr>
            <p:nvPr userDrawn="1"/>
          </p:nvSpPr>
          <p:spPr bwMode="auto">
            <a:xfrm flipV="1">
              <a:off x="27" y="2116"/>
              <a:ext cx="230" cy="1"/>
            </a:xfrm>
            <a:prstGeom prst="line">
              <a:avLst/>
            </a:prstGeom>
            <a:noFill/>
            <a:ln w="15875">
              <a:solidFill>
                <a:schemeClr val="tx1"/>
              </a:solidFill>
              <a:round/>
              <a:headEnd/>
              <a:tailEnd/>
            </a:ln>
            <a:effectLst/>
          </p:spPr>
          <p:txBody>
            <a:bodyPr wrap="none" anchor="ctr"/>
            <a:lstStyle/>
            <a:p>
              <a:pPr>
                <a:defRPr/>
              </a:pPr>
              <a:endParaRPr lang="tr-TR">
                <a:latin typeface="Arial" charset="0"/>
              </a:endParaRPr>
            </a:p>
          </p:txBody>
        </p:sp>
        <p:sp>
          <p:nvSpPr>
            <p:cNvPr id="14" name="Freeform 2060"/>
            <p:cNvSpPr>
              <a:spLocks/>
            </p:cNvSpPr>
            <p:nvPr userDrawn="1"/>
          </p:nvSpPr>
          <p:spPr bwMode="auto">
            <a:xfrm>
              <a:off x="255" y="2115"/>
              <a:ext cx="65" cy="86"/>
            </a:xfrm>
            <a:custGeom>
              <a:avLst/>
              <a:gdLst>
                <a:gd name="T0" fmla="*/ 0 w 65"/>
                <a:gd name="T1" fmla="*/ 0 h 86"/>
                <a:gd name="T2" fmla="*/ 15 w 65"/>
                <a:gd name="T3" fmla="*/ 12 h 86"/>
                <a:gd name="T4" fmla="*/ 27 w 65"/>
                <a:gd name="T5" fmla="*/ 23 h 86"/>
                <a:gd name="T6" fmla="*/ 36 w 65"/>
                <a:gd name="T7" fmla="*/ 35 h 86"/>
                <a:gd name="T8" fmla="*/ 47 w 65"/>
                <a:gd name="T9" fmla="*/ 45 h 86"/>
                <a:gd name="T10" fmla="*/ 56 w 65"/>
                <a:gd name="T11" fmla="*/ 66 h 86"/>
                <a:gd name="T12" fmla="*/ 63 w 65"/>
                <a:gd name="T13" fmla="*/ 80 h 86"/>
                <a:gd name="T14" fmla="*/ 65 w 65"/>
                <a:gd name="T15" fmla="*/ 86 h 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65" h="86">
                  <a:moveTo>
                    <a:pt x="0" y="0"/>
                  </a:moveTo>
                  <a:cubicBezTo>
                    <a:pt x="9" y="4"/>
                    <a:pt x="6" y="10"/>
                    <a:pt x="15" y="12"/>
                  </a:cubicBezTo>
                  <a:cubicBezTo>
                    <a:pt x="18" y="20"/>
                    <a:pt x="19" y="20"/>
                    <a:pt x="27" y="23"/>
                  </a:cubicBezTo>
                  <a:cubicBezTo>
                    <a:pt x="29" y="29"/>
                    <a:pt x="30" y="32"/>
                    <a:pt x="36" y="35"/>
                  </a:cubicBezTo>
                  <a:cubicBezTo>
                    <a:pt x="40" y="40"/>
                    <a:pt x="43" y="40"/>
                    <a:pt x="47" y="45"/>
                  </a:cubicBezTo>
                  <a:cubicBezTo>
                    <a:pt x="49" y="71"/>
                    <a:pt x="49" y="52"/>
                    <a:pt x="56" y="66"/>
                  </a:cubicBezTo>
                  <a:cubicBezTo>
                    <a:pt x="57" y="74"/>
                    <a:pt x="56" y="77"/>
                    <a:pt x="63" y="80"/>
                  </a:cubicBezTo>
                  <a:cubicBezTo>
                    <a:pt x="65" y="85"/>
                    <a:pt x="65" y="83"/>
                    <a:pt x="65" y="86"/>
                  </a:cubicBezTo>
                </a:path>
              </a:pathLst>
            </a:custGeom>
            <a:noFill/>
            <a:ln w="9525">
              <a:solidFill>
                <a:schemeClr val="tx1"/>
              </a:solidFill>
              <a:round/>
              <a:headEnd/>
              <a:tailEnd/>
            </a:ln>
            <a:effectLst/>
          </p:spPr>
          <p:txBody>
            <a:bodyPr wrap="none" anchor="ctr"/>
            <a:lstStyle/>
            <a:p>
              <a:pPr>
                <a:defRPr/>
              </a:pPr>
              <a:endParaRPr lang="tr-TR">
                <a:latin typeface="Arial" charset="0"/>
              </a:endParaRPr>
            </a:p>
          </p:txBody>
        </p:sp>
        <p:sp>
          <p:nvSpPr>
            <p:cNvPr id="15" name="Freeform 2061"/>
            <p:cNvSpPr>
              <a:spLocks/>
            </p:cNvSpPr>
            <p:nvPr userDrawn="1"/>
          </p:nvSpPr>
          <p:spPr bwMode="auto">
            <a:xfrm>
              <a:off x="344" y="2118"/>
              <a:ext cx="71" cy="84"/>
            </a:xfrm>
            <a:custGeom>
              <a:avLst/>
              <a:gdLst>
                <a:gd name="T0" fmla="*/ 69 w 71"/>
                <a:gd name="T1" fmla="*/ 0 h 84"/>
                <a:gd name="T2" fmla="*/ 61 w 71"/>
                <a:gd name="T3" fmla="*/ 27 h 84"/>
                <a:gd name="T4" fmla="*/ 52 w 71"/>
                <a:gd name="T5" fmla="*/ 57 h 84"/>
                <a:gd name="T6" fmla="*/ 46 w 71"/>
                <a:gd name="T7" fmla="*/ 72 h 84"/>
                <a:gd name="T8" fmla="*/ 33 w 71"/>
                <a:gd name="T9" fmla="*/ 63 h 84"/>
                <a:gd name="T10" fmla="*/ 25 w 71"/>
                <a:gd name="T11" fmla="*/ 51 h 84"/>
                <a:gd name="T12" fmla="*/ 10 w 71"/>
                <a:gd name="T13" fmla="*/ 39 h 84"/>
                <a:gd name="T14" fmla="*/ 4 w 71"/>
                <a:gd name="T15" fmla="*/ 77 h 84"/>
                <a:gd name="T16" fmla="*/ 1 w 71"/>
                <a:gd name="T17" fmla="*/ 84 h 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1" h="84">
                  <a:moveTo>
                    <a:pt x="69" y="0"/>
                  </a:moveTo>
                  <a:cubicBezTo>
                    <a:pt x="65" y="10"/>
                    <a:pt x="71" y="21"/>
                    <a:pt x="61" y="27"/>
                  </a:cubicBezTo>
                  <a:cubicBezTo>
                    <a:pt x="59" y="37"/>
                    <a:pt x="62" y="55"/>
                    <a:pt x="52" y="57"/>
                  </a:cubicBezTo>
                  <a:cubicBezTo>
                    <a:pt x="49" y="62"/>
                    <a:pt x="49" y="67"/>
                    <a:pt x="46" y="72"/>
                  </a:cubicBezTo>
                  <a:cubicBezTo>
                    <a:pt x="38" y="71"/>
                    <a:pt x="39" y="67"/>
                    <a:pt x="33" y="63"/>
                  </a:cubicBezTo>
                  <a:cubicBezTo>
                    <a:pt x="30" y="58"/>
                    <a:pt x="27" y="56"/>
                    <a:pt x="25" y="51"/>
                  </a:cubicBezTo>
                  <a:cubicBezTo>
                    <a:pt x="23" y="38"/>
                    <a:pt x="25" y="38"/>
                    <a:pt x="10" y="39"/>
                  </a:cubicBezTo>
                  <a:cubicBezTo>
                    <a:pt x="8" y="51"/>
                    <a:pt x="18" y="72"/>
                    <a:pt x="4" y="77"/>
                  </a:cubicBezTo>
                  <a:cubicBezTo>
                    <a:pt x="0" y="82"/>
                    <a:pt x="1" y="79"/>
                    <a:pt x="1" y="84"/>
                  </a:cubicBezTo>
                </a:path>
              </a:pathLst>
            </a:custGeom>
            <a:noFill/>
            <a:ln w="9525">
              <a:solidFill>
                <a:schemeClr val="tx1"/>
              </a:solidFill>
              <a:round/>
              <a:headEnd/>
              <a:tailEnd/>
            </a:ln>
            <a:effectLst/>
          </p:spPr>
          <p:txBody>
            <a:bodyPr wrap="none" anchor="ctr"/>
            <a:lstStyle/>
            <a:p>
              <a:pPr>
                <a:defRPr/>
              </a:pPr>
              <a:endParaRPr lang="tr-TR">
                <a:latin typeface="Arial" charset="0"/>
              </a:endParaRPr>
            </a:p>
          </p:txBody>
        </p:sp>
      </p:grpSp>
      <p:sp>
        <p:nvSpPr>
          <p:cNvPr id="21518" name="Rectangle 2062"/>
          <p:cNvSpPr>
            <a:spLocks noGrp="1" noChangeArrowheads="1"/>
          </p:cNvSpPr>
          <p:nvPr>
            <p:ph type="ctrTitle"/>
          </p:nvPr>
        </p:nvSpPr>
        <p:spPr>
          <a:xfrm>
            <a:off x="1244600" y="1247775"/>
            <a:ext cx="7772400" cy="1143000"/>
          </a:xfrm>
        </p:spPr>
        <p:txBody>
          <a:bodyPr anchor="b"/>
          <a:lstStyle>
            <a:lvl1pPr algn="ctr">
              <a:defRPr/>
            </a:lvl1pPr>
          </a:lstStyle>
          <a:p>
            <a:pPr lvl="0"/>
            <a:r>
              <a:rPr lang="tr-TR" noProof="0" smtClean="0"/>
              <a:t>Asıl başlık stili için tıklatın</a:t>
            </a:r>
          </a:p>
        </p:txBody>
      </p:sp>
      <p:sp>
        <p:nvSpPr>
          <p:cNvPr id="21519" name="Rectangle 2063"/>
          <p:cNvSpPr>
            <a:spLocks noGrp="1" noChangeArrowheads="1"/>
          </p:cNvSpPr>
          <p:nvPr>
            <p:ph type="subTitle" idx="1"/>
          </p:nvPr>
        </p:nvSpPr>
        <p:spPr>
          <a:xfrm>
            <a:off x="1930400" y="3886200"/>
            <a:ext cx="6400800" cy="1752600"/>
          </a:xfrm>
        </p:spPr>
        <p:txBody>
          <a:bodyPr/>
          <a:lstStyle>
            <a:lvl1pPr marL="0" indent="0" algn="ctr">
              <a:buFont typeface="Wingdings" pitchFamily="2" charset="2"/>
              <a:buNone/>
              <a:defRPr/>
            </a:lvl1pPr>
          </a:lstStyle>
          <a:p>
            <a:pPr lvl="0"/>
            <a:r>
              <a:rPr lang="tr-TR" noProof="0" smtClean="0"/>
              <a:t>Asıl alt başlık stilini düzenlemek için tıklatın</a:t>
            </a:r>
          </a:p>
        </p:txBody>
      </p:sp>
      <p:sp>
        <p:nvSpPr>
          <p:cNvPr id="16" name="Rectangle 2064"/>
          <p:cNvSpPr>
            <a:spLocks noGrp="1" noChangeArrowheads="1"/>
          </p:cNvSpPr>
          <p:nvPr>
            <p:ph type="dt" sz="half" idx="10"/>
          </p:nvPr>
        </p:nvSpPr>
        <p:spPr>
          <a:xfrm>
            <a:off x="1262063" y="6248400"/>
            <a:ext cx="1905000" cy="457200"/>
          </a:xfrm>
        </p:spPr>
        <p:txBody>
          <a:bodyPr/>
          <a:lstStyle>
            <a:lvl1pPr>
              <a:defRPr/>
            </a:lvl1pPr>
          </a:lstStyle>
          <a:p>
            <a:pPr>
              <a:defRPr/>
            </a:pPr>
            <a:endParaRPr lang="tr-TR"/>
          </a:p>
        </p:txBody>
      </p:sp>
      <p:sp>
        <p:nvSpPr>
          <p:cNvPr id="17" name="Rectangle 2065"/>
          <p:cNvSpPr>
            <a:spLocks noGrp="1" noChangeArrowheads="1"/>
          </p:cNvSpPr>
          <p:nvPr>
            <p:ph type="ftr" sz="quarter" idx="11"/>
          </p:nvPr>
        </p:nvSpPr>
        <p:spPr>
          <a:xfrm>
            <a:off x="3700463" y="6248400"/>
            <a:ext cx="2895600" cy="457200"/>
          </a:xfrm>
        </p:spPr>
        <p:txBody>
          <a:bodyPr/>
          <a:lstStyle>
            <a:lvl1pPr>
              <a:defRPr/>
            </a:lvl1pPr>
          </a:lstStyle>
          <a:p>
            <a:pPr>
              <a:defRPr/>
            </a:pPr>
            <a:endParaRPr lang="tr-TR"/>
          </a:p>
        </p:txBody>
      </p:sp>
      <p:sp>
        <p:nvSpPr>
          <p:cNvPr id="18" name="Rectangle 2066"/>
          <p:cNvSpPr>
            <a:spLocks noGrp="1" noChangeArrowheads="1"/>
          </p:cNvSpPr>
          <p:nvPr>
            <p:ph type="sldNum" sz="quarter" idx="12"/>
          </p:nvPr>
        </p:nvSpPr>
        <p:spPr>
          <a:xfrm>
            <a:off x="7129463" y="6248400"/>
            <a:ext cx="1905000" cy="457200"/>
          </a:xfrm>
        </p:spPr>
        <p:txBody>
          <a:bodyPr/>
          <a:lstStyle>
            <a:lvl1pPr>
              <a:defRPr/>
            </a:lvl1pPr>
          </a:lstStyle>
          <a:p>
            <a:fld id="{F9F31830-B45A-4131-BE81-E10D5C66CC4D}" type="slidenum">
              <a:rPr lang="tr-TR" altLang="tr-TR"/>
              <a:pPr/>
              <a:t>‹#›</a:t>
            </a:fld>
            <a:endParaRPr lang="tr-TR" altLang="tr-TR"/>
          </a:p>
        </p:txBody>
      </p:sp>
    </p:spTree>
    <p:extLst>
      <p:ext uri="{BB962C8B-B14F-4D97-AF65-F5344CB8AC3E}">
        <p14:creationId xmlns:p14="http://schemas.microsoft.com/office/powerpoint/2010/main" val="2389264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Rectangle 13"/>
          <p:cNvSpPr>
            <a:spLocks noGrp="1" noChangeArrowheads="1"/>
          </p:cNvSpPr>
          <p:nvPr>
            <p:ph type="dt" sz="half" idx="10"/>
          </p:nvPr>
        </p:nvSpPr>
        <p:spPr>
          <a:ln/>
        </p:spPr>
        <p:txBody>
          <a:bodyPr/>
          <a:lstStyle>
            <a:lvl1pPr>
              <a:defRPr/>
            </a:lvl1pPr>
          </a:lstStyle>
          <a:p>
            <a:pPr>
              <a:defRPr/>
            </a:pPr>
            <a:endParaRPr lang="tr-TR"/>
          </a:p>
        </p:txBody>
      </p:sp>
      <p:sp>
        <p:nvSpPr>
          <p:cNvPr id="5" name="Rectangle 14"/>
          <p:cNvSpPr>
            <a:spLocks noGrp="1" noChangeArrowheads="1"/>
          </p:cNvSpPr>
          <p:nvPr>
            <p:ph type="ftr" sz="quarter" idx="11"/>
          </p:nvPr>
        </p:nvSpPr>
        <p:spPr>
          <a:ln/>
        </p:spPr>
        <p:txBody>
          <a:bodyPr/>
          <a:lstStyle>
            <a:lvl1pPr>
              <a:defRPr/>
            </a:lvl1pPr>
          </a:lstStyle>
          <a:p>
            <a:pPr>
              <a:defRPr/>
            </a:pPr>
            <a:endParaRPr lang="tr-TR"/>
          </a:p>
        </p:txBody>
      </p:sp>
      <p:sp>
        <p:nvSpPr>
          <p:cNvPr id="6" name="Rectangle 15"/>
          <p:cNvSpPr>
            <a:spLocks noGrp="1" noChangeArrowheads="1"/>
          </p:cNvSpPr>
          <p:nvPr>
            <p:ph type="sldNum" sz="quarter" idx="12"/>
          </p:nvPr>
        </p:nvSpPr>
        <p:spPr>
          <a:ln/>
        </p:spPr>
        <p:txBody>
          <a:bodyPr/>
          <a:lstStyle>
            <a:lvl1pPr>
              <a:defRPr/>
            </a:lvl1pPr>
          </a:lstStyle>
          <a:p>
            <a:fld id="{CED1B556-FA90-44C3-8536-68D492A3AB98}" type="slidenum">
              <a:rPr lang="tr-TR" altLang="tr-TR"/>
              <a:pPr/>
              <a:t>‹#›</a:t>
            </a:fld>
            <a:endParaRPr lang="tr-TR" altLang="tr-TR"/>
          </a:p>
        </p:txBody>
      </p:sp>
    </p:spTree>
    <p:extLst>
      <p:ext uri="{BB962C8B-B14F-4D97-AF65-F5344CB8AC3E}">
        <p14:creationId xmlns:p14="http://schemas.microsoft.com/office/powerpoint/2010/main" val="2234011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smtClean="0"/>
              <a:t>Asıl metin stillerini düzenlemek için tıklatın</a:t>
            </a:r>
          </a:p>
        </p:txBody>
      </p:sp>
      <p:sp>
        <p:nvSpPr>
          <p:cNvPr id="4" name="Rectangle 13"/>
          <p:cNvSpPr>
            <a:spLocks noGrp="1" noChangeArrowheads="1"/>
          </p:cNvSpPr>
          <p:nvPr>
            <p:ph type="dt" sz="half" idx="10"/>
          </p:nvPr>
        </p:nvSpPr>
        <p:spPr>
          <a:ln/>
        </p:spPr>
        <p:txBody>
          <a:bodyPr/>
          <a:lstStyle>
            <a:lvl1pPr>
              <a:defRPr/>
            </a:lvl1pPr>
          </a:lstStyle>
          <a:p>
            <a:pPr>
              <a:defRPr/>
            </a:pPr>
            <a:endParaRPr lang="tr-TR"/>
          </a:p>
        </p:txBody>
      </p:sp>
      <p:sp>
        <p:nvSpPr>
          <p:cNvPr id="5" name="Rectangle 14"/>
          <p:cNvSpPr>
            <a:spLocks noGrp="1" noChangeArrowheads="1"/>
          </p:cNvSpPr>
          <p:nvPr>
            <p:ph type="ftr" sz="quarter" idx="11"/>
          </p:nvPr>
        </p:nvSpPr>
        <p:spPr>
          <a:ln/>
        </p:spPr>
        <p:txBody>
          <a:bodyPr/>
          <a:lstStyle>
            <a:lvl1pPr>
              <a:defRPr/>
            </a:lvl1pPr>
          </a:lstStyle>
          <a:p>
            <a:pPr>
              <a:defRPr/>
            </a:pPr>
            <a:endParaRPr lang="tr-TR"/>
          </a:p>
        </p:txBody>
      </p:sp>
      <p:sp>
        <p:nvSpPr>
          <p:cNvPr id="6" name="Rectangle 15"/>
          <p:cNvSpPr>
            <a:spLocks noGrp="1" noChangeArrowheads="1"/>
          </p:cNvSpPr>
          <p:nvPr>
            <p:ph type="sldNum" sz="quarter" idx="12"/>
          </p:nvPr>
        </p:nvSpPr>
        <p:spPr>
          <a:ln/>
        </p:spPr>
        <p:txBody>
          <a:bodyPr/>
          <a:lstStyle>
            <a:lvl1pPr>
              <a:defRPr/>
            </a:lvl1pPr>
          </a:lstStyle>
          <a:p>
            <a:fld id="{138D4E2D-A60E-4E57-99F2-B2C29E8519D6}" type="slidenum">
              <a:rPr lang="tr-TR" altLang="tr-TR"/>
              <a:pPr/>
              <a:t>‹#›</a:t>
            </a:fld>
            <a:endParaRPr lang="tr-TR" altLang="tr-TR"/>
          </a:p>
        </p:txBody>
      </p:sp>
    </p:spTree>
    <p:extLst>
      <p:ext uri="{BB962C8B-B14F-4D97-AF65-F5344CB8AC3E}">
        <p14:creationId xmlns:p14="http://schemas.microsoft.com/office/powerpoint/2010/main" val="3761938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12573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52197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Rectangle 13"/>
          <p:cNvSpPr>
            <a:spLocks noGrp="1" noChangeArrowheads="1"/>
          </p:cNvSpPr>
          <p:nvPr>
            <p:ph type="dt" sz="half" idx="10"/>
          </p:nvPr>
        </p:nvSpPr>
        <p:spPr>
          <a:ln/>
        </p:spPr>
        <p:txBody>
          <a:bodyPr/>
          <a:lstStyle>
            <a:lvl1pPr>
              <a:defRPr/>
            </a:lvl1pPr>
          </a:lstStyle>
          <a:p>
            <a:pPr>
              <a:defRPr/>
            </a:pPr>
            <a:endParaRPr lang="tr-TR"/>
          </a:p>
        </p:txBody>
      </p:sp>
      <p:sp>
        <p:nvSpPr>
          <p:cNvPr id="6" name="Rectangle 14"/>
          <p:cNvSpPr>
            <a:spLocks noGrp="1" noChangeArrowheads="1"/>
          </p:cNvSpPr>
          <p:nvPr>
            <p:ph type="ftr" sz="quarter" idx="11"/>
          </p:nvPr>
        </p:nvSpPr>
        <p:spPr>
          <a:ln/>
        </p:spPr>
        <p:txBody>
          <a:bodyPr/>
          <a:lstStyle>
            <a:lvl1pPr>
              <a:defRPr/>
            </a:lvl1pPr>
          </a:lstStyle>
          <a:p>
            <a:pPr>
              <a:defRPr/>
            </a:pPr>
            <a:endParaRPr lang="tr-TR"/>
          </a:p>
        </p:txBody>
      </p:sp>
      <p:sp>
        <p:nvSpPr>
          <p:cNvPr id="7" name="Rectangle 15"/>
          <p:cNvSpPr>
            <a:spLocks noGrp="1" noChangeArrowheads="1"/>
          </p:cNvSpPr>
          <p:nvPr>
            <p:ph type="sldNum" sz="quarter" idx="12"/>
          </p:nvPr>
        </p:nvSpPr>
        <p:spPr>
          <a:ln/>
        </p:spPr>
        <p:txBody>
          <a:bodyPr/>
          <a:lstStyle>
            <a:lvl1pPr>
              <a:defRPr/>
            </a:lvl1pPr>
          </a:lstStyle>
          <a:p>
            <a:fld id="{7AB43BD0-B25F-4F90-882D-85972E694495}" type="slidenum">
              <a:rPr lang="tr-TR" altLang="tr-TR"/>
              <a:pPr/>
              <a:t>‹#›</a:t>
            </a:fld>
            <a:endParaRPr lang="tr-TR" altLang="tr-TR"/>
          </a:p>
        </p:txBody>
      </p:sp>
    </p:spTree>
    <p:extLst>
      <p:ext uri="{BB962C8B-B14F-4D97-AF65-F5344CB8AC3E}">
        <p14:creationId xmlns:p14="http://schemas.microsoft.com/office/powerpoint/2010/main" val="3950297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4638"/>
            <a:ext cx="8229600" cy="1143000"/>
          </a:xfrm>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Rectangle 13"/>
          <p:cNvSpPr>
            <a:spLocks noGrp="1" noChangeArrowheads="1"/>
          </p:cNvSpPr>
          <p:nvPr>
            <p:ph type="dt" sz="half" idx="10"/>
          </p:nvPr>
        </p:nvSpPr>
        <p:spPr>
          <a:ln/>
        </p:spPr>
        <p:txBody>
          <a:bodyPr/>
          <a:lstStyle>
            <a:lvl1pPr>
              <a:defRPr/>
            </a:lvl1pPr>
          </a:lstStyle>
          <a:p>
            <a:pPr>
              <a:defRPr/>
            </a:pPr>
            <a:endParaRPr lang="tr-TR"/>
          </a:p>
        </p:txBody>
      </p:sp>
      <p:sp>
        <p:nvSpPr>
          <p:cNvPr id="8" name="Rectangle 14"/>
          <p:cNvSpPr>
            <a:spLocks noGrp="1" noChangeArrowheads="1"/>
          </p:cNvSpPr>
          <p:nvPr>
            <p:ph type="ftr" sz="quarter" idx="11"/>
          </p:nvPr>
        </p:nvSpPr>
        <p:spPr>
          <a:ln/>
        </p:spPr>
        <p:txBody>
          <a:bodyPr/>
          <a:lstStyle>
            <a:lvl1pPr>
              <a:defRPr/>
            </a:lvl1pPr>
          </a:lstStyle>
          <a:p>
            <a:pPr>
              <a:defRPr/>
            </a:pPr>
            <a:endParaRPr lang="tr-TR"/>
          </a:p>
        </p:txBody>
      </p:sp>
      <p:sp>
        <p:nvSpPr>
          <p:cNvPr id="9" name="Rectangle 15"/>
          <p:cNvSpPr>
            <a:spLocks noGrp="1" noChangeArrowheads="1"/>
          </p:cNvSpPr>
          <p:nvPr>
            <p:ph type="sldNum" sz="quarter" idx="12"/>
          </p:nvPr>
        </p:nvSpPr>
        <p:spPr>
          <a:ln/>
        </p:spPr>
        <p:txBody>
          <a:bodyPr/>
          <a:lstStyle>
            <a:lvl1pPr>
              <a:defRPr/>
            </a:lvl1pPr>
          </a:lstStyle>
          <a:p>
            <a:fld id="{87EFC226-5A0A-48EC-87DB-3E8445F006FE}" type="slidenum">
              <a:rPr lang="tr-TR" altLang="tr-TR"/>
              <a:pPr/>
              <a:t>‹#›</a:t>
            </a:fld>
            <a:endParaRPr lang="tr-TR" altLang="tr-TR"/>
          </a:p>
        </p:txBody>
      </p:sp>
    </p:spTree>
    <p:extLst>
      <p:ext uri="{BB962C8B-B14F-4D97-AF65-F5344CB8AC3E}">
        <p14:creationId xmlns:p14="http://schemas.microsoft.com/office/powerpoint/2010/main" val="3880678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Rectangle 13"/>
          <p:cNvSpPr>
            <a:spLocks noGrp="1" noChangeArrowheads="1"/>
          </p:cNvSpPr>
          <p:nvPr>
            <p:ph type="dt" sz="half" idx="10"/>
          </p:nvPr>
        </p:nvSpPr>
        <p:spPr>
          <a:ln/>
        </p:spPr>
        <p:txBody>
          <a:bodyPr/>
          <a:lstStyle>
            <a:lvl1pPr>
              <a:defRPr/>
            </a:lvl1pPr>
          </a:lstStyle>
          <a:p>
            <a:pPr>
              <a:defRPr/>
            </a:pPr>
            <a:endParaRPr lang="tr-TR"/>
          </a:p>
        </p:txBody>
      </p:sp>
      <p:sp>
        <p:nvSpPr>
          <p:cNvPr id="4" name="Rectangle 14"/>
          <p:cNvSpPr>
            <a:spLocks noGrp="1" noChangeArrowheads="1"/>
          </p:cNvSpPr>
          <p:nvPr>
            <p:ph type="ftr" sz="quarter" idx="11"/>
          </p:nvPr>
        </p:nvSpPr>
        <p:spPr>
          <a:ln/>
        </p:spPr>
        <p:txBody>
          <a:bodyPr/>
          <a:lstStyle>
            <a:lvl1pPr>
              <a:defRPr/>
            </a:lvl1pPr>
          </a:lstStyle>
          <a:p>
            <a:pPr>
              <a:defRPr/>
            </a:pPr>
            <a:endParaRPr lang="tr-TR"/>
          </a:p>
        </p:txBody>
      </p:sp>
      <p:sp>
        <p:nvSpPr>
          <p:cNvPr id="5" name="Rectangle 15"/>
          <p:cNvSpPr>
            <a:spLocks noGrp="1" noChangeArrowheads="1"/>
          </p:cNvSpPr>
          <p:nvPr>
            <p:ph type="sldNum" sz="quarter" idx="12"/>
          </p:nvPr>
        </p:nvSpPr>
        <p:spPr>
          <a:ln/>
        </p:spPr>
        <p:txBody>
          <a:bodyPr/>
          <a:lstStyle>
            <a:lvl1pPr>
              <a:defRPr/>
            </a:lvl1pPr>
          </a:lstStyle>
          <a:p>
            <a:fld id="{2F14787B-77F8-4DCD-83B5-9E1C79156D94}" type="slidenum">
              <a:rPr lang="tr-TR" altLang="tr-TR"/>
              <a:pPr/>
              <a:t>‹#›</a:t>
            </a:fld>
            <a:endParaRPr lang="tr-TR" altLang="tr-TR"/>
          </a:p>
        </p:txBody>
      </p:sp>
    </p:spTree>
    <p:extLst>
      <p:ext uri="{BB962C8B-B14F-4D97-AF65-F5344CB8AC3E}">
        <p14:creationId xmlns:p14="http://schemas.microsoft.com/office/powerpoint/2010/main" val="816881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Rectangle 13"/>
          <p:cNvSpPr>
            <a:spLocks noGrp="1" noChangeArrowheads="1"/>
          </p:cNvSpPr>
          <p:nvPr>
            <p:ph type="dt" sz="half" idx="10"/>
          </p:nvPr>
        </p:nvSpPr>
        <p:spPr>
          <a:ln/>
        </p:spPr>
        <p:txBody>
          <a:bodyPr/>
          <a:lstStyle>
            <a:lvl1pPr>
              <a:defRPr/>
            </a:lvl1pPr>
          </a:lstStyle>
          <a:p>
            <a:pPr>
              <a:defRPr/>
            </a:pPr>
            <a:endParaRPr lang="tr-TR"/>
          </a:p>
        </p:txBody>
      </p:sp>
      <p:sp>
        <p:nvSpPr>
          <p:cNvPr id="3" name="Rectangle 14"/>
          <p:cNvSpPr>
            <a:spLocks noGrp="1" noChangeArrowheads="1"/>
          </p:cNvSpPr>
          <p:nvPr>
            <p:ph type="ftr" sz="quarter" idx="11"/>
          </p:nvPr>
        </p:nvSpPr>
        <p:spPr>
          <a:ln/>
        </p:spPr>
        <p:txBody>
          <a:bodyPr/>
          <a:lstStyle>
            <a:lvl1pPr>
              <a:defRPr/>
            </a:lvl1pPr>
          </a:lstStyle>
          <a:p>
            <a:pPr>
              <a:defRPr/>
            </a:pPr>
            <a:endParaRPr lang="tr-TR"/>
          </a:p>
        </p:txBody>
      </p:sp>
      <p:sp>
        <p:nvSpPr>
          <p:cNvPr id="4" name="Rectangle 15"/>
          <p:cNvSpPr>
            <a:spLocks noGrp="1" noChangeArrowheads="1"/>
          </p:cNvSpPr>
          <p:nvPr>
            <p:ph type="sldNum" sz="quarter" idx="12"/>
          </p:nvPr>
        </p:nvSpPr>
        <p:spPr>
          <a:ln/>
        </p:spPr>
        <p:txBody>
          <a:bodyPr/>
          <a:lstStyle>
            <a:lvl1pPr>
              <a:defRPr/>
            </a:lvl1pPr>
          </a:lstStyle>
          <a:p>
            <a:fld id="{7B2E49B6-BF82-4680-BF23-ACC9579BFD13}" type="slidenum">
              <a:rPr lang="tr-TR" altLang="tr-TR"/>
              <a:pPr/>
              <a:t>‹#›</a:t>
            </a:fld>
            <a:endParaRPr lang="tr-TR" altLang="tr-TR"/>
          </a:p>
        </p:txBody>
      </p:sp>
    </p:spTree>
    <p:extLst>
      <p:ext uri="{BB962C8B-B14F-4D97-AF65-F5344CB8AC3E}">
        <p14:creationId xmlns:p14="http://schemas.microsoft.com/office/powerpoint/2010/main" val="2704668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Rectangle 13"/>
          <p:cNvSpPr>
            <a:spLocks noGrp="1" noChangeArrowheads="1"/>
          </p:cNvSpPr>
          <p:nvPr>
            <p:ph type="dt" sz="half" idx="10"/>
          </p:nvPr>
        </p:nvSpPr>
        <p:spPr>
          <a:ln/>
        </p:spPr>
        <p:txBody>
          <a:bodyPr/>
          <a:lstStyle>
            <a:lvl1pPr>
              <a:defRPr/>
            </a:lvl1pPr>
          </a:lstStyle>
          <a:p>
            <a:pPr>
              <a:defRPr/>
            </a:pPr>
            <a:endParaRPr lang="tr-TR"/>
          </a:p>
        </p:txBody>
      </p:sp>
      <p:sp>
        <p:nvSpPr>
          <p:cNvPr id="6" name="Rectangle 14"/>
          <p:cNvSpPr>
            <a:spLocks noGrp="1" noChangeArrowheads="1"/>
          </p:cNvSpPr>
          <p:nvPr>
            <p:ph type="ftr" sz="quarter" idx="11"/>
          </p:nvPr>
        </p:nvSpPr>
        <p:spPr>
          <a:ln/>
        </p:spPr>
        <p:txBody>
          <a:bodyPr/>
          <a:lstStyle>
            <a:lvl1pPr>
              <a:defRPr/>
            </a:lvl1pPr>
          </a:lstStyle>
          <a:p>
            <a:pPr>
              <a:defRPr/>
            </a:pPr>
            <a:endParaRPr lang="tr-TR"/>
          </a:p>
        </p:txBody>
      </p:sp>
      <p:sp>
        <p:nvSpPr>
          <p:cNvPr id="7" name="Rectangle 15"/>
          <p:cNvSpPr>
            <a:spLocks noGrp="1" noChangeArrowheads="1"/>
          </p:cNvSpPr>
          <p:nvPr>
            <p:ph type="sldNum" sz="quarter" idx="12"/>
          </p:nvPr>
        </p:nvSpPr>
        <p:spPr>
          <a:ln/>
        </p:spPr>
        <p:txBody>
          <a:bodyPr/>
          <a:lstStyle>
            <a:lvl1pPr>
              <a:defRPr/>
            </a:lvl1pPr>
          </a:lstStyle>
          <a:p>
            <a:fld id="{3A517B32-1CF0-4D9C-823D-61A9C51EFC72}" type="slidenum">
              <a:rPr lang="tr-TR" altLang="tr-TR"/>
              <a:pPr/>
              <a:t>‹#›</a:t>
            </a:fld>
            <a:endParaRPr lang="tr-TR" altLang="tr-TR"/>
          </a:p>
        </p:txBody>
      </p:sp>
    </p:spTree>
    <p:extLst>
      <p:ext uri="{BB962C8B-B14F-4D97-AF65-F5344CB8AC3E}">
        <p14:creationId xmlns:p14="http://schemas.microsoft.com/office/powerpoint/2010/main" val="4065850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smtClean="0"/>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Rectangle 13"/>
          <p:cNvSpPr>
            <a:spLocks noGrp="1" noChangeArrowheads="1"/>
          </p:cNvSpPr>
          <p:nvPr>
            <p:ph type="dt" sz="half" idx="10"/>
          </p:nvPr>
        </p:nvSpPr>
        <p:spPr>
          <a:ln/>
        </p:spPr>
        <p:txBody>
          <a:bodyPr/>
          <a:lstStyle>
            <a:lvl1pPr>
              <a:defRPr/>
            </a:lvl1pPr>
          </a:lstStyle>
          <a:p>
            <a:pPr>
              <a:defRPr/>
            </a:pPr>
            <a:endParaRPr lang="tr-TR"/>
          </a:p>
        </p:txBody>
      </p:sp>
      <p:sp>
        <p:nvSpPr>
          <p:cNvPr id="6" name="Rectangle 14"/>
          <p:cNvSpPr>
            <a:spLocks noGrp="1" noChangeArrowheads="1"/>
          </p:cNvSpPr>
          <p:nvPr>
            <p:ph type="ftr" sz="quarter" idx="11"/>
          </p:nvPr>
        </p:nvSpPr>
        <p:spPr>
          <a:ln/>
        </p:spPr>
        <p:txBody>
          <a:bodyPr/>
          <a:lstStyle>
            <a:lvl1pPr>
              <a:defRPr/>
            </a:lvl1pPr>
          </a:lstStyle>
          <a:p>
            <a:pPr>
              <a:defRPr/>
            </a:pPr>
            <a:endParaRPr lang="tr-TR"/>
          </a:p>
        </p:txBody>
      </p:sp>
      <p:sp>
        <p:nvSpPr>
          <p:cNvPr id="7" name="Rectangle 15"/>
          <p:cNvSpPr>
            <a:spLocks noGrp="1" noChangeArrowheads="1"/>
          </p:cNvSpPr>
          <p:nvPr>
            <p:ph type="sldNum" sz="quarter" idx="12"/>
          </p:nvPr>
        </p:nvSpPr>
        <p:spPr>
          <a:ln/>
        </p:spPr>
        <p:txBody>
          <a:bodyPr/>
          <a:lstStyle>
            <a:lvl1pPr>
              <a:defRPr/>
            </a:lvl1pPr>
          </a:lstStyle>
          <a:p>
            <a:fld id="{A0DB22EC-5B86-4335-9202-B045D1C10B1A}" type="slidenum">
              <a:rPr lang="tr-TR" altLang="tr-TR"/>
              <a:pPr/>
              <a:t>‹#›</a:t>
            </a:fld>
            <a:endParaRPr lang="tr-TR" altLang="tr-TR"/>
          </a:p>
        </p:txBody>
      </p:sp>
    </p:spTree>
    <p:extLst>
      <p:ext uri="{BB962C8B-B14F-4D97-AF65-F5344CB8AC3E}">
        <p14:creationId xmlns:p14="http://schemas.microsoft.com/office/powerpoint/2010/main" val="39608698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Rectangle 13"/>
          <p:cNvSpPr>
            <a:spLocks noGrp="1" noChangeArrowheads="1"/>
          </p:cNvSpPr>
          <p:nvPr>
            <p:ph type="dt" sz="half" idx="10"/>
          </p:nvPr>
        </p:nvSpPr>
        <p:spPr>
          <a:ln/>
        </p:spPr>
        <p:txBody>
          <a:bodyPr/>
          <a:lstStyle>
            <a:lvl1pPr>
              <a:defRPr/>
            </a:lvl1pPr>
          </a:lstStyle>
          <a:p>
            <a:pPr>
              <a:defRPr/>
            </a:pPr>
            <a:endParaRPr lang="tr-TR"/>
          </a:p>
        </p:txBody>
      </p:sp>
      <p:sp>
        <p:nvSpPr>
          <p:cNvPr id="5" name="Rectangle 14"/>
          <p:cNvSpPr>
            <a:spLocks noGrp="1" noChangeArrowheads="1"/>
          </p:cNvSpPr>
          <p:nvPr>
            <p:ph type="ftr" sz="quarter" idx="11"/>
          </p:nvPr>
        </p:nvSpPr>
        <p:spPr>
          <a:ln/>
        </p:spPr>
        <p:txBody>
          <a:bodyPr/>
          <a:lstStyle>
            <a:lvl1pPr>
              <a:defRPr/>
            </a:lvl1pPr>
          </a:lstStyle>
          <a:p>
            <a:pPr>
              <a:defRPr/>
            </a:pPr>
            <a:endParaRPr lang="tr-TR"/>
          </a:p>
        </p:txBody>
      </p:sp>
      <p:sp>
        <p:nvSpPr>
          <p:cNvPr id="6" name="Rectangle 15"/>
          <p:cNvSpPr>
            <a:spLocks noGrp="1" noChangeArrowheads="1"/>
          </p:cNvSpPr>
          <p:nvPr>
            <p:ph type="sldNum" sz="quarter" idx="12"/>
          </p:nvPr>
        </p:nvSpPr>
        <p:spPr>
          <a:ln/>
        </p:spPr>
        <p:txBody>
          <a:bodyPr/>
          <a:lstStyle>
            <a:lvl1pPr>
              <a:defRPr/>
            </a:lvl1pPr>
          </a:lstStyle>
          <a:p>
            <a:fld id="{50C66CC3-5EEF-42E9-9E1C-6C5882AACC3A}" type="slidenum">
              <a:rPr lang="tr-TR" altLang="tr-TR"/>
              <a:pPr/>
              <a:t>‹#›</a:t>
            </a:fld>
            <a:endParaRPr lang="tr-TR" altLang="tr-TR"/>
          </a:p>
        </p:txBody>
      </p:sp>
    </p:spTree>
    <p:extLst>
      <p:ext uri="{BB962C8B-B14F-4D97-AF65-F5344CB8AC3E}">
        <p14:creationId xmlns:p14="http://schemas.microsoft.com/office/powerpoint/2010/main" val="3137233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7086600" y="609600"/>
            <a:ext cx="1943100" cy="5486400"/>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1257300" y="609600"/>
            <a:ext cx="5676900" cy="548640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Rectangle 13"/>
          <p:cNvSpPr>
            <a:spLocks noGrp="1" noChangeArrowheads="1"/>
          </p:cNvSpPr>
          <p:nvPr>
            <p:ph type="dt" sz="half" idx="10"/>
          </p:nvPr>
        </p:nvSpPr>
        <p:spPr>
          <a:ln/>
        </p:spPr>
        <p:txBody>
          <a:bodyPr/>
          <a:lstStyle>
            <a:lvl1pPr>
              <a:defRPr/>
            </a:lvl1pPr>
          </a:lstStyle>
          <a:p>
            <a:pPr>
              <a:defRPr/>
            </a:pPr>
            <a:endParaRPr lang="tr-TR"/>
          </a:p>
        </p:txBody>
      </p:sp>
      <p:sp>
        <p:nvSpPr>
          <p:cNvPr id="5" name="Rectangle 14"/>
          <p:cNvSpPr>
            <a:spLocks noGrp="1" noChangeArrowheads="1"/>
          </p:cNvSpPr>
          <p:nvPr>
            <p:ph type="ftr" sz="quarter" idx="11"/>
          </p:nvPr>
        </p:nvSpPr>
        <p:spPr>
          <a:ln/>
        </p:spPr>
        <p:txBody>
          <a:bodyPr/>
          <a:lstStyle>
            <a:lvl1pPr>
              <a:defRPr/>
            </a:lvl1pPr>
          </a:lstStyle>
          <a:p>
            <a:pPr>
              <a:defRPr/>
            </a:pPr>
            <a:endParaRPr lang="tr-TR"/>
          </a:p>
        </p:txBody>
      </p:sp>
      <p:sp>
        <p:nvSpPr>
          <p:cNvPr id="6" name="Rectangle 15"/>
          <p:cNvSpPr>
            <a:spLocks noGrp="1" noChangeArrowheads="1"/>
          </p:cNvSpPr>
          <p:nvPr>
            <p:ph type="sldNum" sz="quarter" idx="12"/>
          </p:nvPr>
        </p:nvSpPr>
        <p:spPr>
          <a:ln/>
        </p:spPr>
        <p:txBody>
          <a:bodyPr/>
          <a:lstStyle>
            <a:lvl1pPr>
              <a:defRPr/>
            </a:lvl1pPr>
          </a:lstStyle>
          <a:p>
            <a:fld id="{6028F351-20F1-4CCB-9A18-A2D08D02F964}" type="slidenum">
              <a:rPr lang="tr-TR" altLang="tr-TR"/>
              <a:pPr/>
              <a:t>‹#›</a:t>
            </a:fld>
            <a:endParaRPr lang="tr-TR" altLang="tr-TR"/>
          </a:p>
        </p:txBody>
      </p:sp>
    </p:spTree>
    <p:extLst>
      <p:ext uri="{BB962C8B-B14F-4D97-AF65-F5344CB8AC3E}">
        <p14:creationId xmlns:p14="http://schemas.microsoft.com/office/powerpoint/2010/main" val="1774852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9144000" cy="6869113"/>
            <a:chOff x="0" y="0"/>
            <a:chExt cx="5760" cy="4327"/>
          </a:xfrm>
        </p:grpSpPr>
        <p:sp>
          <p:nvSpPr>
            <p:cNvPr id="20483" name="Rectangle 3"/>
            <p:cNvSpPr>
              <a:spLocks noChangeArrowheads="1"/>
            </p:cNvSpPr>
            <p:nvPr userDrawn="1"/>
          </p:nvSpPr>
          <p:spPr bwMode="ltGray">
            <a:xfrm>
              <a:off x="0" y="405"/>
              <a:ext cx="743" cy="3922"/>
            </a:xfrm>
            <a:prstGeom prst="rect">
              <a:avLst/>
            </a:prstGeom>
            <a:gradFill rotWithShape="0">
              <a:gsLst>
                <a:gs pos="0">
                  <a:schemeClr val="folHlink">
                    <a:gamma/>
                    <a:shade val="46275"/>
                    <a:invGamma/>
                  </a:schemeClr>
                </a:gs>
                <a:gs pos="50000">
                  <a:schemeClr val="folHlink"/>
                </a:gs>
                <a:gs pos="100000">
                  <a:schemeClr val="folHlink">
                    <a:gamma/>
                    <a:shade val="46275"/>
                    <a:invGamma/>
                  </a:schemeClr>
                </a:gs>
              </a:gsLst>
              <a:lin ang="5400000" scaled="1"/>
            </a:gradFill>
            <a:ln>
              <a:noFill/>
            </a:ln>
            <a:effectLst/>
            <a:extLst/>
          </p:spPr>
          <p:txBody>
            <a:bodyPr wrap="none" anchor="ctr"/>
            <a:lstStyle/>
            <a:p>
              <a:pPr>
                <a:defRPr/>
              </a:pPr>
              <a:endParaRPr lang="tr-TR">
                <a:latin typeface="Arial" charset="0"/>
              </a:endParaRPr>
            </a:p>
          </p:txBody>
        </p:sp>
        <p:pic>
          <p:nvPicPr>
            <p:cNvPr id="1034" name="Picture 4" descr="C:\My Documents\bits\Astonbnr.GIF"/>
            <p:cNvPicPr>
              <a:picLocks noChangeAspect="1" noChangeArrowheads="1"/>
            </p:cNvPicPr>
            <p:nvPr userDrawn="1"/>
          </p:nvPicPr>
          <p:blipFill>
            <a:blip r:embed="rId13">
              <a:extLst>
                <a:ext uri="{28A0092B-C50C-407E-A947-70E740481C1C}">
                  <a14:useLocalDpi xmlns:a14="http://schemas.microsoft.com/office/drawing/2010/main" val="0"/>
                </a:ext>
              </a:extLst>
            </a:blip>
            <a:srcRect t="15163"/>
            <a:stretch>
              <a:fillRect/>
            </a:stretch>
          </p:blipFill>
          <p:spPr bwMode="gray">
            <a:xfrm>
              <a:off x="0" y="0"/>
              <a:ext cx="5760" cy="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Rectangle 5"/>
            <p:cNvSpPr>
              <a:spLocks noChangeArrowheads="1"/>
            </p:cNvSpPr>
            <p:nvPr userDrawn="1"/>
          </p:nvSpPr>
          <p:spPr bwMode="white">
            <a:xfrm>
              <a:off x="704" y="181"/>
              <a:ext cx="5056" cy="384"/>
            </a:xfrm>
            <a:prstGeom prst="rect">
              <a:avLst/>
            </a:prstGeom>
            <a:solidFill>
              <a:srgbClr val="000000"/>
            </a:solidFill>
            <a:ln w="9525">
              <a:noFill/>
              <a:miter lim="800000"/>
              <a:headEnd/>
              <a:tailEnd/>
            </a:ln>
            <a:effectLst/>
          </p:spPr>
          <p:txBody>
            <a:bodyPr wrap="none" anchor="ctr"/>
            <a:lstStyle/>
            <a:p>
              <a:pPr>
                <a:defRPr/>
              </a:pPr>
              <a:endParaRPr lang="tr-TR">
                <a:latin typeface="Arial" charset="0"/>
              </a:endParaRPr>
            </a:p>
          </p:txBody>
        </p:sp>
        <p:sp>
          <p:nvSpPr>
            <p:cNvPr id="1036" name="Rectangle 6" descr="Stonbk"/>
            <p:cNvSpPr>
              <a:spLocks noChangeArrowheads="1"/>
            </p:cNvSpPr>
            <p:nvPr userDrawn="1"/>
          </p:nvSpPr>
          <p:spPr bwMode="white">
            <a:xfrm>
              <a:off x="747" y="224"/>
              <a:ext cx="5013" cy="4092"/>
            </a:xfrm>
            <a:prstGeom prst="rect">
              <a:avLst/>
            </a:prstGeom>
            <a:blipFill dpi="0" rotWithShape="0">
              <a:blip r:embed="rId14" cstate="print"/>
              <a:srcRect/>
              <a:tile tx="0" ty="0" sx="100000" sy="100000" flip="none" algn="tl"/>
            </a:blipFill>
            <a:ln w="9525">
              <a:noFill/>
              <a:miter lim="800000"/>
              <a:headEnd/>
              <a:tailEnd/>
            </a:ln>
            <a:effectLst/>
          </p:spPr>
          <p:txBody>
            <a:bodyPr wrap="none" anchor="ctr"/>
            <a:lstStyle/>
            <a:p>
              <a:pPr>
                <a:defRPr/>
              </a:pPr>
              <a:endParaRPr lang="tr-TR">
                <a:latin typeface="Arial" charset="0"/>
              </a:endParaRPr>
            </a:p>
          </p:txBody>
        </p:sp>
        <p:sp>
          <p:nvSpPr>
            <p:cNvPr id="1037" name="Rectangle 7"/>
            <p:cNvSpPr>
              <a:spLocks noChangeArrowheads="1"/>
            </p:cNvSpPr>
            <p:nvPr userDrawn="1"/>
          </p:nvSpPr>
          <p:spPr bwMode="white">
            <a:xfrm>
              <a:off x="703" y="186"/>
              <a:ext cx="46" cy="4134"/>
            </a:xfrm>
            <a:prstGeom prst="rect">
              <a:avLst/>
            </a:prstGeom>
            <a:solidFill>
              <a:srgbClr val="000000"/>
            </a:solidFill>
            <a:ln w="9525">
              <a:noFill/>
              <a:miter lim="800000"/>
              <a:headEnd/>
              <a:tailEnd/>
            </a:ln>
            <a:effectLst/>
          </p:spPr>
          <p:txBody>
            <a:bodyPr wrap="none" anchor="ctr"/>
            <a:lstStyle/>
            <a:p>
              <a:pPr>
                <a:defRPr/>
              </a:pPr>
              <a:endParaRPr lang="tr-TR">
                <a:latin typeface="Arial" charset="0"/>
              </a:endParaRPr>
            </a:p>
          </p:txBody>
        </p:sp>
        <p:sp>
          <p:nvSpPr>
            <p:cNvPr id="1038" name="Line 8"/>
            <p:cNvSpPr>
              <a:spLocks noChangeShapeType="1"/>
            </p:cNvSpPr>
            <p:nvPr userDrawn="1"/>
          </p:nvSpPr>
          <p:spPr bwMode="hidden">
            <a:xfrm>
              <a:off x="0" y="415"/>
              <a:ext cx="257" cy="0"/>
            </a:xfrm>
            <a:prstGeom prst="line">
              <a:avLst/>
            </a:prstGeom>
            <a:noFill/>
            <a:ln w="28575">
              <a:solidFill>
                <a:schemeClr val="bg2"/>
              </a:solidFill>
              <a:round/>
              <a:headEnd/>
              <a:tailEnd/>
            </a:ln>
            <a:effectLst/>
          </p:spPr>
          <p:txBody>
            <a:bodyPr wrap="none" anchor="ctr"/>
            <a:lstStyle/>
            <a:p>
              <a:pPr>
                <a:defRPr/>
              </a:pPr>
              <a:endParaRPr lang="tr-TR">
                <a:latin typeface="Arial" charset="0"/>
              </a:endParaRPr>
            </a:p>
          </p:txBody>
        </p:sp>
        <p:sp>
          <p:nvSpPr>
            <p:cNvPr id="1039" name="Line 9"/>
            <p:cNvSpPr>
              <a:spLocks noChangeShapeType="1"/>
            </p:cNvSpPr>
            <p:nvPr userDrawn="1"/>
          </p:nvSpPr>
          <p:spPr bwMode="hidden">
            <a:xfrm>
              <a:off x="421" y="412"/>
              <a:ext cx="282" cy="0"/>
            </a:xfrm>
            <a:prstGeom prst="line">
              <a:avLst/>
            </a:prstGeom>
            <a:noFill/>
            <a:ln w="28575">
              <a:solidFill>
                <a:schemeClr val="bg2"/>
              </a:solidFill>
              <a:round/>
              <a:headEnd/>
              <a:tailEnd/>
            </a:ln>
            <a:effectLst/>
          </p:spPr>
          <p:txBody>
            <a:bodyPr wrap="none" anchor="ctr"/>
            <a:lstStyle/>
            <a:p>
              <a:pPr>
                <a:defRPr/>
              </a:pPr>
              <a:endParaRPr lang="tr-TR">
                <a:latin typeface="Arial" charset="0"/>
              </a:endParaRPr>
            </a:p>
          </p:txBody>
        </p:sp>
        <p:sp>
          <p:nvSpPr>
            <p:cNvPr id="1040" name="Rectangle 10"/>
            <p:cNvSpPr>
              <a:spLocks noChangeArrowheads="1"/>
            </p:cNvSpPr>
            <p:nvPr userDrawn="1"/>
          </p:nvSpPr>
          <p:spPr bwMode="hidden">
            <a:xfrm>
              <a:off x="0" y="0"/>
              <a:ext cx="27" cy="4320"/>
            </a:xfrm>
            <a:prstGeom prst="rect">
              <a:avLst/>
            </a:prstGeom>
            <a:solidFill>
              <a:srgbClr val="000000"/>
            </a:solidFill>
            <a:ln w="9525">
              <a:noFill/>
              <a:miter lim="800000"/>
              <a:headEnd/>
              <a:tailEnd/>
            </a:ln>
            <a:effectLst/>
          </p:spPr>
          <p:txBody>
            <a:bodyPr wrap="none" anchor="ctr"/>
            <a:lstStyle/>
            <a:p>
              <a:pPr>
                <a:defRPr/>
              </a:pPr>
              <a:endParaRPr lang="tr-TR">
                <a:latin typeface="Arial" charset="0"/>
              </a:endParaRPr>
            </a:p>
          </p:txBody>
        </p:sp>
      </p:grpSp>
      <p:sp>
        <p:nvSpPr>
          <p:cNvPr id="1027" name="Rectangle 11"/>
          <p:cNvSpPr>
            <a:spLocks noGrp="1" noChangeArrowheads="1"/>
          </p:cNvSpPr>
          <p:nvPr>
            <p:ph type="title"/>
          </p:nvPr>
        </p:nvSpPr>
        <p:spPr bwMode="auto">
          <a:xfrm>
            <a:off x="12573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tr-TR" altLang="tr-TR" smtClean="0"/>
              <a:t>Asıl başlık stili için tıklatın</a:t>
            </a:r>
          </a:p>
        </p:txBody>
      </p:sp>
      <p:sp>
        <p:nvSpPr>
          <p:cNvPr id="1028" name="Rectangle 12"/>
          <p:cNvSpPr>
            <a:spLocks noGrp="1" noChangeArrowheads="1"/>
          </p:cNvSpPr>
          <p:nvPr>
            <p:ph type="body" idx="1"/>
          </p:nvPr>
        </p:nvSpPr>
        <p:spPr bwMode="auto">
          <a:xfrm>
            <a:off x="12573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tr-TR" altLang="tr-TR" smtClean="0"/>
              <a:t>Asıl metin stillerini düzenlemek için tıklatın</a:t>
            </a:r>
          </a:p>
          <a:p>
            <a:pPr lvl="1"/>
            <a:r>
              <a:rPr lang="tr-TR" altLang="tr-TR" smtClean="0"/>
              <a:t>İkinci düzey</a:t>
            </a:r>
          </a:p>
          <a:p>
            <a:pPr lvl="2"/>
            <a:r>
              <a:rPr lang="tr-TR" altLang="tr-TR" smtClean="0"/>
              <a:t>Üçüncü düzey</a:t>
            </a:r>
          </a:p>
          <a:p>
            <a:pPr lvl="3"/>
            <a:r>
              <a:rPr lang="tr-TR" altLang="tr-TR" smtClean="0"/>
              <a:t>Dördüncü düzey</a:t>
            </a:r>
          </a:p>
          <a:p>
            <a:pPr lvl="4"/>
            <a:r>
              <a:rPr lang="tr-TR" altLang="tr-TR" smtClean="0"/>
              <a:t>Beşinci düzey</a:t>
            </a:r>
          </a:p>
        </p:txBody>
      </p:sp>
      <p:sp>
        <p:nvSpPr>
          <p:cNvPr id="20493" name="Rectangle 13"/>
          <p:cNvSpPr>
            <a:spLocks noGrp="1" noChangeArrowheads="1"/>
          </p:cNvSpPr>
          <p:nvPr>
            <p:ph type="dt" sz="half" idx="2"/>
          </p:nvPr>
        </p:nvSpPr>
        <p:spPr bwMode="auto">
          <a:xfrm>
            <a:off x="1257300" y="6248400"/>
            <a:ext cx="19050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defRPr sz="1400">
                <a:solidFill>
                  <a:schemeClr val="bg2"/>
                </a:solidFill>
                <a:latin typeface="Arial" charset="0"/>
              </a:defRPr>
            </a:lvl1pPr>
          </a:lstStyle>
          <a:p>
            <a:pPr>
              <a:defRPr/>
            </a:pPr>
            <a:endParaRPr lang="tr-TR"/>
          </a:p>
        </p:txBody>
      </p:sp>
      <p:sp>
        <p:nvSpPr>
          <p:cNvPr id="20494" name="Rectangle 14"/>
          <p:cNvSpPr>
            <a:spLocks noGrp="1" noChangeArrowheads="1"/>
          </p:cNvSpPr>
          <p:nvPr>
            <p:ph type="ftr" sz="quarter" idx="3"/>
          </p:nvPr>
        </p:nvSpPr>
        <p:spPr bwMode="auto">
          <a:xfrm>
            <a:off x="3695700" y="6248400"/>
            <a:ext cx="28956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ctr">
              <a:defRPr sz="1400">
                <a:solidFill>
                  <a:schemeClr val="bg2"/>
                </a:solidFill>
                <a:latin typeface="Arial" charset="0"/>
              </a:defRPr>
            </a:lvl1pPr>
          </a:lstStyle>
          <a:p>
            <a:pPr>
              <a:defRPr/>
            </a:pPr>
            <a:endParaRPr lang="tr-TR"/>
          </a:p>
        </p:txBody>
      </p:sp>
      <p:sp>
        <p:nvSpPr>
          <p:cNvPr id="20495" name="Rectangle 15"/>
          <p:cNvSpPr>
            <a:spLocks noGrp="1" noChangeArrowheads="1"/>
          </p:cNvSpPr>
          <p:nvPr>
            <p:ph type="sldNum" sz="quarter" idx="4"/>
          </p:nvPr>
        </p:nvSpPr>
        <p:spPr bwMode="auto">
          <a:xfrm>
            <a:off x="7124700" y="6248400"/>
            <a:ext cx="19050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400">
                <a:solidFill>
                  <a:schemeClr val="bg2"/>
                </a:solidFill>
              </a:defRPr>
            </a:lvl1pPr>
          </a:lstStyle>
          <a:p>
            <a:fld id="{755BB309-1368-46C6-9243-0CBA7D264AFB}" type="slidenum">
              <a:rPr lang="tr-TR" altLang="tr-TR"/>
              <a:pPr/>
              <a:t>‹#›</a:t>
            </a:fld>
            <a:endParaRPr lang="tr-TR" altLang="tr-TR"/>
          </a:p>
        </p:txBody>
      </p:sp>
      <p:sp>
        <p:nvSpPr>
          <p:cNvPr id="1032" name="Rectangle 16"/>
          <p:cNvSpPr>
            <a:spLocks noChangeArrowheads="1"/>
          </p:cNvSpPr>
          <p:nvPr/>
        </p:nvSpPr>
        <p:spPr bwMode="auto">
          <a:xfrm>
            <a:off x="1117600" y="268288"/>
            <a:ext cx="8026400" cy="74612"/>
          </a:xfrm>
          <a:prstGeom prst="rect">
            <a:avLst/>
          </a:prstGeom>
          <a:solidFill>
            <a:schemeClr val="tx2"/>
          </a:solidFill>
          <a:ln w="9525">
            <a:noFill/>
            <a:miter lim="800000"/>
            <a:headEnd/>
            <a:tailEnd/>
          </a:ln>
          <a:effectLst/>
        </p:spPr>
        <p:txBody>
          <a:bodyPr wrap="none" anchor="ctr"/>
          <a:lstStyle/>
          <a:p>
            <a:pPr algn="ctr">
              <a:defRPr/>
            </a:pPr>
            <a:endParaRPr kumimoji="1" lang="tr-TR">
              <a:latin typeface="Arial" charset="0"/>
            </a:endParaRPr>
          </a:p>
        </p:txBody>
      </p:sp>
    </p:spTree>
  </p:cSld>
  <p:clrMap bg1="lt1" tx1="dk1" bg2="lt2" tx2="dk2" accent1="accent1" accent2="accent2" accent3="accent3" accent4="accent4" accent5="accent5" accent6="accent6" hlink="hlink" folHlink="folHlink"/>
  <p:sldLayoutIdLst>
    <p:sldLayoutId id="2147483732"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charset="0"/>
        </a:defRPr>
      </a:lvl2pPr>
      <a:lvl3pPr algn="l" rtl="0" eaLnBrk="0" fontAlgn="base" hangingPunct="0">
        <a:spcBef>
          <a:spcPct val="0"/>
        </a:spcBef>
        <a:spcAft>
          <a:spcPct val="0"/>
        </a:spcAft>
        <a:defRPr sz="4400">
          <a:solidFill>
            <a:schemeClr val="tx2"/>
          </a:solidFill>
          <a:latin typeface="Arial" charset="0"/>
        </a:defRPr>
      </a:lvl3pPr>
      <a:lvl4pPr algn="l" rtl="0" eaLnBrk="0" fontAlgn="base" hangingPunct="0">
        <a:spcBef>
          <a:spcPct val="0"/>
        </a:spcBef>
        <a:spcAft>
          <a:spcPct val="0"/>
        </a:spcAft>
        <a:defRPr sz="4400">
          <a:solidFill>
            <a:schemeClr val="tx2"/>
          </a:solidFill>
          <a:latin typeface="Arial" charset="0"/>
        </a:defRPr>
      </a:lvl4pPr>
      <a:lvl5pPr algn="l" rtl="0" eaLnBrk="0" fontAlgn="base" hangingPunct="0">
        <a:spcBef>
          <a:spcPct val="0"/>
        </a:spcBef>
        <a:spcAft>
          <a:spcPct val="0"/>
        </a:spcAft>
        <a:defRPr sz="4400">
          <a:solidFill>
            <a:schemeClr val="tx2"/>
          </a:solidFill>
          <a:latin typeface="Arial" charset="0"/>
        </a:defRPr>
      </a:lvl5pPr>
      <a:lvl6pPr marL="457200" algn="l" rtl="0" fontAlgn="base">
        <a:spcBef>
          <a:spcPct val="0"/>
        </a:spcBef>
        <a:spcAft>
          <a:spcPct val="0"/>
        </a:spcAft>
        <a:defRPr sz="4400">
          <a:solidFill>
            <a:schemeClr val="tx2"/>
          </a:solidFill>
          <a:latin typeface="Arial" charset="0"/>
        </a:defRPr>
      </a:lvl6pPr>
      <a:lvl7pPr marL="914400" algn="l" rtl="0" fontAlgn="base">
        <a:spcBef>
          <a:spcPct val="0"/>
        </a:spcBef>
        <a:spcAft>
          <a:spcPct val="0"/>
        </a:spcAft>
        <a:defRPr sz="4400">
          <a:solidFill>
            <a:schemeClr val="tx2"/>
          </a:solidFill>
          <a:latin typeface="Arial" charset="0"/>
        </a:defRPr>
      </a:lvl7pPr>
      <a:lvl8pPr marL="1371600" algn="l" rtl="0" fontAlgn="base">
        <a:spcBef>
          <a:spcPct val="0"/>
        </a:spcBef>
        <a:spcAft>
          <a:spcPct val="0"/>
        </a:spcAft>
        <a:defRPr sz="4400">
          <a:solidFill>
            <a:schemeClr val="tx2"/>
          </a:solidFill>
          <a:latin typeface="Arial" charset="0"/>
        </a:defRPr>
      </a:lvl8pPr>
      <a:lvl9pPr marL="1828800" algn="l"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80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tr-TR" altLang="tr-TR" smtClean="0"/>
              <a:t>TOPLANTI YÖNETİMİ</a:t>
            </a:r>
          </a:p>
        </p:txBody>
      </p:sp>
      <p:sp>
        <p:nvSpPr>
          <p:cNvPr id="3075" name="Rectangle 3"/>
          <p:cNvSpPr>
            <a:spLocks noGrp="1" noChangeArrowheads="1"/>
          </p:cNvSpPr>
          <p:nvPr>
            <p:ph type="subTitle" idx="1"/>
          </p:nvPr>
        </p:nvSpPr>
        <p:spPr>
          <a:xfrm>
            <a:off x="1905000" y="3581400"/>
            <a:ext cx="6400800" cy="2286000"/>
          </a:xfrm>
        </p:spPr>
        <p:txBody>
          <a:bodyPr/>
          <a:lstStyle/>
          <a:p>
            <a:pPr eaLnBrk="1" hangingPunct="1"/>
            <a:r>
              <a:rPr lang="tr-TR" altLang="tr-TR" smtClean="0"/>
              <a:t>Prof. Dr. Ali Balcı</a:t>
            </a:r>
          </a:p>
          <a:p>
            <a:pPr eaLnBrk="1" hangingPunct="1"/>
            <a:r>
              <a:rPr lang="tr-TR" altLang="tr-TR" smtClean="0"/>
              <a:t>Ankara Üniversitesi</a:t>
            </a:r>
          </a:p>
          <a:p>
            <a:pPr eaLnBrk="1" hangingPunct="1"/>
            <a:r>
              <a:rPr lang="tr-TR" altLang="tr-TR" smtClean="0"/>
              <a:t>Eğitim Bilimleri Fakültesi</a:t>
            </a:r>
          </a:p>
          <a:p>
            <a:pPr eaLnBrk="1" hangingPunct="1"/>
            <a:r>
              <a:rPr lang="tr-TR" altLang="tr-TR" smtClean="0"/>
              <a:t>Öğretim Üyesi</a:t>
            </a:r>
          </a:p>
        </p:txBody>
      </p:sp>
      <p:sp>
        <p:nvSpPr>
          <p:cNvPr id="3076"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A4FDE77B-D2F2-4A94-8666-AB7F4DC5D7DB}" type="slidenum">
              <a:rPr lang="tr-TR" altLang="tr-TR" sz="1400">
                <a:solidFill>
                  <a:schemeClr val="bg2"/>
                </a:solidFill>
              </a:rPr>
              <a:pPr eaLnBrk="1" hangingPunct="1"/>
              <a:t>1</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1524000" y="762000"/>
            <a:ext cx="3048000"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lnSpc>
                <a:spcPct val="70000"/>
              </a:lnSpc>
              <a:spcBef>
                <a:spcPct val="50000"/>
              </a:spcBef>
            </a:pPr>
            <a:r>
              <a:rPr lang="tr-TR" altLang="tr-TR" sz="2800"/>
              <a:t>Kendinizi </a:t>
            </a:r>
          </a:p>
          <a:p>
            <a:pPr eaLnBrk="1" hangingPunct="1">
              <a:lnSpc>
                <a:spcPct val="70000"/>
              </a:lnSpc>
              <a:spcBef>
                <a:spcPct val="50000"/>
              </a:spcBef>
            </a:pPr>
            <a:r>
              <a:rPr lang="tr-TR" altLang="tr-TR" sz="2800"/>
              <a:t>	</a:t>
            </a:r>
            <a:r>
              <a:rPr lang="tr-TR" altLang="tr-TR" sz="4000" b="1"/>
              <a:t>yalnız</a:t>
            </a:r>
          </a:p>
          <a:p>
            <a:pPr eaLnBrk="1" hangingPunct="1">
              <a:lnSpc>
                <a:spcPct val="70000"/>
              </a:lnSpc>
              <a:spcBef>
                <a:spcPct val="50000"/>
              </a:spcBef>
            </a:pPr>
            <a:r>
              <a:rPr lang="tr-TR" altLang="tr-TR" sz="2800"/>
              <a:t>hissediyorsunuz</a:t>
            </a:r>
            <a:r>
              <a:rPr lang="tr-TR" altLang="tr-TR"/>
              <a:t>...</a:t>
            </a:r>
          </a:p>
        </p:txBody>
      </p:sp>
      <p:sp>
        <p:nvSpPr>
          <p:cNvPr id="22531" name="Text Box 3"/>
          <p:cNvSpPr txBox="1">
            <a:spLocks noChangeArrowheads="1"/>
          </p:cNvSpPr>
          <p:nvPr/>
        </p:nvSpPr>
        <p:spPr bwMode="auto">
          <a:xfrm>
            <a:off x="5943600" y="914400"/>
            <a:ext cx="2971800"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lnSpc>
                <a:spcPct val="80000"/>
              </a:lnSpc>
              <a:spcBef>
                <a:spcPct val="50000"/>
              </a:spcBef>
            </a:pPr>
            <a:r>
              <a:rPr lang="tr-TR" altLang="tr-TR" sz="2800"/>
              <a:t>Karar vermekten</a:t>
            </a:r>
          </a:p>
          <a:p>
            <a:pPr eaLnBrk="1" hangingPunct="1">
              <a:lnSpc>
                <a:spcPct val="80000"/>
              </a:lnSpc>
              <a:spcBef>
                <a:spcPct val="50000"/>
              </a:spcBef>
            </a:pPr>
            <a:r>
              <a:rPr lang="tr-TR" altLang="tr-TR" sz="4000" b="1"/>
              <a:t>	nefret </a:t>
            </a:r>
          </a:p>
          <a:p>
            <a:pPr eaLnBrk="1" hangingPunct="1">
              <a:lnSpc>
                <a:spcPct val="80000"/>
              </a:lnSpc>
              <a:spcBef>
                <a:spcPct val="50000"/>
              </a:spcBef>
            </a:pPr>
            <a:r>
              <a:rPr lang="tr-TR" altLang="tr-TR" sz="2800"/>
              <a:t>Ediyorsunuz.</a:t>
            </a:r>
          </a:p>
        </p:txBody>
      </p:sp>
      <p:sp>
        <p:nvSpPr>
          <p:cNvPr id="22534" name="Text Box 6"/>
          <p:cNvSpPr txBox="1">
            <a:spLocks noChangeArrowheads="1"/>
          </p:cNvSpPr>
          <p:nvPr/>
        </p:nvSpPr>
        <p:spPr bwMode="auto">
          <a:xfrm>
            <a:off x="3124200" y="2819400"/>
            <a:ext cx="3390900"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lnSpc>
                <a:spcPct val="70000"/>
              </a:lnSpc>
              <a:spcBef>
                <a:spcPct val="50000"/>
              </a:spcBef>
            </a:pPr>
            <a:r>
              <a:rPr lang="tr-TR" altLang="tr-TR" sz="2800"/>
              <a:t>Yapmak yerine </a:t>
            </a:r>
          </a:p>
          <a:p>
            <a:pPr eaLnBrk="1" hangingPunct="1">
              <a:lnSpc>
                <a:spcPct val="70000"/>
              </a:lnSpc>
              <a:spcBef>
                <a:spcPct val="50000"/>
              </a:spcBef>
            </a:pPr>
            <a:r>
              <a:rPr lang="tr-TR" altLang="tr-TR" sz="4000" b="1"/>
              <a:t>konuşmayı</a:t>
            </a:r>
          </a:p>
          <a:p>
            <a:pPr eaLnBrk="1" hangingPunct="1">
              <a:lnSpc>
                <a:spcPct val="70000"/>
              </a:lnSpc>
              <a:spcBef>
                <a:spcPct val="50000"/>
              </a:spcBef>
            </a:pPr>
            <a:r>
              <a:rPr lang="tr-TR" altLang="tr-TR" sz="2800"/>
              <a:t>tercih ediyorsunuz.</a:t>
            </a:r>
          </a:p>
        </p:txBody>
      </p:sp>
      <p:sp>
        <p:nvSpPr>
          <p:cNvPr id="22535" name="Text Box 7"/>
          <p:cNvSpPr txBox="1">
            <a:spLocks noChangeArrowheads="1"/>
          </p:cNvSpPr>
          <p:nvPr/>
        </p:nvSpPr>
        <p:spPr bwMode="auto">
          <a:xfrm>
            <a:off x="1676400" y="4800600"/>
            <a:ext cx="6705600"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lnSpc>
                <a:spcPct val="70000"/>
              </a:lnSpc>
              <a:spcBef>
                <a:spcPct val="50000"/>
              </a:spcBef>
            </a:pPr>
            <a:r>
              <a:rPr lang="tr-TR" altLang="tr-TR" sz="3200"/>
              <a:t>O halde neden </a:t>
            </a:r>
          </a:p>
          <a:p>
            <a:pPr eaLnBrk="1" hangingPunct="1">
              <a:lnSpc>
                <a:spcPct val="70000"/>
              </a:lnSpc>
              <a:spcBef>
                <a:spcPct val="50000"/>
              </a:spcBef>
            </a:pPr>
            <a:r>
              <a:rPr lang="tr-TR" altLang="tr-TR" sz="4400" b="1"/>
              <a:t>	Toplantı</a:t>
            </a:r>
          </a:p>
          <a:p>
            <a:pPr eaLnBrk="1" hangingPunct="1">
              <a:lnSpc>
                <a:spcPct val="80000"/>
              </a:lnSpc>
              <a:spcBef>
                <a:spcPct val="50000"/>
              </a:spcBef>
            </a:pPr>
            <a:r>
              <a:rPr lang="tr-TR" altLang="tr-TR" sz="3200"/>
              <a:t>		Yapmıyorsunuz?</a:t>
            </a:r>
          </a:p>
        </p:txBody>
      </p:sp>
      <p:grpSp>
        <p:nvGrpSpPr>
          <p:cNvPr id="4102" name="Group 12"/>
          <p:cNvGrpSpPr>
            <a:grpSpLocks/>
          </p:cNvGrpSpPr>
          <p:nvPr/>
        </p:nvGrpSpPr>
        <p:grpSpPr bwMode="auto">
          <a:xfrm>
            <a:off x="1295400" y="685800"/>
            <a:ext cx="7620000" cy="3962400"/>
            <a:chOff x="816" y="432"/>
            <a:chExt cx="4800" cy="2496"/>
          </a:xfrm>
        </p:grpSpPr>
        <p:sp>
          <p:nvSpPr>
            <p:cNvPr id="4104" name="Line 4"/>
            <p:cNvSpPr>
              <a:spLocks noChangeShapeType="1"/>
            </p:cNvSpPr>
            <p:nvPr/>
          </p:nvSpPr>
          <p:spPr bwMode="auto">
            <a:xfrm>
              <a:off x="816" y="1584"/>
              <a:ext cx="20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sp>
          <p:nvSpPr>
            <p:cNvPr id="4105" name="Line 5"/>
            <p:cNvSpPr>
              <a:spLocks noChangeShapeType="1"/>
            </p:cNvSpPr>
            <p:nvPr/>
          </p:nvSpPr>
          <p:spPr bwMode="auto">
            <a:xfrm flipV="1">
              <a:off x="2880" y="432"/>
              <a:ext cx="0" cy="11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sp>
          <p:nvSpPr>
            <p:cNvPr id="4106" name="Line 8"/>
            <p:cNvSpPr>
              <a:spLocks noChangeShapeType="1"/>
            </p:cNvSpPr>
            <p:nvPr/>
          </p:nvSpPr>
          <p:spPr bwMode="auto">
            <a:xfrm>
              <a:off x="960" y="2928"/>
              <a:ext cx="326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sp>
          <p:nvSpPr>
            <p:cNvPr id="4107" name="Line 9"/>
            <p:cNvSpPr>
              <a:spLocks noChangeShapeType="1"/>
            </p:cNvSpPr>
            <p:nvPr/>
          </p:nvSpPr>
          <p:spPr bwMode="auto">
            <a:xfrm flipV="1">
              <a:off x="4224" y="1776"/>
              <a:ext cx="0" cy="11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sp>
          <p:nvSpPr>
            <p:cNvPr id="4108" name="Line 10"/>
            <p:cNvSpPr>
              <a:spLocks noChangeShapeType="1"/>
            </p:cNvSpPr>
            <p:nvPr/>
          </p:nvSpPr>
          <p:spPr bwMode="auto">
            <a:xfrm>
              <a:off x="4224" y="1776"/>
              <a:ext cx="13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sp>
          <p:nvSpPr>
            <p:cNvPr id="4109" name="Line 11"/>
            <p:cNvSpPr>
              <a:spLocks noChangeShapeType="1"/>
            </p:cNvSpPr>
            <p:nvPr/>
          </p:nvSpPr>
          <p:spPr bwMode="auto">
            <a:xfrm flipV="1">
              <a:off x="5616" y="480"/>
              <a:ext cx="0" cy="12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tr-TR"/>
            </a:p>
          </p:txBody>
        </p:sp>
      </p:grpSp>
      <p:sp>
        <p:nvSpPr>
          <p:cNvPr id="4103"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2C040807-36EB-4271-980B-C8A993181BA0}" type="slidenum">
              <a:rPr lang="tr-TR" altLang="tr-TR" sz="1400">
                <a:solidFill>
                  <a:schemeClr val="bg2"/>
                </a:solidFill>
              </a:rPr>
              <a:pPr eaLnBrk="1" hangingPunct="1"/>
              <a:t>2</a:t>
            </a:fld>
            <a:endParaRPr lang="tr-TR" altLang="tr-TR" sz="1400">
              <a:solidFill>
                <a:schemeClr val="bg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530"/>
                                        </p:tgtEl>
                                        <p:attrNameLst>
                                          <p:attrName>style.visibility</p:attrName>
                                        </p:attrNameLst>
                                      </p:cBhvr>
                                      <p:to>
                                        <p:strVal val="visible"/>
                                      </p:to>
                                    </p:set>
                                    <p:anim calcmode="lin" valueType="num">
                                      <p:cBhvr additive="base">
                                        <p:cTn id="7" dur="500" fill="hold"/>
                                        <p:tgtEl>
                                          <p:spTgt spid="22530"/>
                                        </p:tgtEl>
                                        <p:attrNameLst>
                                          <p:attrName>ppt_x</p:attrName>
                                        </p:attrNameLst>
                                      </p:cBhvr>
                                      <p:tavLst>
                                        <p:tav tm="0">
                                          <p:val>
                                            <p:strVal val="0-#ppt_w/2"/>
                                          </p:val>
                                        </p:tav>
                                        <p:tav tm="100000">
                                          <p:val>
                                            <p:strVal val="#ppt_x"/>
                                          </p:val>
                                        </p:tav>
                                      </p:tavLst>
                                    </p:anim>
                                    <p:anim calcmode="lin" valueType="num">
                                      <p:cBhvr additive="base">
                                        <p:cTn id="8" dur="500" fill="hold"/>
                                        <p:tgtEl>
                                          <p:spTgt spid="2253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531"/>
                                        </p:tgtEl>
                                        <p:attrNameLst>
                                          <p:attrName>style.visibility</p:attrName>
                                        </p:attrNameLst>
                                      </p:cBhvr>
                                      <p:to>
                                        <p:strVal val="visible"/>
                                      </p:to>
                                    </p:set>
                                    <p:anim calcmode="lin" valueType="num">
                                      <p:cBhvr additive="base">
                                        <p:cTn id="13" dur="500" fill="hold"/>
                                        <p:tgtEl>
                                          <p:spTgt spid="22531"/>
                                        </p:tgtEl>
                                        <p:attrNameLst>
                                          <p:attrName>ppt_x</p:attrName>
                                        </p:attrNameLst>
                                      </p:cBhvr>
                                      <p:tavLst>
                                        <p:tav tm="0">
                                          <p:val>
                                            <p:strVal val="0-#ppt_w/2"/>
                                          </p:val>
                                        </p:tav>
                                        <p:tav tm="100000">
                                          <p:val>
                                            <p:strVal val="#ppt_x"/>
                                          </p:val>
                                        </p:tav>
                                      </p:tavLst>
                                    </p:anim>
                                    <p:anim calcmode="lin" valueType="num">
                                      <p:cBhvr additive="base">
                                        <p:cTn id="14" dur="500" fill="hold"/>
                                        <p:tgtEl>
                                          <p:spTgt spid="2253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534"/>
                                        </p:tgtEl>
                                        <p:attrNameLst>
                                          <p:attrName>style.visibility</p:attrName>
                                        </p:attrNameLst>
                                      </p:cBhvr>
                                      <p:to>
                                        <p:strVal val="visible"/>
                                      </p:to>
                                    </p:set>
                                    <p:anim calcmode="lin" valueType="num">
                                      <p:cBhvr additive="base">
                                        <p:cTn id="19" dur="500" fill="hold"/>
                                        <p:tgtEl>
                                          <p:spTgt spid="22534"/>
                                        </p:tgtEl>
                                        <p:attrNameLst>
                                          <p:attrName>ppt_x</p:attrName>
                                        </p:attrNameLst>
                                      </p:cBhvr>
                                      <p:tavLst>
                                        <p:tav tm="0">
                                          <p:val>
                                            <p:strVal val="0-#ppt_w/2"/>
                                          </p:val>
                                        </p:tav>
                                        <p:tav tm="100000">
                                          <p:val>
                                            <p:strVal val="#ppt_x"/>
                                          </p:val>
                                        </p:tav>
                                      </p:tavLst>
                                    </p:anim>
                                    <p:anim calcmode="lin" valueType="num">
                                      <p:cBhvr additive="base">
                                        <p:cTn id="20" dur="500" fill="hold"/>
                                        <p:tgtEl>
                                          <p:spTgt spid="2253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535"/>
                                        </p:tgtEl>
                                        <p:attrNameLst>
                                          <p:attrName>style.visibility</p:attrName>
                                        </p:attrNameLst>
                                      </p:cBhvr>
                                      <p:to>
                                        <p:strVal val="visible"/>
                                      </p:to>
                                    </p:set>
                                    <p:anim calcmode="lin" valueType="num">
                                      <p:cBhvr additive="base">
                                        <p:cTn id="25" dur="500" fill="hold"/>
                                        <p:tgtEl>
                                          <p:spTgt spid="22535"/>
                                        </p:tgtEl>
                                        <p:attrNameLst>
                                          <p:attrName>ppt_x</p:attrName>
                                        </p:attrNameLst>
                                      </p:cBhvr>
                                      <p:tavLst>
                                        <p:tav tm="0">
                                          <p:val>
                                            <p:strVal val="0-#ppt_w/2"/>
                                          </p:val>
                                        </p:tav>
                                        <p:tav tm="100000">
                                          <p:val>
                                            <p:strVal val="#ppt_x"/>
                                          </p:val>
                                        </p:tav>
                                      </p:tavLst>
                                    </p:anim>
                                    <p:anim calcmode="lin" valueType="num">
                                      <p:cBhvr additive="base">
                                        <p:cTn id="26" dur="500" fill="hold"/>
                                        <p:tgtEl>
                                          <p:spTgt spid="225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autoUpdateAnimBg="0"/>
      <p:bldP spid="22531" grpId="0" autoUpdateAnimBg="0"/>
      <p:bldP spid="22534" grpId="0" autoUpdateAnimBg="0"/>
      <p:bldP spid="22535"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Text Box 3"/>
          <p:cNvSpPr txBox="1">
            <a:spLocks noChangeArrowheads="1"/>
          </p:cNvSpPr>
          <p:nvPr/>
        </p:nvSpPr>
        <p:spPr bwMode="auto">
          <a:xfrm>
            <a:off x="1258888" y="895350"/>
            <a:ext cx="7153275" cy="6062663"/>
          </a:xfrm>
          <a:prstGeom prst="rect">
            <a:avLst/>
          </a:prstGeom>
          <a:noFill/>
          <a:ln>
            <a:noFill/>
          </a:ln>
          <a:effectLs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spcBef>
                <a:spcPct val="50000"/>
              </a:spcBef>
              <a:defRPr/>
            </a:pPr>
            <a:r>
              <a:rPr lang="tr-TR" sz="2800" b="1" dirty="0" smtClean="0"/>
              <a:t>Toplantı yapmanın yararları şunlardır</a:t>
            </a:r>
            <a:r>
              <a:rPr lang="tr-TR" b="1" dirty="0" smtClean="0"/>
              <a:t>:</a:t>
            </a:r>
          </a:p>
          <a:p>
            <a:pPr marL="342900" indent="-342900" eaLnBrk="1" hangingPunct="1">
              <a:spcBef>
                <a:spcPct val="50000"/>
              </a:spcBef>
              <a:buFont typeface="Arial" pitchFamily="34" charset="0"/>
              <a:buChar char="•"/>
              <a:defRPr/>
            </a:pPr>
            <a:r>
              <a:rPr lang="tr-TR" dirty="0" smtClean="0"/>
              <a:t>İş arkadaşlarınızla muhabbet edersiniz</a:t>
            </a:r>
          </a:p>
          <a:p>
            <a:pPr marL="342900" indent="-342900" eaLnBrk="1" hangingPunct="1">
              <a:spcBef>
                <a:spcPct val="50000"/>
              </a:spcBef>
              <a:buFont typeface="Arial" pitchFamily="34" charset="0"/>
              <a:buChar char="•"/>
              <a:defRPr/>
            </a:pPr>
            <a:r>
              <a:rPr lang="tr-TR" dirty="0" smtClean="0"/>
              <a:t>Dilediğiniz kadar çay içersiniz</a:t>
            </a:r>
          </a:p>
          <a:p>
            <a:pPr marL="342900" indent="-342900" eaLnBrk="1" hangingPunct="1">
              <a:spcBef>
                <a:spcPct val="50000"/>
              </a:spcBef>
              <a:buFont typeface="Arial" pitchFamily="34" charset="0"/>
              <a:buChar char="•"/>
              <a:defRPr/>
            </a:pPr>
            <a:r>
              <a:rPr lang="tr-TR" dirty="0" smtClean="0"/>
              <a:t>Rahatsız edilmeden uyursunuz</a:t>
            </a:r>
          </a:p>
          <a:p>
            <a:pPr marL="342900" indent="-342900" eaLnBrk="1" hangingPunct="1">
              <a:spcBef>
                <a:spcPct val="50000"/>
              </a:spcBef>
              <a:buFont typeface="Arial" pitchFamily="34" charset="0"/>
              <a:buChar char="•"/>
              <a:defRPr/>
            </a:pPr>
            <a:r>
              <a:rPr lang="tr-TR" dirty="0" smtClean="0"/>
              <a:t>Karar vermenin zevkine varırsınız</a:t>
            </a:r>
          </a:p>
          <a:p>
            <a:pPr marL="342900" indent="-342900" eaLnBrk="1" hangingPunct="1">
              <a:spcBef>
                <a:spcPct val="50000"/>
              </a:spcBef>
              <a:buFont typeface="Arial" pitchFamily="34" charset="0"/>
              <a:buChar char="•"/>
              <a:defRPr/>
            </a:pPr>
            <a:r>
              <a:rPr lang="tr-TR" dirty="0" smtClean="0"/>
              <a:t>Anlamsız karalamalar yaparsınız</a:t>
            </a:r>
          </a:p>
          <a:p>
            <a:pPr marL="342900" indent="-342900" eaLnBrk="1" hangingPunct="1">
              <a:spcBef>
                <a:spcPct val="50000"/>
              </a:spcBef>
              <a:buFont typeface="Arial" pitchFamily="34" charset="0"/>
              <a:buChar char="•"/>
              <a:defRPr/>
            </a:pPr>
            <a:r>
              <a:rPr lang="tr-TR" dirty="0" smtClean="0"/>
              <a:t>Bir daha hiç bakmayacağınız notlar alırsınız</a:t>
            </a:r>
          </a:p>
          <a:p>
            <a:pPr marL="342900" indent="-342900" eaLnBrk="1" hangingPunct="1">
              <a:spcBef>
                <a:spcPct val="50000"/>
              </a:spcBef>
              <a:buFont typeface="Arial" pitchFamily="34" charset="0"/>
              <a:buChar char="•"/>
              <a:defRPr/>
            </a:pPr>
            <a:r>
              <a:rPr lang="tr-TR" dirty="0" smtClean="0"/>
              <a:t>Kendinizi önemli hissedersiniz</a:t>
            </a:r>
          </a:p>
          <a:p>
            <a:pPr marL="342900" indent="-342900" eaLnBrk="1" hangingPunct="1">
              <a:spcBef>
                <a:spcPct val="50000"/>
              </a:spcBef>
              <a:buFont typeface="Arial" pitchFamily="34" charset="0"/>
              <a:buChar char="•"/>
              <a:defRPr/>
            </a:pPr>
            <a:r>
              <a:rPr lang="tr-TR" dirty="0" smtClean="0"/>
              <a:t>İş arkadaşınızın canını sıkarsınız</a:t>
            </a:r>
          </a:p>
          <a:p>
            <a:pPr eaLnBrk="1" hangingPunct="1">
              <a:spcBef>
                <a:spcPct val="50000"/>
              </a:spcBef>
              <a:defRPr/>
            </a:pPr>
            <a:r>
              <a:rPr lang="tr-TR" dirty="0" smtClean="0"/>
              <a:t>Üstelik tüm bunları </a:t>
            </a:r>
            <a:r>
              <a:rPr lang="tr-TR" sz="3200" dirty="0" smtClean="0"/>
              <a:t>Çalışma saatleri </a:t>
            </a:r>
            <a:r>
              <a:rPr lang="tr-TR" dirty="0" smtClean="0"/>
              <a:t>içinde yaparsınız…</a:t>
            </a:r>
          </a:p>
        </p:txBody>
      </p:sp>
      <p:sp>
        <p:nvSpPr>
          <p:cNvPr id="5123" name="Slayt Numarası Yer Tutucusu 2"/>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B74D4352-6058-46F9-A080-E5411188CA8A}" type="slidenum">
              <a:rPr lang="tr-TR" altLang="tr-TR" sz="1400">
                <a:solidFill>
                  <a:schemeClr val="bg2"/>
                </a:solidFill>
              </a:rPr>
              <a:pPr eaLnBrk="1" hangingPunct="1"/>
              <a:t>3</a:t>
            </a:fld>
            <a:endParaRPr lang="tr-TR" altLang="tr-TR" sz="1400">
              <a:solidFill>
                <a:schemeClr val="bg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555"/>
                                        </p:tgtEl>
                                        <p:attrNameLst>
                                          <p:attrName>style.visibility</p:attrName>
                                        </p:attrNameLst>
                                      </p:cBhvr>
                                      <p:to>
                                        <p:strVal val="visible"/>
                                      </p:to>
                                    </p:set>
                                    <p:anim calcmode="lin" valueType="num">
                                      <p:cBhvr additive="base">
                                        <p:cTn id="7" dur="500" fill="hold"/>
                                        <p:tgtEl>
                                          <p:spTgt spid="23555"/>
                                        </p:tgtEl>
                                        <p:attrNameLst>
                                          <p:attrName>ppt_x</p:attrName>
                                        </p:attrNameLst>
                                      </p:cBhvr>
                                      <p:tavLst>
                                        <p:tav tm="0">
                                          <p:val>
                                            <p:strVal val="0-#ppt_w/2"/>
                                          </p:val>
                                        </p:tav>
                                        <p:tav tm="100000">
                                          <p:val>
                                            <p:strVal val="#ppt_x"/>
                                          </p:val>
                                        </p:tav>
                                      </p:tavLst>
                                    </p:anim>
                                    <p:anim calcmode="lin" valueType="num">
                                      <p:cBhvr additive="base">
                                        <p:cTn id="8" dur="500" fill="hold"/>
                                        <p:tgtEl>
                                          <p:spTgt spid="235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lgn="ctr" eaLnBrk="1" hangingPunct="1"/>
            <a:r>
              <a:rPr lang="tr-TR" altLang="tr-TR" smtClean="0"/>
              <a:t>GİRİŞ</a:t>
            </a:r>
          </a:p>
        </p:txBody>
      </p:sp>
      <p:sp>
        <p:nvSpPr>
          <p:cNvPr id="6147"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C6F1D3BF-E410-411C-AAE2-881F0C90797F}" type="slidenum">
              <a:rPr lang="tr-TR" altLang="tr-TR" sz="1400">
                <a:solidFill>
                  <a:schemeClr val="bg2"/>
                </a:solidFill>
              </a:rPr>
              <a:pPr eaLnBrk="1" hangingPunct="1"/>
              <a:t>4</a:t>
            </a:fld>
            <a:endParaRPr lang="tr-TR" altLang="tr-TR" sz="1400">
              <a:solidFill>
                <a:schemeClr val="bg2"/>
              </a:solidFill>
            </a:endParaRPr>
          </a:p>
        </p:txBody>
      </p:sp>
      <p:sp>
        <p:nvSpPr>
          <p:cNvPr id="6148" name="Text Box 3"/>
          <p:cNvSpPr txBox="1">
            <a:spLocks noChangeArrowheads="1"/>
          </p:cNvSpPr>
          <p:nvPr/>
        </p:nvSpPr>
        <p:spPr bwMode="auto">
          <a:xfrm>
            <a:off x="1600200" y="1828800"/>
            <a:ext cx="70104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tr-TR" altLang="tr-TR">
                <a:latin typeface="Times New Roman" panose="02020603050405020304" pitchFamily="18" charset="0"/>
                <a:cs typeface="Times New Roman" panose="02020603050405020304" pitchFamily="18" charset="0"/>
              </a:rPr>
              <a:t>Toplantıya, yönetimin iletişim ve eşgüdüm aracı olarak bakmak gerekir. Toplantı yönetimi, demokratik yönetimin bir gereğidir. Çağdaş toplumlarda demokratik- katılımcı yönetimi uygulamaya koymak üzere sıkça toplantı yapılır. </a:t>
            </a:r>
          </a:p>
        </p:txBody>
      </p:sp>
      <p:sp>
        <p:nvSpPr>
          <p:cNvPr id="6149" name="Text Box 4"/>
          <p:cNvSpPr txBox="1">
            <a:spLocks noChangeArrowheads="1"/>
          </p:cNvSpPr>
          <p:nvPr/>
        </p:nvSpPr>
        <p:spPr bwMode="auto">
          <a:xfrm>
            <a:off x="1476375" y="3860800"/>
            <a:ext cx="71628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tr-TR" altLang="tr-TR">
                <a:latin typeface="Times New Roman" panose="02020603050405020304" pitchFamily="18" charset="0"/>
                <a:cs typeface="Times New Roman" panose="02020603050405020304" pitchFamily="18" charset="0"/>
              </a:rPr>
              <a:t>Yönetimde görüş birliği  sağlamanın en önemli yollarından biri toplantı yönetimidir. Ayrıca toplantı güzel ve etkili bir iletişim ve etkileşim aracıdır; çok sesliği, farklılığı sağlamanın bir yoludur.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286000" y="2274888"/>
            <a:ext cx="4572000" cy="3046412"/>
          </a:xfrm>
          <a:prstGeom prst="rect">
            <a:avLst/>
          </a:prstGeom>
        </p:spPr>
        <p:txBody>
          <a:bodyPr>
            <a:spAutoFit/>
          </a:bodyPr>
          <a:lstStyle/>
          <a:p>
            <a:pPr>
              <a:defRPr/>
            </a:pPr>
            <a:r>
              <a:rPr lang="tr-TR" b="1" dirty="0">
                <a:latin typeface="Arial" charset="0"/>
              </a:rPr>
              <a:t>Toplantı ;</a:t>
            </a:r>
          </a:p>
          <a:p>
            <a:pPr>
              <a:defRPr/>
            </a:pPr>
            <a:endParaRPr lang="tr-TR" dirty="0">
              <a:latin typeface="Arial" charset="0"/>
            </a:endParaRPr>
          </a:p>
          <a:p>
            <a:pPr marL="342900" indent="-342900">
              <a:buFont typeface="Arial" pitchFamily="34" charset="0"/>
              <a:buChar char="•"/>
              <a:defRPr/>
            </a:pPr>
            <a:r>
              <a:rPr lang="tr-TR" dirty="0">
                <a:latin typeface="Arial" charset="0"/>
              </a:rPr>
              <a:t>İnsanların amaçlı toplanması,</a:t>
            </a:r>
          </a:p>
          <a:p>
            <a:pPr marL="342900" indent="-342900">
              <a:buFont typeface="Arial" pitchFamily="34" charset="0"/>
              <a:buChar char="•"/>
              <a:defRPr/>
            </a:pPr>
            <a:r>
              <a:rPr lang="tr-TR" dirty="0">
                <a:latin typeface="Arial" charset="0"/>
              </a:rPr>
              <a:t>Amaca dönük  bir iş oturumu ,</a:t>
            </a:r>
          </a:p>
          <a:p>
            <a:pPr marL="342900" indent="-342900">
              <a:buFont typeface="Arial" pitchFamily="34" charset="0"/>
              <a:buChar char="•"/>
              <a:defRPr/>
            </a:pPr>
            <a:r>
              <a:rPr lang="tr-TR" dirty="0">
                <a:latin typeface="Arial" charset="0"/>
              </a:rPr>
              <a:t>Ortak zamanın üretken  kullanımı,</a:t>
            </a:r>
          </a:p>
          <a:p>
            <a:pPr marL="342900" indent="-342900">
              <a:buFont typeface="Arial" pitchFamily="34" charset="0"/>
              <a:buChar char="•"/>
              <a:defRPr/>
            </a:pPr>
            <a:r>
              <a:rPr lang="tr-TR" dirty="0">
                <a:latin typeface="Arial" charset="0"/>
              </a:rPr>
              <a:t>İşbirlikçi bir grup çabasıdır. </a:t>
            </a:r>
            <a:endParaRPr lang="en-US" dirty="0">
              <a:latin typeface="Arial" charset="0"/>
            </a:endParaRPr>
          </a:p>
        </p:txBody>
      </p:sp>
      <p:sp>
        <p:nvSpPr>
          <p:cNvPr id="7171" name="Slayt Numarası Yer Tutucusu 2"/>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73574859-FBA7-4E96-B995-1AF3187EDFE2}" type="slidenum">
              <a:rPr lang="tr-TR" altLang="tr-TR" sz="1400">
                <a:solidFill>
                  <a:schemeClr val="bg2"/>
                </a:solidFill>
              </a:rPr>
              <a:pPr eaLnBrk="1" hangingPunct="1"/>
              <a:t>5</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838200" y="1268413"/>
            <a:ext cx="7772400" cy="495300"/>
          </a:xfrm>
        </p:spPr>
        <p:txBody>
          <a:bodyPr/>
          <a:lstStyle/>
          <a:p>
            <a:pPr algn="ctr" eaLnBrk="1" hangingPunct="1"/>
            <a:r>
              <a:rPr lang="tr-TR" altLang="tr-TR" sz="3600" b="1" smtClean="0"/>
              <a:t>Toplantı Yapılması Nedenleri</a:t>
            </a:r>
            <a:r>
              <a:rPr lang="tr-TR" altLang="tr-TR" b="1" smtClean="0"/>
              <a:t/>
            </a:r>
            <a:br>
              <a:rPr lang="tr-TR" altLang="tr-TR" b="1" smtClean="0"/>
            </a:br>
            <a:endParaRPr lang="tr-TR" altLang="tr-TR" b="1" smtClean="0"/>
          </a:p>
        </p:txBody>
      </p:sp>
      <p:sp>
        <p:nvSpPr>
          <p:cNvPr id="8195"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7E04276A-8991-4816-98CF-8055BB61545B}" type="slidenum">
              <a:rPr lang="tr-TR" altLang="tr-TR" sz="1400">
                <a:solidFill>
                  <a:schemeClr val="bg2"/>
                </a:solidFill>
              </a:rPr>
              <a:pPr eaLnBrk="1" hangingPunct="1"/>
              <a:t>6</a:t>
            </a:fld>
            <a:endParaRPr lang="tr-TR" altLang="tr-TR" sz="1400">
              <a:solidFill>
                <a:schemeClr val="bg2"/>
              </a:solidFill>
            </a:endParaRPr>
          </a:p>
        </p:txBody>
      </p:sp>
      <p:sp>
        <p:nvSpPr>
          <p:cNvPr id="8196" name="Text Box 3"/>
          <p:cNvSpPr txBox="1">
            <a:spLocks noChangeArrowheads="1"/>
          </p:cNvSpPr>
          <p:nvPr/>
        </p:nvSpPr>
        <p:spPr bwMode="auto">
          <a:xfrm>
            <a:off x="1371600" y="2349500"/>
            <a:ext cx="7239000" cy="502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tr-TR" altLang="tr-TR" b="1">
                <a:latin typeface="Times New Roman" panose="02020603050405020304" pitchFamily="18" charset="0"/>
                <a:cs typeface="Times New Roman" panose="02020603050405020304" pitchFamily="18" charset="0"/>
              </a:rPr>
              <a:t>Toplantılar aşağıda belirtilen amaç ya da amaçlarla yapılır ( Açıkgöz 1994):</a:t>
            </a:r>
          </a:p>
          <a:p>
            <a:pPr eaLnBrk="1" hangingPunct="1">
              <a:spcBef>
                <a:spcPct val="50000"/>
              </a:spcBef>
              <a:buFontTx/>
              <a:buChar char="•"/>
            </a:pPr>
            <a:r>
              <a:rPr lang="tr-TR" altLang="tr-TR" b="1">
                <a:latin typeface="Times New Roman" panose="02020603050405020304" pitchFamily="18" charset="0"/>
                <a:cs typeface="Times New Roman" panose="02020603050405020304" pitchFamily="18" charset="0"/>
              </a:rPr>
              <a:t>Bir bilgi almak ya da vermek,</a:t>
            </a:r>
          </a:p>
          <a:p>
            <a:pPr eaLnBrk="1" hangingPunct="1">
              <a:spcBef>
                <a:spcPct val="50000"/>
              </a:spcBef>
              <a:buFontTx/>
              <a:buChar char="•"/>
            </a:pPr>
            <a:r>
              <a:rPr lang="tr-TR" altLang="tr-TR" b="1">
                <a:latin typeface="Times New Roman" panose="02020603050405020304" pitchFamily="18" charset="0"/>
                <a:cs typeface="Times New Roman" panose="02020603050405020304" pitchFamily="18" charset="0"/>
              </a:rPr>
              <a:t>Bir konuda karar almak,</a:t>
            </a:r>
          </a:p>
          <a:p>
            <a:pPr eaLnBrk="1" hangingPunct="1">
              <a:spcBef>
                <a:spcPct val="50000"/>
              </a:spcBef>
              <a:buFontTx/>
              <a:buChar char="•"/>
            </a:pPr>
            <a:r>
              <a:rPr lang="tr-TR" altLang="tr-TR" b="1">
                <a:latin typeface="Times New Roman" panose="02020603050405020304" pitchFamily="18" charset="0"/>
                <a:cs typeface="Times New Roman" panose="02020603050405020304" pitchFamily="18" charset="0"/>
              </a:rPr>
              <a:t>Bir sorunu tanımlamak, çözümlemek ya da çözüm getirmek,</a:t>
            </a:r>
          </a:p>
          <a:p>
            <a:pPr eaLnBrk="1" hangingPunct="1">
              <a:spcBef>
                <a:spcPct val="50000"/>
              </a:spcBef>
              <a:buFontTx/>
              <a:buChar char="•"/>
            </a:pPr>
            <a:r>
              <a:rPr lang="tr-TR" altLang="tr-TR" b="1">
                <a:latin typeface="Times New Roman" panose="02020603050405020304" pitchFamily="18" charset="0"/>
                <a:cs typeface="Times New Roman" panose="02020603050405020304" pitchFamily="18" charset="0"/>
              </a:rPr>
              <a:t>Çatışmaları çözmek</a:t>
            </a:r>
          </a:p>
          <a:p>
            <a:pPr eaLnBrk="1" hangingPunct="1">
              <a:spcBef>
                <a:spcPct val="50000"/>
              </a:spcBef>
              <a:buFontTx/>
              <a:buChar char="•"/>
            </a:pPr>
            <a:r>
              <a:rPr lang="tr-TR" altLang="tr-TR" b="1">
                <a:latin typeface="Times New Roman" panose="02020603050405020304" pitchFamily="18" charset="0"/>
                <a:cs typeface="Times New Roman" panose="02020603050405020304" pitchFamily="18" charset="0"/>
              </a:rPr>
              <a:t>Önemli durumlarla ilgili duyguları vurgulamak</a:t>
            </a:r>
          </a:p>
          <a:p>
            <a:pPr eaLnBrk="1" hangingPunct="1">
              <a:spcBef>
                <a:spcPct val="50000"/>
              </a:spcBef>
            </a:pPr>
            <a:r>
              <a:rPr lang="tr-TR" altLang="tr-TR">
                <a:latin typeface="Times New Roman" panose="02020603050405020304" pitchFamily="18" charset="0"/>
                <a:cs typeface="Times New Roman" panose="02020603050405020304" pitchFamily="18" charset="0"/>
              </a:rPr>
              <a:t> </a:t>
            </a:r>
          </a:p>
          <a:p>
            <a:pPr eaLnBrk="1" hangingPunct="1">
              <a:spcBef>
                <a:spcPct val="50000"/>
              </a:spcBef>
            </a:pPr>
            <a:endParaRPr lang="tr-TR" altLang="tr-TR">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Dikdörtgen 1"/>
          <p:cNvSpPr>
            <a:spLocks noChangeArrowheads="1"/>
          </p:cNvSpPr>
          <p:nvPr/>
        </p:nvSpPr>
        <p:spPr bwMode="auto">
          <a:xfrm>
            <a:off x="2286000" y="1536700"/>
            <a:ext cx="4572000" cy="4894263"/>
          </a:xfrm>
          <a:prstGeom prst="rect">
            <a:avLst/>
          </a:prstGeom>
          <a:noFill/>
          <a:ln>
            <a:noFill/>
          </a:ln>
          <a:extLst/>
        </p:spPr>
        <p:txBody>
          <a:bodyPr>
            <a:spAutoFit/>
          </a:bodyPr>
          <a:lstStyle/>
          <a:p>
            <a:pPr>
              <a:defRPr/>
            </a:pPr>
            <a:r>
              <a:rPr lang="tr-TR" b="1" dirty="0">
                <a:latin typeface="Arial" charset="0"/>
              </a:rPr>
              <a:t>İnsanlar en iyi ;</a:t>
            </a:r>
          </a:p>
          <a:p>
            <a:pPr marL="342900" indent="-342900">
              <a:buFont typeface="Arial" pitchFamily="34" charset="0"/>
              <a:buChar char="•"/>
              <a:defRPr/>
            </a:pPr>
            <a:r>
              <a:rPr lang="tr-TR" dirty="0">
                <a:latin typeface="Arial" charset="0"/>
              </a:rPr>
              <a:t>enformasyonla etkileşimle,</a:t>
            </a:r>
          </a:p>
          <a:p>
            <a:pPr marL="342900" indent="-342900">
              <a:buFont typeface="Arial" pitchFamily="34" charset="0"/>
              <a:buChar char="•"/>
              <a:defRPr/>
            </a:pPr>
            <a:r>
              <a:rPr lang="tr-TR" dirty="0">
                <a:latin typeface="Arial" charset="0"/>
              </a:rPr>
              <a:t>Tartışmayla,</a:t>
            </a:r>
          </a:p>
          <a:p>
            <a:pPr marL="342900" indent="-342900">
              <a:buFont typeface="Arial" pitchFamily="34" charset="0"/>
              <a:buChar char="•"/>
              <a:defRPr/>
            </a:pPr>
            <a:r>
              <a:rPr lang="tr-TR" dirty="0">
                <a:latin typeface="Arial" charset="0"/>
              </a:rPr>
              <a:t>Birinci elden denemeyle, öğrenirler.</a:t>
            </a:r>
          </a:p>
          <a:p>
            <a:pPr>
              <a:defRPr/>
            </a:pPr>
            <a:r>
              <a:rPr lang="tr-TR" b="1" dirty="0">
                <a:latin typeface="Arial" charset="0"/>
              </a:rPr>
              <a:t>İnsanlar; </a:t>
            </a:r>
          </a:p>
          <a:p>
            <a:pPr marL="342900" indent="-342900">
              <a:buFont typeface="Arial" pitchFamily="34" charset="0"/>
              <a:buChar char="•"/>
              <a:defRPr/>
            </a:pPr>
            <a:r>
              <a:rPr lang="tr-TR" dirty="0">
                <a:latin typeface="Arial" charset="0"/>
              </a:rPr>
              <a:t>İşittiklerinin </a:t>
            </a:r>
            <a:r>
              <a:rPr lang="en-US" dirty="0">
                <a:latin typeface="Arial" charset="0"/>
              </a:rPr>
              <a:t>20% </a:t>
            </a:r>
            <a:r>
              <a:rPr lang="tr-TR" dirty="0">
                <a:latin typeface="Arial" charset="0"/>
              </a:rPr>
              <a:t>‘sini,</a:t>
            </a:r>
          </a:p>
          <a:p>
            <a:pPr marL="342900" indent="-342900">
              <a:buFont typeface="Arial" pitchFamily="34" charset="0"/>
              <a:buChar char="•"/>
              <a:defRPr/>
            </a:pPr>
            <a:r>
              <a:rPr lang="tr-TR" dirty="0">
                <a:latin typeface="Arial" charset="0"/>
              </a:rPr>
              <a:t>Gördüklerinin  </a:t>
            </a:r>
            <a:r>
              <a:rPr lang="en-US" dirty="0">
                <a:latin typeface="Arial" charset="0"/>
              </a:rPr>
              <a:t>30%</a:t>
            </a:r>
            <a:r>
              <a:rPr lang="tr-TR" dirty="0">
                <a:latin typeface="Arial" charset="0"/>
              </a:rPr>
              <a:t>’nu, </a:t>
            </a:r>
          </a:p>
          <a:p>
            <a:pPr marL="342900" indent="-342900">
              <a:buFont typeface="Arial" pitchFamily="34" charset="0"/>
              <a:buChar char="•"/>
              <a:defRPr/>
            </a:pPr>
            <a:r>
              <a:rPr lang="tr-TR" dirty="0">
                <a:latin typeface="Arial" charset="0"/>
              </a:rPr>
              <a:t>İşittikleri ve gördüklerinin </a:t>
            </a:r>
            <a:r>
              <a:rPr lang="en-US" dirty="0">
                <a:latin typeface="Arial" charset="0"/>
              </a:rPr>
              <a:t>50% </a:t>
            </a:r>
            <a:r>
              <a:rPr lang="tr-TR" dirty="0">
                <a:latin typeface="Arial" charset="0"/>
              </a:rPr>
              <a:t>‘sini ,</a:t>
            </a:r>
          </a:p>
          <a:p>
            <a:pPr marL="342900" indent="-342900">
              <a:buFont typeface="Arial" pitchFamily="34" charset="0"/>
              <a:buChar char="•"/>
              <a:defRPr/>
            </a:pPr>
            <a:r>
              <a:rPr lang="tr-TR" dirty="0">
                <a:latin typeface="Arial" charset="0"/>
              </a:rPr>
              <a:t>İşittikleri, gördükleri  ve denediklerinin </a:t>
            </a:r>
            <a:r>
              <a:rPr lang="en-US" dirty="0">
                <a:latin typeface="Arial" charset="0"/>
              </a:rPr>
              <a:t>80%</a:t>
            </a:r>
            <a:r>
              <a:rPr lang="tr-TR" dirty="0">
                <a:latin typeface="Arial" charset="0"/>
              </a:rPr>
              <a:t>’</a:t>
            </a:r>
            <a:r>
              <a:rPr lang="tr-TR" dirty="0" err="1">
                <a:latin typeface="Arial" charset="0"/>
              </a:rPr>
              <a:t>nini</a:t>
            </a:r>
            <a:r>
              <a:rPr lang="tr-TR" dirty="0">
                <a:latin typeface="Arial" charset="0"/>
              </a:rPr>
              <a:t> hatırlarlar. </a:t>
            </a:r>
            <a:endParaRPr lang="en-US" dirty="0">
              <a:latin typeface="Arial" charset="0"/>
            </a:endParaRPr>
          </a:p>
        </p:txBody>
      </p:sp>
      <p:sp>
        <p:nvSpPr>
          <p:cNvPr id="9219"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951D865F-5B03-4C17-8F00-17A81C0A6B7C}" type="slidenum">
              <a:rPr lang="tr-TR" altLang="tr-TR" sz="1400">
                <a:solidFill>
                  <a:schemeClr val="bg2"/>
                </a:solidFill>
              </a:rPr>
              <a:pPr eaLnBrk="1" hangingPunct="1"/>
              <a:t>7</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371600" y="381000"/>
            <a:ext cx="7772400" cy="1143000"/>
          </a:xfrm>
        </p:spPr>
        <p:txBody>
          <a:bodyPr/>
          <a:lstStyle/>
          <a:p>
            <a:pPr algn="ctr" eaLnBrk="1" hangingPunct="1"/>
            <a:r>
              <a:rPr lang="tr-TR" altLang="tr-TR" sz="3600" smtClean="0"/>
              <a:t/>
            </a:r>
            <a:br>
              <a:rPr lang="tr-TR" altLang="tr-TR" sz="3600" smtClean="0"/>
            </a:br>
            <a:r>
              <a:rPr lang="tr-TR" altLang="tr-TR" sz="3600" smtClean="0"/>
              <a:t>TOPLANTI TÜRLERİ</a:t>
            </a:r>
          </a:p>
        </p:txBody>
      </p:sp>
      <p:sp>
        <p:nvSpPr>
          <p:cNvPr id="10243"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21D55A36-4A41-4852-825F-731FEED400E8}" type="slidenum">
              <a:rPr lang="tr-TR" altLang="tr-TR" sz="1400">
                <a:solidFill>
                  <a:schemeClr val="bg2"/>
                </a:solidFill>
              </a:rPr>
              <a:pPr eaLnBrk="1" hangingPunct="1"/>
              <a:t>8</a:t>
            </a:fld>
            <a:endParaRPr lang="tr-TR" altLang="tr-TR" sz="1400">
              <a:solidFill>
                <a:schemeClr val="bg2"/>
              </a:solidFill>
            </a:endParaRPr>
          </a:p>
        </p:txBody>
      </p:sp>
      <p:sp>
        <p:nvSpPr>
          <p:cNvPr id="10244" name="Text Box 4"/>
          <p:cNvSpPr txBox="1">
            <a:spLocks noChangeArrowheads="1"/>
          </p:cNvSpPr>
          <p:nvPr/>
        </p:nvSpPr>
        <p:spPr bwMode="auto">
          <a:xfrm>
            <a:off x="1295400" y="1371600"/>
            <a:ext cx="74676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tr-TR" altLang="tr-TR">
                <a:latin typeface="Times New Roman" panose="02020603050405020304" pitchFamily="18" charset="0"/>
                <a:cs typeface="Times New Roman" panose="02020603050405020304" pitchFamily="18" charset="0"/>
              </a:rPr>
              <a:t> </a:t>
            </a:r>
            <a:r>
              <a:rPr lang="tr-TR" altLang="tr-TR" b="1">
                <a:latin typeface="Times New Roman" panose="02020603050405020304" pitchFamily="18" charset="0"/>
                <a:cs typeface="Times New Roman" panose="02020603050405020304" pitchFamily="18" charset="0"/>
              </a:rPr>
              <a:t>Toplantıları, bilimsel- eğitsel ve yönetsel toplantılar olmak üzere iki temel kategoride toplamak mümkün görülmektedir.</a:t>
            </a:r>
          </a:p>
          <a:p>
            <a:pPr eaLnBrk="1" hangingPunct="1">
              <a:spcBef>
                <a:spcPct val="50000"/>
              </a:spcBef>
            </a:pPr>
            <a:endParaRPr lang="tr-TR" altLang="tr-TR" b="1">
              <a:latin typeface="Times New Roman" panose="02020603050405020304" pitchFamily="18" charset="0"/>
            </a:endParaRPr>
          </a:p>
        </p:txBody>
      </p:sp>
      <p:sp>
        <p:nvSpPr>
          <p:cNvPr id="10245" name="Text Box 5"/>
          <p:cNvSpPr txBox="1">
            <a:spLocks noChangeArrowheads="1"/>
          </p:cNvSpPr>
          <p:nvPr/>
        </p:nvSpPr>
        <p:spPr bwMode="auto">
          <a:xfrm>
            <a:off x="1219200" y="2514600"/>
            <a:ext cx="6858000"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tr-TR" altLang="tr-TR" sz="4000" b="1">
                <a:latin typeface="Times New Roman" panose="02020603050405020304" pitchFamily="18" charset="0"/>
              </a:rPr>
              <a:t>Eğitsel – Bilimsel Toplantılar</a:t>
            </a:r>
            <a:r>
              <a:rPr lang="tr-TR" altLang="tr-TR" b="1">
                <a:latin typeface="Times New Roman" panose="02020603050405020304" pitchFamily="18" charset="0"/>
              </a:rPr>
              <a:t> </a:t>
            </a:r>
          </a:p>
          <a:p>
            <a:pPr eaLnBrk="1" hangingPunct="1">
              <a:spcBef>
                <a:spcPct val="50000"/>
              </a:spcBef>
              <a:buFontTx/>
              <a:buChar char="•"/>
            </a:pPr>
            <a:r>
              <a:rPr lang="tr-TR" altLang="tr-TR" b="1">
                <a:latin typeface="Times New Roman" panose="02020603050405020304" pitchFamily="18" charset="0"/>
              </a:rPr>
              <a:t> Küme tartışması,  </a:t>
            </a:r>
          </a:p>
          <a:p>
            <a:pPr eaLnBrk="1" hangingPunct="1">
              <a:spcBef>
                <a:spcPct val="50000"/>
              </a:spcBef>
              <a:buFontTx/>
              <a:buChar char="•"/>
            </a:pPr>
            <a:r>
              <a:rPr lang="tr-TR" altLang="tr-TR" b="1">
                <a:latin typeface="Times New Roman" panose="02020603050405020304" pitchFamily="18" charset="0"/>
              </a:rPr>
              <a:t>Vızıltılı oturum,</a:t>
            </a:r>
          </a:p>
          <a:p>
            <a:pPr eaLnBrk="1" hangingPunct="1">
              <a:spcBef>
                <a:spcPct val="50000"/>
              </a:spcBef>
              <a:buFontTx/>
              <a:buChar char="•"/>
            </a:pPr>
            <a:r>
              <a:rPr lang="tr-TR" altLang="tr-TR" b="1">
                <a:latin typeface="Times New Roman" panose="02020603050405020304" pitchFamily="18" charset="0"/>
              </a:rPr>
              <a:t>Açık oturum, </a:t>
            </a:r>
          </a:p>
          <a:p>
            <a:pPr eaLnBrk="1" hangingPunct="1">
              <a:spcBef>
                <a:spcPct val="50000"/>
              </a:spcBef>
              <a:buFontTx/>
              <a:buChar char="•"/>
            </a:pPr>
            <a:r>
              <a:rPr lang="tr-TR" altLang="tr-TR" b="1">
                <a:latin typeface="Times New Roman" panose="02020603050405020304" pitchFamily="18" charset="0"/>
              </a:rPr>
              <a:t>Seminer,</a:t>
            </a:r>
          </a:p>
          <a:p>
            <a:pPr eaLnBrk="1" hangingPunct="1">
              <a:spcBef>
                <a:spcPct val="50000"/>
              </a:spcBef>
              <a:buFontTx/>
              <a:buChar char="•"/>
            </a:pPr>
            <a:r>
              <a:rPr lang="tr-TR" altLang="tr-TR" b="1">
                <a:latin typeface="Times New Roman" panose="02020603050405020304" pitchFamily="18" charset="0"/>
              </a:rPr>
              <a:t>Sempozyum,  </a:t>
            </a:r>
          </a:p>
          <a:p>
            <a:pPr eaLnBrk="1" hangingPunct="1">
              <a:spcBef>
                <a:spcPct val="50000"/>
              </a:spcBef>
              <a:buFontTx/>
              <a:buChar char="•"/>
            </a:pPr>
            <a:r>
              <a:rPr lang="tr-TR" altLang="tr-TR" b="1">
                <a:latin typeface="Times New Roman" panose="02020603050405020304" pitchFamily="18" charset="0"/>
              </a:rPr>
              <a:t>Forum.</a:t>
            </a:r>
          </a:p>
          <a:p>
            <a:pPr eaLnBrk="1" hangingPunct="1">
              <a:spcBef>
                <a:spcPct val="50000"/>
              </a:spcBef>
              <a:buFontTx/>
              <a:buChar char="•"/>
            </a:pPr>
            <a:endParaRPr lang="tr-TR" altLang="tr-TR" b="1">
              <a:latin typeface="Times New Roman" panose="02020603050405020304" pitchFamily="18" charset="0"/>
            </a:endParaRPr>
          </a:p>
          <a:p>
            <a:pPr eaLnBrk="1" hangingPunct="1">
              <a:spcBef>
                <a:spcPct val="50000"/>
              </a:spcBef>
            </a:pPr>
            <a:endParaRPr lang="tr-TR" altLang="tr-TR" b="1">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tr-TR" altLang="tr-TR" smtClean="0"/>
              <a:t>Yönetsel Toplantılar</a:t>
            </a:r>
          </a:p>
        </p:txBody>
      </p:sp>
      <p:sp>
        <p:nvSpPr>
          <p:cNvPr id="11267"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C17BA3F8-11CC-4B73-9178-E09864A7CD27}" type="slidenum">
              <a:rPr lang="tr-TR" altLang="tr-TR" sz="1400">
                <a:solidFill>
                  <a:schemeClr val="bg2"/>
                </a:solidFill>
              </a:rPr>
              <a:pPr eaLnBrk="1" hangingPunct="1"/>
              <a:t>9</a:t>
            </a:fld>
            <a:endParaRPr lang="tr-TR" altLang="tr-TR" sz="1400">
              <a:solidFill>
                <a:schemeClr val="bg2"/>
              </a:solidFill>
            </a:endParaRPr>
          </a:p>
        </p:txBody>
      </p:sp>
      <p:sp>
        <p:nvSpPr>
          <p:cNvPr id="11268" name="Text Box 3"/>
          <p:cNvSpPr txBox="1">
            <a:spLocks noChangeArrowheads="1"/>
          </p:cNvSpPr>
          <p:nvPr/>
        </p:nvSpPr>
        <p:spPr bwMode="auto">
          <a:xfrm>
            <a:off x="2209800" y="1828800"/>
            <a:ext cx="65532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tr-TR" altLang="tr-TR" b="1">
                <a:latin typeface="Times New Roman" panose="02020603050405020304" pitchFamily="18" charset="0"/>
              </a:rPr>
              <a:t>Başlıca yönetsel toplantılar şunlardır:</a:t>
            </a:r>
          </a:p>
          <a:p>
            <a:pPr eaLnBrk="1" hangingPunct="1">
              <a:spcBef>
                <a:spcPct val="50000"/>
              </a:spcBef>
              <a:buFontTx/>
              <a:buChar char="•"/>
            </a:pPr>
            <a:r>
              <a:rPr lang="tr-TR" altLang="tr-TR" b="1">
                <a:latin typeface="Times New Roman" panose="02020603050405020304" pitchFamily="18" charset="0"/>
              </a:rPr>
              <a:t>Emir/ talimat toplantısı,</a:t>
            </a:r>
          </a:p>
          <a:p>
            <a:pPr eaLnBrk="1" hangingPunct="1">
              <a:spcBef>
                <a:spcPct val="50000"/>
              </a:spcBef>
              <a:buFontTx/>
              <a:buChar char="•"/>
            </a:pPr>
            <a:r>
              <a:rPr lang="tr-TR" altLang="tr-TR" b="1">
                <a:latin typeface="Times New Roman" panose="02020603050405020304" pitchFamily="18" charset="0"/>
              </a:rPr>
              <a:t>İstişare/ Bilgi alış verişi toplantısı,</a:t>
            </a:r>
          </a:p>
          <a:p>
            <a:pPr eaLnBrk="1" hangingPunct="1">
              <a:spcBef>
                <a:spcPct val="50000"/>
              </a:spcBef>
              <a:buFontTx/>
              <a:buChar char="•"/>
            </a:pPr>
            <a:r>
              <a:rPr lang="tr-TR" altLang="tr-TR" b="1">
                <a:latin typeface="Times New Roman" panose="02020603050405020304" pitchFamily="18" charset="0"/>
              </a:rPr>
              <a:t>Eşgüdümleme toplantısı,</a:t>
            </a:r>
          </a:p>
          <a:p>
            <a:pPr eaLnBrk="1" hangingPunct="1">
              <a:spcBef>
                <a:spcPct val="50000"/>
              </a:spcBef>
              <a:buFontTx/>
              <a:buChar char="•"/>
            </a:pPr>
            <a:r>
              <a:rPr lang="tr-TR" altLang="tr-TR" b="1">
                <a:latin typeface="Times New Roman" panose="02020603050405020304" pitchFamily="18" charset="0"/>
              </a:rPr>
              <a:t>Uzman toplantısı,</a:t>
            </a:r>
          </a:p>
          <a:p>
            <a:pPr eaLnBrk="1" hangingPunct="1">
              <a:spcBef>
                <a:spcPct val="50000"/>
              </a:spcBef>
              <a:buFontTx/>
              <a:buChar char="•"/>
            </a:pPr>
            <a:r>
              <a:rPr lang="tr-TR" altLang="tr-TR" b="1">
                <a:latin typeface="Times New Roman" panose="02020603050405020304" pitchFamily="18" charset="0"/>
              </a:rPr>
              <a:t>Kurul toplantısı</a:t>
            </a:r>
          </a:p>
          <a:p>
            <a:pPr eaLnBrk="1" hangingPunct="1">
              <a:spcBef>
                <a:spcPct val="50000"/>
              </a:spcBef>
              <a:buFontTx/>
              <a:buChar char="•"/>
            </a:pPr>
            <a:r>
              <a:rPr lang="tr-TR" altLang="tr-TR" b="1">
                <a:latin typeface="Times New Roman" panose="02020603050405020304" pitchFamily="18" charset="0"/>
              </a:rPr>
              <a:t>Pazarlık toplantısı</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143000" y="381000"/>
            <a:ext cx="7772400" cy="1143000"/>
          </a:xfrm>
        </p:spPr>
        <p:txBody>
          <a:bodyPr/>
          <a:lstStyle/>
          <a:p>
            <a:pPr algn="ctr" eaLnBrk="1" hangingPunct="1"/>
            <a:r>
              <a:rPr lang="tr-TR" altLang="tr-TR" sz="4000" b="1" smtClean="0">
                <a:cs typeface="Times New Roman" panose="02020603050405020304" pitchFamily="18" charset="0"/>
              </a:rPr>
              <a:t>Toplantı Düzenleme Yerleri</a:t>
            </a:r>
            <a:r>
              <a:rPr lang="tr-TR" altLang="tr-TR" smtClean="0"/>
              <a:t> </a:t>
            </a:r>
          </a:p>
        </p:txBody>
      </p:sp>
      <p:sp>
        <p:nvSpPr>
          <p:cNvPr id="12291"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CB9845C2-0165-4280-A0FA-6EF8E923D28F}" type="slidenum">
              <a:rPr lang="tr-TR" altLang="tr-TR" sz="1400">
                <a:solidFill>
                  <a:schemeClr val="bg2"/>
                </a:solidFill>
              </a:rPr>
              <a:pPr eaLnBrk="1" hangingPunct="1"/>
              <a:t>10</a:t>
            </a:fld>
            <a:endParaRPr lang="tr-TR" altLang="tr-TR" sz="1400">
              <a:solidFill>
                <a:schemeClr val="bg2"/>
              </a:solidFill>
            </a:endParaRPr>
          </a:p>
        </p:txBody>
      </p:sp>
      <p:sp>
        <p:nvSpPr>
          <p:cNvPr id="12292" name="Text Box 3"/>
          <p:cNvSpPr txBox="1">
            <a:spLocks noChangeArrowheads="1"/>
          </p:cNvSpPr>
          <p:nvPr/>
        </p:nvSpPr>
        <p:spPr bwMode="auto">
          <a:xfrm>
            <a:off x="1676400" y="1524000"/>
            <a:ext cx="7467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buFont typeface="Arial" panose="020B0604020202020204" pitchFamily="34" charset="0"/>
              <a:buChar char="•"/>
            </a:pPr>
            <a:r>
              <a:rPr lang="tr-TR" altLang="tr-TR" b="1">
                <a:latin typeface="Times New Roman" panose="02020603050405020304" pitchFamily="18" charset="0"/>
                <a:cs typeface="Times New Roman" panose="02020603050405020304" pitchFamily="18" charset="0"/>
              </a:rPr>
              <a:t>Toplantı yerleri ısı, ışık ve havalandırma bakımından uygun, üyeler arasında azmi etkileşimi sağlayıcı olmalıdır</a:t>
            </a:r>
            <a:r>
              <a:rPr lang="tr-TR" altLang="tr-TR">
                <a:latin typeface="Times New Roman" panose="02020603050405020304" pitchFamily="18" charset="0"/>
                <a:cs typeface="Times New Roman" panose="02020603050405020304" pitchFamily="18" charset="0"/>
              </a:rPr>
              <a:t>. </a:t>
            </a:r>
          </a:p>
        </p:txBody>
      </p:sp>
      <p:sp>
        <p:nvSpPr>
          <p:cNvPr id="12293" name="Text Box 4"/>
          <p:cNvSpPr txBox="1">
            <a:spLocks noChangeArrowheads="1"/>
          </p:cNvSpPr>
          <p:nvPr/>
        </p:nvSpPr>
        <p:spPr bwMode="auto">
          <a:xfrm>
            <a:off x="1676400" y="2743200"/>
            <a:ext cx="71628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buFont typeface="Arial" panose="020B0604020202020204" pitchFamily="34" charset="0"/>
              <a:buChar char="•"/>
            </a:pPr>
            <a:r>
              <a:rPr lang="tr-TR" altLang="tr-TR" b="1">
                <a:latin typeface="Times New Roman" panose="02020603050405020304" pitchFamily="18" charset="0"/>
                <a:cs typeface="Times New Roman" panose="02020603050405020304" pitchFamily="18" charset="0"/>
              </a:rPr>
              <a:t>Toplantı odasında  açık renkler hakim olmalı, içeriye çiçekler konulmalıdır. Toplantı odası gürültüden uzak mekanlar olmalıdır.  </a:t>
            </a:r>
          </a:p>
          <a:p>
            <a:pPr eaLnBrk="1" hangingPunct="1">
              <a:spcBef>
                <a:spcPct val="50000"/>
              </a:spcBef>
              <a:buFont typeface="Arial" panose="020B0604020202020204" pitchFamily="34" charset="0"/>
              <a:buChar char="•"/>
            </a:pPr>
            <a:r>
              <a:rPr lang="tr-TR" altLang="tr-TR" b="1">
                <a:latin typeface="Times New Roman" panose="02020603050405020304" pitchFamily="18" charset="0"/>
                <a:cs typeface="Times New Roman" panose="02020603050405020304" pitchFamily="18" charset="0"/>
              </a:rPr>
              <a:t>Toplantı odalarının dar ve uzun olması, koyu renklerin hakim olması toplantıya katılanları rahatsız eder.  Koltukların sabit ve ağır olmaları rahatsızlık yaratır.</a:t>
            </a:r>
          </a:p>
          <a:p>
            <a:pPr eaLnBrk="1" hangingPunct="1">
              <a:spcBef>
                <a:spcPct val="50000"/>
              </a:spcBef>
              <a:buFont typeface="Arial" panose="020B0604020202020204" pitchFamily="34" charset="0"/>
              <a:buChar char="•"/>
            </a:pPr>
            <a:endParaRPr lang="tr-TR" altLang="tr-TR" b="1">
              <a:latin typeface="Times New Roman" panose="02020603050405020304" pitchFamily="18" charset="0"/>
            </a:endParaRPr>
          </a:p>
        </p:txBody>
      </p:sp>
      <p:sp>
        <p:nvSpPr>
          <p:cNvPr id="12294" name="Text Box 5"/>
          <p:cNvSpPr txBox="1">
            <a:spLocks noChangeArrowheads="1"/>
          </p:cNvSpPr>
          <p:nvPr/>
        </p:nvSpPr>
        <p:spPr bwMode="auto">
          <a:xfrm>
            <a:off x="1600200" y="5562600"/>
            <a:ext cx="6705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buFont typeface="Arial" panose="020B0604020202020204" pitchFamily="34" charset="0"/>
              <a:buChar char="•"/>
            </a:pPr>
            <a:r>
              <a:rPr lang="tr-TR" altLang="tr-TR" b="1">
                <a:latin typeface="Times New Roman" panose="02020603050405020304" pitchFamily="18" charset="0"/>
                <a:cs typeface="Times New Roman" panose="02020603050405020304" pitchFamily="18" charset="0"/>
              </a:rPr>
              <a:t>Genelde uygun toplantı masası U şeklinde ya da dikdörtgen şeklinde olandır.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143000" y="228600"/>
            <a:ext cx="7239000" cy="2667000"/>
          </a:xfrm>
        </p:spPr>
        <p:txBody>
          <a:bodyPr/>
          <a:lstStyle/>
          <a:p>
            <a:pPr algn="ctr" eaLnBrk="1" hangingPunct="1"/>
            <a:endParaRPr lang="tr-TR" altLang="tr-TR" sz="2800" smtClean="0">
              <a:cs typeface="Times New Roman" panose="02020603050405020304" pitchFamily="18" charset="0"/>
            </a:endParaRPr>
          </a:p>
        </p:txBody>
      </p:sp>
      <p:sp>
        <p:nvSpPr>
          <p:cNvPr id="13315"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B9F8B24B-5103-4296-B65A-6E0045CFA497}" type="slidenum">
              <a:rPr lang="tr-TR" altLang="tr-TR" sz="1400">
                <a:solidFill>
                  <a:schemeClr val="bg2"/>
                </a:solidFill>
              </a:rPr>
              <a:pPr eaLnBrk="1" hangingPunct="1"/>
              <a:t>11</a:t>
            </a:fld>
            <a:endParaRPr lang="tr-TR" altLang="tr-TR" sz="1400">
              <a:solidFill>
                <a:schemeClr val="bg2"/>
              </a:solidFill>
            </a:endParaRPr>
          </a:p>
        </p:txBody>
      </p:sp>
      <p:sp>
        <p:nvSpPr>
          <p:cNvPr id="13316" name="Text Box 3"/>
          <p:cNvSpPr txBox="1">
            <a:spLocks noChangeArrowheads="1"/>
          </p:cNvSpPr>
          <p:nvPr/>
        </p:nvSpPr>
        <p:spPr bwMode="auto">
          <a:xfrm>
            <a:off x="1524000" y="2590800"/>
            <a:ext cx="7315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tr-TR" altLang="tr-TR" sz="2800" b="1">
                <a:solidFill>
                  <a:schemeClr val="tx2"/>
                </a:solidFill>
              </a:rPr>
              <a: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286000" y="2459038"/>
            <a:ext cx="6462713" cy="2678112"/>
          </a:xfrm>
          <a:prstGeom prst="rect">
            <a:avLst/>
          </a:prstGeom>
        </p:spPr>
        <p:txBody>
          <a:bodyPr>
            <a:spAutoFit/>
          </a:bodyPr>
          <a:lstStyle/>
          <a:p>
            <a:pPr>
              <a:defRPr/>
            </a:pPr>
            <a:r>
              <a:rPr lang="tr-TR" sz="3200" b="1" dirty="0">
                <a:latin typeface="Arial" charset="0"/>
              </a:rPr>
              <a:t>Toplantının  Gerektirdikleri</a:t>
            </a:r>
          </a:p>
          <a:p>
            <a:pPr marL="342900" indent="-342900">
              <a:buFont typeface="Arial" pitchFamily="34" charset="0"/>
              <a:buChar char="•"/>
              <a:defRPr/>
            </a:pPr>
            <a:endParaRPr lang="tr-TR" dirty="0">
              <a:latin typeface="Arial" charset="0"/>
            </a:endParaRPr>
          </a:p>
          <a:p>
            <a:pPr marL="342900" indent="-342900">
              <a:buFont typeface="Arial" pitchFamily="34" charset="0"/>
              <a:buChar char="•"/>
              <a:defRPr/>
            </a:pPr>
            <a:r>
              <a:rPr lang="tr-TR" sz="2800" dirty="0">
                <a:latin typeface="Arial" charset="0"/>
              </a:rPr>
              <a:t>Yapı</a:t>
            </a:r>
            <a:endParaRPr lang="en-US" sz="2800" dirty="0">
              <a:latin typeface="Arial" charset="0"/>
            </a:endParaRPr>
          </a:p>
          <a:p>
            <a:pPr marL="342900" indent="-342900">
              <a:buFont typeface="Arial" pitchFamily="34" charset="0"/>
              <a:buChar char="•"/>
              <a:defRPr/>
            </a:pPr>
            <a:r>
              <a:rPr lang="en-US" sz="2800" dirty="0">
                <a:latin typeface="Arial" charset="0"/>
              </a:rPr>
              <a:t>Plan</a:t>
            </a:r>
          </a:p>
          <a:p>
            <a:pPr marL="342900" indent="-342900">
              <a:buFont typeface="Arial" pitchFamily="34" charset="0"/>
              <a:buChar char="•"/>
              <a:defRPr/>
            </a:pPr>
            <a:r>
              <a:rPr lang="tr-TR" sz="2800" dirty="0">
                <a:latin typeface="Arial" charset="0"/>
              </a:rPr>
              <a:t>Hedef</a:t>
            </a:r>
            <a:endParaRPr lang="en-US" sz="2800" dirty="0">
              <a:latin typeface="Arial" charset="0"/>
            </a:endParaRPr>
          </a:p>
          <a:p>
            <a:pPr marL="342900" indent="-342900">
              <a:buFont typeface="Arial" pitchFamily="34" charset="0"/>
              <a:buChar char="•"/>
              <a:defRPr/>
            </a:pPr>
            <a:r>
              <a:rPr lang="en-US" sz="2800" dirty="0" err="1">
                <a:latin typeface="Arial" charset="0"/>
              </a:rPr>
              <a:t>Str</a:t>
            </a:r>
            <a:r>
              <a:rPr lang="tr-TR" sz="2800" dirty="0" err="1">
                <a:latin typeface="Arial" charset="0"/>
              </a:rPr>
              <a:t>ateji</a:t>
            </a:r>
            <a:endParaRPr lang="tr-TR" sz="2800" dirty="0">
              <a:latin typeface="Arial" charset="0"/>
            </a:endParaRPr>
          </a:p>
        </p:txBody>
      </p:sp>
      <p:sp>
        <p:nvSpPr>
          <p:cNvPr id="14339" name="Slayt Numarası Yer Tutucusu 2"/>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5173D40A-E2A1-4A45-A2BB-3A11AECE09A9}" type="slidenum">
              <a:rPr lang="tr-TR" altLang="tr-TR" sz="1400">
                <a:solidFill>
                  <a:schemeClr val="bg2"/>
                </a:solidFill>
              </a:rPr>
              <a:pPr eaLnBrk="1" hangingPunct="1"/>
              <a:t>12</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Dikdörtgen 1"/>
          <p:cNvSpPr>
            <a:spLocks noChangeArrowheads="1"/>
          </p:cNvSpPr>
          <p:nvPr/>
        </p:nvSpPr>
        <p:spPr bwMode="auto">
          <a:xfrm>
            <a:off x="2286000" y="2090738"/>
            <a:ext cx="4572000" cy="3786187"/>
          </a:xfrm>
          <a:prstGeom prst="rect">
            <a:avLst/>
          </a:prstGeom>
          <a:noFill/>
          <a:ln>
            <a:noFill/>
          </a:ln>
          <a:extLst/>
        </p:spPr>
        <p:txBody>
          <a:bodyPr>
            <a:spAutoFit/>
          </a:bodyPr>
          <a:lstStyle/>
          <a:p>
            <a:pPr>
              <a:defRPr/>
            </a:pPr>
            <a:r>
              <a:rPr lang="tr-TR" b="1" dirty="0">
                <a:latin typeface="Arial" charset="0"/>
              </a:rPr>
              <a:t>Yapı</a:t>
            </a:r>
            <a:endParaRPr lang="en-US" b="1" dirty="0">
              <a:latin typeface="Arial" charset="0"/>
            </a:endParaRPr>
          </a:p>
          <a:p>
            <a:pPr marL="342900" indent="-342900">
              <a:buFont typeface="Arial" pitchFamily="34" charset="0"/>
              <a:buChar char="•"/>
              <a:defRPr/>
            </a:pPr>
            <a:r>
              <a:rPr lang="tr-TR" dirty="0">
                <a:latin typeface="Arial" charset="0"/>
              </a:rPr>
              <a:t>Örgütlü,</a:t>
            </a:r>
            <a:endParaRPr lang="en-US" dirty="0">
              <a:latin typeface="Arial" charset="0"/>
            </a:endParaRPr>
          </a:p>
          <a:p>
            <a:pPr marL="342900" indent="-342900">
              <a:buFont typeface="Arial" pitchFamily="34" charset="0"/>
              <a:buChar char="•"/>
              <a:defRPr/>
            </a:pPr>
            <a:r>
              <a:rPr lang="tr-TR" dirty="0">
                <a:latin typeface="Arial" charset="0"/>
              </a:rPr>
              <a:t>Bir ajandayı takip eder,</a:t>
            </a:r>
            <a:endParaRPr lang="en-US" dirty="0">
              <a:latin typeface="Arial" charset="0"/>
            </a:endParaRPr>
          </a:p>
          <a:p>
            <a:pPr marL="342900" indent="-342900">
              <a:buFont typeface="Arial" pitchFamily="34" charset="0"/>
              <a:buChar char="•"/>
              <a:defRPr/>
            </a:pPr>
            <a:r>
              <a:rPr lang="tr-TR" dirty="0">
                <a:latin typeface="Arial" charset="0"/>
              </a:rPr>
              <a:t>İyi denenmiş</a:t>
            </a:r>
          </a:p>
          <a:p>
            <a:pPr>
              <a:defRPr/>
            </a:pPr>
            <a:r>
              <a:rPr lang="tr-TR" dirty="0">
                <a:latin typeface="Arial" charset="0"/>
              </a:rPr>
              <a:t> olmalıdır. </a:t>
            </a:r>
          </a:p>
          <a:p>
            <a:pPr>
              <a:defRPr/>
            </a:pPr>
            <a:endParaRPr lang="en-US" dirty="0">
              <a:latin typeface="Arial" charset="0"/>
            </a:endParaRPr>
          </a:p>
          <a:p>
            <a:pPr>
              <a:defRPr/>
            </a:pPr>
            <a:r>
              <a:rPr lang="en-US" b="1" dirty="0">
                <a:latin typeface="Arial" charset="0"/>
              </a:rPr>
              <a:t>Plan</a:t>
            </a:r>
          </a:p>
          <a:p>
            <a:pPr marL="342900" indent="-342900">
              <a:buFont typeface="Arial" pitchFamily="34" charset="0"/>
              <a:buChar char="•"/>
              <a:defRPr/>
            </a:pPr>
            <a:r>
              <a:rPr lang="tr-TR" dirty="0">
                <a:latin typeface="Arial" charset="0"/>
              </a:rPr>
              <a:t>Hedef kitlesi vardır.</a:t>
            </a:r>
            <a:endParaRPr lang="en-US" dirty="0">
              <a:latin typeface="Arial" charset="0"/>
            </a:endParaRPr>
          </a:p>
          <a:p>
            <a:pPr marL="342900" indent="-342900">
              <a:buFont typeface="Arial" pitchFamily="34" charset="0"/>
              <a:buChar char="•"/>
              <a:defRPr/>
            </a:pPr>
            <a:r>
              <a:rPr lang="tr-TR" dirty="0">
                <a:latin typeface="Arial" charset="0"/>
              </a:rPr>
              <a:t>Felsefesi ya da misyonu vardır.</a:t>
            </a:r>
            <a:endParaRPr lang="en-US" dirty="0">
              <a:latin typeface="Arial" charset="0"/>
            </a:endParaRPr>
          </a:p>
        </p:txBody>
      </p:sp>
      <p:sp>
        <p:nvSpPr>
          <p:cNvPr id="15363"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B5A3F2E5-D0F8-4749-AB87-723292B1E1D0}" type="slidenum">
              <a:rPr lang="tr-TR" altLang="tr-TR" sz="1400">
                <a:solidFill>
                  <a:schemeClr val="bg2"/>
                </a:solidFill>
              </a:rPr>
              <a:pPr eaLnBrk="1" hangingPunct="1"/>
              <a:t>13</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Dikdörtgen 1"/>
          <p:cNvSpPr>
            <a:spLocks noChangeArrowheads="1"/>
          </p:cNvSpPr>
          <p:nvPr/>
        </p:nvSpPr>
        <p:spPr bwMode="auto">
          <a:xfrm>
            <a:off x="2286000" y="1720850"/>
            <a:ext cx="4572000" cy="3786188"/>
          </a:xfrm>
          <a:prstGeom prst="rect">
            <a:avLst/>
          </a:prstGeom>
          <a:noFill/>
          <a:ln>
            <a:noFill/>
          </a:ln>
          <a:extLst/>
        </p:spPr>
        <p:txBody>
          <a:bodyPr>
            <a:spAutoFit/>
          </a:bodyPr>
          <a:lstStyle/>
          <a:p>
            <a:pPr>
              <a:defRPr/>
            </a:pPr>
            <a:r>
              <a:rPr lang="tr-TR" b="1" dirty="0">
                <a:latin typeface="Arial" charset="0"/>
              </a:rPr>
              <a:t>Hedefler</a:t>
            </a:r>
            <a:endParaRPr lang="en-US" b="1" dirty="0">
              <a:latin typeface="Arial" charset="0"/>
            </a:endParaRPr>
          </a:p>
          <a:p>
            <a:pPr marL="342900" indent="-342900">
              <a:buFont typeface="Arial" pitchFamily="34" charset="0"/>
              <a:buChar char="•"/>
              <a:defRPr/>
            </a:pPr>
            <a:r>
              <a:rPr lang="tr-TR" dirty="0">
                <a:latin typeface="Arial" charset="0"/>
              </a:rPr>
              <a:t>Toplantı için ayrıntı amaçlara sahiptir.</a:t>
            </a:r>
            <a:endParaRPr lang="en-US" dirty="0">
              <a:latin typeface="Arial" charset="0"/>
            </a:endParaRPr>
          </a:p>
          <a:p>
            <a:pPr marL="342900" indent="-342900">
              <a:buFont typeface="Arial" pitchFamily="34" charset="0"/>
              <a:buChar char="•"/>
              <a:defRPr/>
            </a:pPr>
            <a:r>
              <a:rPr lang="tr-TR" dirty="0">
                <a:latin typeface="Arial" charset="0"/>
              </a:rPr>
              <a:t>Ölçülebilir çıktıları vardır.</a:t>
            </a:r>
            <a:endParaRPr lang="en-US" dirty="0">
              <a:latin typeface="Arial" charset="0"/>
            </a:endParaRPr>
          </a:p>
          <a:p>
            <a:pPr>
              <a:defRPr/>
            </a:pPr>
            <a:r>
              <a:rPr lang="tr-TR" b="1" dirty="0">
                <a:latin typeface="Arial" charset="0"/>
              </a:rPr>
              <a:t>Strateji</a:t>
            </a:r>
            <a:endParaRPr lang="en-US" b="1" dirty="0">
              <a:latin typeface="Arial" charset="0"/>
            </a:endParaRPr>
          </a:p>
          <a:p>
            <a:pPr marL="342900" indent="-342900">
              <a:buFont typeface="Arial" pitchFamily="34" charset="0"/>
              <a:buChar char="•"/>
              <a:defRPr/>
            </a:pPr>
            <a:r>
              <a:rPr lang="tr-TR" dirty="0">
                <a:latin typeface="Arial" charset="0"/>
              </a:rPr>
              <a:t>Görevlendirilmiş bir liderleri vardır.</a:t>
            </a:r>
            <a:endParaRPr lang="en-US" dirty="0">
              <a:latin typeface="Arial" charset="0"/>
            </a:endParaRPr>
          </a:p>
          <a:p>
            <a:pPr marL="342900" indent="-342900">
              <a:buFont typeface="Arial" pitchFamily="34" charset="0"/>
              <a:buChar char="•"/>
              <a:defRPr/>
            </a:pPr>
            <a:r>
              <a:rPr lang="tr-TR" dirty="0">
                <a:latin typeface="Arial" charset="0"/>
              </a:rPr>
              <a:t>Yapıyı takip eder.</a:t>
            </a:r>
            <a:endParaRPr lang="en-US" dirty="0">
              <a:latin typeface="Arial" charset="0"/>
            </a:endParaRPr>
          </a:p>
          <a:p>
            <a:pPr marL="342900" indent="-342900">
              <a:buFont typeface="Arial" pitchFamily="34" charset="0"/>
              <a:buChar char="•"/>
              <a:defRPr/>
            </a:pPr>
            <a:r>
              <a:rPr lang="tr-TR" dirty="0">
                <a:latin typeface="Arial" charset="0"/>
              </a:rPr>
              <a:t>Planın dışına çıkılmaz.</a:t>
            </a:r>
            <a:endParaRPr lang="en-US" dirty="0">
              <a:latin typeface="Arial" charset="0"/>
            </a:endParaRPr>
          </a:p>
          <a:p>
            <a:pPr marL="342900" indent="-342900">
              <a:buFont typeface="Arial" pitchFamily="34" charset="0"/>
              <a:buChar char="•"/>
              <a:defRPr/>
            </a:pPr>
            <a:r>
              <a:rPr lang="tr-TR" dirty="0">
                <a:latin typeface="Arial" charset="0"/>
              </a:rPr>
              <a:t>Hedefleri gerçekleştiricidir.</a:t>
            </a:r>
            <a:endParaRPr lang="en-US" dirty="0">
              <a:latin typeface="Arial" charset="0"/>
            </a:endParaRPr>
          </a:p>
        </p:txBody>
      </p:sp>
      <p:sp>
        <p:nvSpPr>
          <p:cNvPr id="16387"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CD447852-88B6-4D95-BBA3-ED8288CD68DA}" type="slidenum">
              <a:rPr lang="tr-TR" altLang="tr-TR" sz="1400">
                <a:solidFill>
                  <a:schemeClr val="bg2"/>
                </a:solidFill>
              </a:rPr>
              <a:pPr eaLnBrk="1" hangingPunct="1"/>
              <a:t>14</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547813" y="1785938"/>
            <a:ext cx="7345362" cy="2308225"/>
          </a:xfrm>
          <a:prstGeom prst="rect">
            <a:avLst/>
          </a:prstGeom>
        </p:spPr>
        <p:txBody>
          <a:bodyPr>
            <a:spAutoFit/>
          </a:bodyPr>
          <a:lstStyle/>
          <a:p>
            <a:pPr>
              <a:defRPr/>
            </a:pPr>
            <a:endParaRPr lang="tr-TR" dirty="0">
              <a:latin typeface="Arial" charset="0"/>
            </a:endParaRPr>
          </a:p>
          <a:p>
            <a:pPr marL="342900" indent="-342900">
              <a:spcBef>
                <a:spcPct val="50000"/>
              </a:spcBef>
              <a:buFont typeface="Arial" pitchFamily="34" charset="0"/>
              <a:buChar char="•"/>
              <a:defRPr/>
            </a:pPr>
            <a:r>
              <a:rPr lang="tr-TR" b="1" dirty="0">
                <a:solidFill>
                  <a:schemeClr val="tx2"/>
                </a:solidFill>
                <a:latin typeface="Arial" charset="0"/>
                <a:cs typeface="Times New Roman" pitchFamily="18" charset="0"/>
              </a:rPr>
              <a:t>Toplantıları tümünde doğaldır ki bir </a:t>
            </a:r>
            <a:r>
              <a:rPr lang="tr-TR" b="1" dirty="0">
                <a:solidFill>
                  <a:schemeClr val="tx2"/>
                </a:solidFill>
                <a:latin typeface="Arial" charset="0"/>
              </a:rPr>
              <a:t>    </a:t>
            </a:r>
            <a:r>
              <a:rPr lang="tr-TR" b="1" dirty="0">
                <a:solidFill>
                  <a:schemeClr val="tx2"/>
                </a:solidFill>
                <a:latin typeface="Arial" charset="0"/>
                <a:cs typeface="Times New Roman" pitchFamily="18" charset="0"/>
              </a:rPr>
              <a:t>yönetici ve katılımcılar bulunur.</a:t>
            </a:r>
            <a:endParaRPr lang="tr-TR" b="1" dirty="0">
              <a:solidFill>
                <a:schemeClr val="tx2"/>
              </a:solidFill>
              <a:latin typeface="Arial" charset="0"/>
            </a:endParaRPr>
          </a:p>
          <a:p>
            <a:pPr marL="342900" indent="-342900">
              <a:spcBef>
                <a:spcPct val="50000"/>
              </a:spcBef>
              <a:buFont typeface="Arial" pitchFamily="34" charset="0"/>
              <a:buChar char="•"/>
              <a:defRPr/>
            </a:pPr>
            <a:r>
              <a:rPr lang="tr-TR" b="1" dirty="0">
                <a:solidFill>
                  <a:schemeClr val="tx2"/>
                </a:solidFill>
                <a:latin typeface="Arial" charset="0"/>
                <a:cs typeface="Times New Roman" pitchFamily="18" charset="0"/>
              </a:rPr>
              <a:t>Ancak bazı toplantılarda sözcü, kaynak kişi ya da kişiler ve yazman (- raportör) da bulunabilir</a:t>
            </a:r>
            <a:r>
              <a:rPr lang="tr-TR" b="1" dirty="0">
                <a:solidFill>
                  <a:schemeClr val="tx2"/>
                </a:solidFill>
                <a:latin typeface="Arial" charset="0"/>
              </a:rPr>
              <a:t>. </a:t>
            </a:r>
            <a:endParaRPr lang="en-US" dirty="0">
              <a:latin typeface="Arial" charset="0"/>
            </a:endParaRPr>
          </a:p>
        </p:txBody>
      </p:sp>
      <p:sp>
        <p:nvSpPr>
          <p:cNvPr id="17411" name="Slayt Numarası Yer Tutucusu 2"/>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80EE4F96-1CBF-4F80-A17E-0276A1562CD6}" type="slidenum">
              <a:rPr lang="tr-TR" altLang="tr-TR" sz="1400">
                <a:solidFill>
                  <a:schemeClr val="bg2"/>
                </a:solidFill>
              </a:rPr>
              <a:pPr eaLnBrk="1" hangingPunct="1"/>
              <a:t>15</a:t>
            </a:fld>
            <a:endParaRPr lang="tr-TR" altLang="tr-TR" sz="1400">
              <a:solidFill>
                <a:schemeClr val="bg2"/>
              </a:solidFill>
            </a:endParaRPr>
          </a:p>
        </p:txBody>
      </p:sp>
      <p:sp>
        <p:nvSpPr>
          <p:cNvPr id="17412" name="4 Metin kutusu"/>
          <p:cNvSpPr txBox="1">
            <a:spLocks noChangeArrowheads="1"/>
          </p:cNvSpPr>
          <p:nvPr/>
        </p:nvSpPr>
        <p:spPr bwMode="auto">
          <a:xfrm>
            <a:off x="1547813" y="1341438"/>
            <a:ext cx="70913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tr-TR" altLang="tr-TR" sz="3200" b="1"/>
              <a:t>Toplantıda Bulunabilecek Kimseler</a:t>
            </a:r>
            <a:endParaRPr lang="tr-TR" altLang="tr-TR" sz="320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66394A62-FD8D-4256-948B-F3E0747A003E}" type="slidenum">
              <a:rPr lang="tr-TR" altLang="tr-TR" sz="1400">
                <a:solidFill>
                  <a:schemeClr val="bg2"/>
                </a:solidFill>
              </a:rPr>
              <a:pPr eaLnBrk="1" hangingPunct="1"/>
              <a:t>16</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752600" y="2205038"/>
            <a:ext cx="7391400" cy="4652962"/>
          </a:xfrm>
        </p:spPr>
        <p:txBody>
          <a:bodyPr/>
          <a:lstStyle/>
          <a:p>
            <a:pPr eaLnBrk="1" hangingPunct="1">
              <a:buFontTx/>
              <a:buChar char="•"/>
            </a:pPr>
            <a:r>
              <a:rPr lang="tr-TR" altLang="tr-TR" sz="2000" b="1" smtClean="0"/>
              <a:t/>
            </a:r>
            <a:br>
              <a:rPr lang="tr-TR" altLang="tr-TR" sz="2000" b="1" smtClean="0"/>
            </a:br>
            <a:r>
              <a:rPr lang="tr-TR" altLang="tr-TR" sz="2000" smtClean="0"/>
              <a:t>Yeni durumlara kolayca uyum gösterebilecek esnekliğe sahip olma,</a:t>
            </a:r>
            <a:br>
              <a:rPr lang="tr-TR" altLang="tr-TR" sz="2000" smtClean="0"/>
            </a:br>
            <a:r>
              <a:rPr lang="tr-TR" altLang="tr-TR" sz="2000" smtClean="0"/>
              <a:t/>
            </a:r>
            <a:br>
              <a:rPr lang="tr-TR" altLang="tr-TR" sz="2000" smtClean="0"/>
            </a:br>
            <a:r>
              <a:rPr lang="tr-TR" altLang="tr-TR" sz="2000" smtClean="0"/>
              <a:t>Katılımcılara saygılı olma,</a:t>
            </a:r>
            <a:br>
              <a:rPr lang="tr-TR" altLang="tr-TR" sz="2000" smtClean="0"/>
            </a:br>
            <a:r>
              <a:rPr lang="tr-TR" altLang="tr-TR" sz="2000" smtClean="0"/>
              <a:t/>
            </a:r>
            <a:br>
              <a:rPr lang="tr-TR" altLang="tr-TR" sz="2000" smtClean="0"/>
            </a:br>
            <a:r>
              <a:rPr lang="tr-TR" altLang="tr-TR" sz="2000" smtClean="0"/>
              <a:t>Grup ya da kümenin gereksinim ve ilgilerinin farkında olma,</a:t>
            </a:r>
            <a:br>
              <a:rPr lang="tr-TR" altLang="tr-TR" sz="2000" smtClean="0"/>
            </a:br>
            <a:r>
              <a:rPr lang="tr-TR" altLang="tr-TR" sz="2000" smtClean="0"/>
              <a:t/>
            </a:r>
            <a:br>
              <a:rPr lang="tr-TR" altLang="tr-TR" sz="2000" smtClean="0"/>
            </a:br>
            <a:r>
              <a:rPr lang="tr-TR" altLang="tr-TR" sz="2000" smtClean="0"/>
              <a:t>Tartışılan konuda yeterince bilgi sahibi olma,</a:t>
            </a:r>
            <a:br>
              <a:rPr lang="tr-TR" altLang="tr-TR" sz="2000" smtClean="0"/>
            </a:br>
            <a:r>
              <a:rPr lang="tr-TR" altLang="tr-TR" sz="2000" smtClean="0"/>
              <a:t/>
            </a:r>
            <a:br>
              <a:rPr lang="tr-TR" altLang="tr-TR" sz="2000" smtClean="0"/>
            </a:br>
            <a:r>
              <a:rPr lang="tr-TR" altLang="tr-TR" sz="2000" smtClean="0"/>
              <a:t>Küme içinde belirtilen görüşleri sezme, kavrama, anlatma becerilerine sahip olma,</a:t>
            </a:r>
            <a:br>
              <a:rPr lang="tr-TR" altLang="tr-TR" sz="2000" smtClean="0"/>
            </a:br>
            <a:r>
              <a:rPr lang="tr-TR" altLang="tr-TR" sz="2000" smtClean="0"/>
              <a:t/>
            </a:r>
            <a:br>
              <a:rPr lang="tr-TR" altLang="tr-TR" sz="2000" smtClean="0"/>
            </a:br>
            <a:r>
              <a:rPr lang="tr-TR" altLang="tr-TR" sz="2000" smtClean="0"/>
              <a:t>Kendine güvenli, soğuk kanlı, canlı ve olgun davranmalı,</a:t>
            </a:r>
            <a:br>
              <a:rPr lang="tr-TR" altLang="tr-TR" sz="2000" smtClean="0"/>
            </a:br>
            <a:r>
              <a:rPr lang="tr-TR" altLang="tr-TR" sz="2000" smtClean="0"/>
              <a:t/>
            </a:r>
            <a:br>
              <a:rPr lang="tr-TR" altLang="tr-TR" sz="2000" smtClean="0"/>
            </a:br>
            <a:r>
              <a:rPr lang="tr-TR" altLang="tr-TR" sz="2000" smtClean="0"/>
              <a:t>Tartışmayı  etkili yönetme, çabuk kavrama, çabuk karar verme yeteneği </a:t>
            </a:r>
            <a:br>
              <a:rPr lang="tr-TR" altLang="tr-TR" sz="2000" smtClean="0"/>
            </a:br>
            <a:endParaRPr lang="tr-TR" altLang="tr-TR" sz="2000" smtClean="0"/>
          </a:p>
        </p:txBody>
      </p:sp>
      <p:sp>
        <p:nvSpPr>
          <p:cNvPr id="19459"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8E4FBE55-55BE-4B0E-AE0A-D7B0C32493D7}" type="slidenum">
              <a:rPr lang="tr-TR" altLang="tr-TR" sz="1400">
                <a:solidFill>
                  <a:schemeClr val="bg2"/>
                </a:solidFill>
              </a:rPr>
              <a:pPr eaLnBrk="1" hangingPunct="1"/>
              <a:t>17</a:t>
            </a:fld>
            <a:endParaRPr lang="tr-TR" altLang="tr-TR" sz="1400">
              <a:solidFill>
                <a:schemeClr val="bg2"/>
              </a:solidFill>
            </a:endParaRPr>
          </a:p>
        </p:txBody>
      </p:sp>
      <p:sp>
        <p:nvSpPr>
          <p:cNvPr id="19460" name="Text Box 3"/>
          <p:cNvSpPr txBox="1">
            <a:spLocks noChangeArrowheads="1"/>
          </p:cNvSpPr>
          <p:nvPr/>
        </p:nvSpPr>
        <p:spPr bwMode="auto">
          <a:xfrm>
            <a:off x="1771650" y="981075"/>
            <a:ext cx="7048500"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spcBef>
                <a:spcPct val="50000"/>
              </a:spcBef>
            </a:pPr>
            <a:r>
              <a:rPr lang="tr-TR" altLang="tr-TR" sz="2800" b="1">
                <a:solidFill>
                  <a:schemeClr val="tx2"/>
                </a:solidFill>
                <a:cs typeface="Times New Roman" panose="02020603050405020304" pitchFamily="18" charset="0"/>
              </a:rPr>
              <a:t>Toplantı yöneticisi ya da başkanın bazı nitelikler taşıması gereklidir. Bunlar</a:t>
            </a:r>
            <a:r>
              <a:rPr lang="tr-TR" altLang="tr-TR" sz="2000" b="1">
                <a:solidFill>
                  <a:schemeClr val="tx2"/>
                </a:solidFill>
                <a:cs typeface="Times New Roman" panose="02020603050405020304" pitchFamily="18" charset="0"/>
              </a:rPr>
              <a:t>;</a:t>
            </a:r>
            <a:br>
              <a:rPr lang="tr-TR" altLang="tr-TR" sz="2000" b="1">
                <a:solidFill>
                  <a:schemeClr val="tx2"/>
                </a:solidFill>
                <a:cs typeface="Times New Roman" panose="02020603050405020304" pitchFamily="18" charset="0"/>
              </a:rPr>
            </a:br>
            <a:endParaRPr lang="tr-TR" altLang="tr-TR" sz="2000" b="1">
              <a:solidFill>
                <a:schemeClr val="tx2"/>
              </a:solidFill>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1 Slayt Numarası Yer Tutucusu"/>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3B17D686-9759-4607-A641-3832A2F53961}" type="slidenum">
              <a:rPr lang="tr-TR" altLang="tr-TR" sz="1400">
                <a:solidFill>
                  <a:schemeClr val="bg2"/>
                </a:solidFill>
              </a:rPr>
              <a:pPr eaLnBrk="1" hangingPunct="1"/>
              <a:t>18</a:t>
            </a:fld>
            <a:endParaRPr lang="tr-TR" altLang="tr-TR" sz="1400">
              <a:solidFill>
                <a:schemeClr val="bg2"/>
              </a:solidFill>
            </a:endParaRPr>
          </a:p>
        </p:txBody>
      </p:sp>
      <p:sp>
        <p:nvSpPr>
          <p:cNvPr id="20483" name="2 Metin kutusu"/>
          <p:cNvSpPr txBox="1">
            <a:spLocks noChangeArrowheads="1"/>
          </p:cNvSpPr>
          <p:nvPr/>
        </p:nvSpPr>
        <p:spPr bwMode="auto">
          <a:xfrm>
            <a:off x="1187450" y="908050"/>
            <a:ext cx="7956550" cy="698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tr-TR" altLang="tr-TR" sz="2800" b="1"/>
              <a:t>Katılanların Görevleri</a:t>
            </a:r>
          </a:p>
          <a:p>
            <a:pPr eaLnBrk="1" hangingPunct="1">
              <a:buFont typeface="Arial" panose="020B0604020202020204" pitchFamily="34" charset="0"/>
              <a:buChar char="•"/>
            </a:pPr>
            <a:r>
              <a:rPr lang="tr-TR" altLang="tr-TR" sz="2800"/>
              <a:t>Söz almadan ve söz verilmeden konuşulmamalıdır.</a:t>
            </a:r>
          </a:p>
          <a:p>
            <a:pPr eaLnBrk="1" hangingPunct="1">
              <a:buFont typeface="Arial" panose="020B0604020202020204" pitchFamily="34" charset="0"/>
              <a:buChar char="•"/>
            </a:pPr>
            <a:r>
              <a:rPr lang="tr-TR" altLang="tr-TR" sz="2800"/>
              <a:t>Karşılıklı konuşulmamalıdır.</a:t>
            </a:r>
          </a:p>
          <a:p>
            <a:pPr eaLnBrk="1" hangingPunct="1">
              <a:buFont typeface="Arial" panose="020B0604020202020204" pitchFamily="34" charset="0"/>
              <a:buChar char="•"/>
            </a:pPr>
            <a:r>
              <a:rPr lang="tr-TR" altLang="tr-TR" sz="2800"/>
              <a:t>Sözler kısa kesilmeli, az ve öz konuşulmamalıdır.</a:t>
            </a:r>
          </a:p>
          <a:p>
            <a:pPr eaLnBrk="1" hangingPunct="1">
              <a:buFont typeface="Arial" panose="020B0604020202020204" pitchFamily="34" charset="0"/>
              <a:buChar char="•"/>
            </a:pPr>
            <a:r>
              <a:rPr lang="tr-TR" altLang="tr-TR" sz="2800"/>
              <a:t>Oturulan yerden konuşulmamalıdır.</a:t>
            </a:r>
          </a:p>
          <a:p>
            <a:pPr eaLnBrk="1" hangingPunct="1">
              <a:buFont typeface="Arial" panose="020B0604020202020204" pitchFamily="34" charset="0"/>
              <a:buChar char="•"/>
            </a:pPr>
            <a:r>
              <a:rPr lang="tr-TR" altLang="tr-TR" sz="2800"/>
              <a:t>Sık sık söz alınmamalıdır.</a:t>
            </a:r>
          </a:p>
          <a:p>
            <a:pPr eaLnBrk="1" hangingPunct="1">
              <a:buFont typeface="Arial" panose="020B0604020202020204" pitchFamily="34" charset="0"/>
              <a:buChar char="•"/>
            </a:pPr>
            <a:r>
              <a:rPr lang="tr-TR" altLang="tr-TR" sz="2800"/>
              <a:t>Konu dışına çıkılmamalıdır.</a:t>
            </a:r>
          </a:p>
          <a:p>
            <a:pPr eaLnBrk="1" hangingPunct="1">
              <a:buFont typeface="Arial" panose="020B0604020202020204" pitchFamily="34" charset="0"/>
              <a:buChar char="•"/>
            </a:pPr>
            <a:r>
              <a:rPr lang="tr-TR" altLang="tr-TR" sz="2800"/>
              <a:t>Tartışmaya katılılınmalıdır.</a:t>
            </a:r>
          </a:p>
          <a:p>
            <a:pPr eaLnBrk="1" hangingPunct="1">
              <a:buFont typeface="Arial" panose="020B0604020202020204" pitchFamily="34" charset="0"/>
              <a:buChar char="•"/>
            </a:pPr>
            <a:r>
              <a:rPr lang="tr-TR" altLang="tr-TR" sz="2800"/>
              <a:t>Her şey birden ele alınmamalı yalnızca bir noktaya yoğunlaşılmalıdır.</a:t>
            </a:r>
          </a:p>
          <a:p>
            <a:pPr eaLnBrk="1" hangingPunct="1">
              <a:buFont typeface="Arial" panose="020B0604020202020204" pitchFamily="34" charset="0"/>
              <a:buChar char="•"/>
            </a:pPr>
            <a:r>
              <a:rPr lang="tr-TR" altLang="tr-TR" sz="2800"/>
              <a:t>Görüş ve gerekçeler örneklendirilmeliistatistiklerkle desteklenmelidir</a:t>
            </a:r>
            <a:r>
              <a:rPr lang="tr-TR" altLang="tr-TR" sz="2800" b="1"/>
              <a:t>.</a:t>
            </a:r>
          </a:p>
          <a:p>
            <a:pPr eaLnBrk="1" hangingPunct="1"/>
            <a:endParaRPr lang="tr-TR" altLang="tr-TR" sz="2800" b="1"/>
          </a:p>
          <a:p>
            <a:pPr eaLnBrk="1" hangingPunct="1"/>
            <a:endParaRPr lang="tr-TR" altLang="tr-TR" sz="2800"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1 Slayt Numarası Yer Tutucusu"/>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73397E13-5ABD-4C8C-979B-07FE0B0E7BA6}" type="slidenum">
              <a:rPr lang="tr-TR" altLang="tr-TR" sz="1400">
                <a:solidFill>
                  <a:schemeClr val="bg2"/>
                </a:solidFill>
              </a:rPr>
              <a:pPr eaLnBrk="1" hangingPunct="1"/>
              <a:t>19</a:t>
            </a:fld>
            <a:endParaRPr lang="tr-TR" altLang="tr-TR" sz="1400">
              <a:solidFill>
                <a:schemeClr val="bg2"/>
              </a:solidFill>
            </a:endParaRPr>
          </a:p>
        </p:txBody>
      </p:sp>
      <p:sp>
        <p:nvSpPr>
          <p:cNvPr id="21507" name="2 Metin kutusu"/>
          <p:cNvSpPr txBox="1">
            <a:spLocks noChangeArrowheads="1"/>
          </p:cNvSpPr>
          <p:nvPr/>
        </p:nvSpPr>
        <p:spPr bwMode="auto">
          <a:xfrm>
            <a:off x="1331913" y="1844675"/>
            <a:ext cx="7812087"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buFont typeface="Arial" panose="020B0604020202020204" pitchFamily="34" charset="0"/>
              <a:buChar char="•"/>
            </a:pPr>
            <a:r>
              <a:rPr lang="tr-TR" altLang="tr-TR"/>
              <a:t>Nutuk atılmamalı, doğal konuşulmalıdır. </a:t>
            </a:r>
          </a:p>
          <a:p>
            <a:pPr eaLnBrk="1" hangingPunct="1">
              <a:buFont typeface="Arial" panose="020B0604020202020204" pitchFamily="34" charset="0"/>
              <a:buChar char="•"/>
            </a:pPr>
            <a:r>
              <a:rPr lang="tr-TR" altLang="tr-TR"/>
              <a:t>Kimsenin sözü kesilmemeli, dinlenmesi bilinmelidir.</a:t>
            </a:r>
          </a:p>
          <a:p>
            <a:pPr eaLnBrk="1" hangingPunct="1">
              <a:buFont typeface="Arial" panose="020B0604020202020204" pitchFamily="34" charset="0"/>
              <a:buChar char="•"/>
            </a:pPr>
            <a:r>
              <a:rPr lang="tr-TR" altLang="tr-TR"/>
              <a:t>Konuşulanlar iyi dinlenilmeli iyi not edilmelidir.</a:t>
            </a:r>
          </a:p>
          <a:p>
            <a:pPr eaLnBrk="1" hangingPunct="1">
              <a:buFont typeface="Arial" panose="020B0604020202020204" pitchFamily="34" charset="0"/>
              <a:buChar char="•"/>
            </a:pPr>
            <a:r>
              <a:rPr lang="tr-TR" altLang="tr-TR"/>
              <a:t>Kabul edilmesi olanaksız  teklifler getirilmemelidir.</a:t>
            </a:r>
          </a:p>
          <a:p>
            <a:pPr eaLnBrk="1" hangingPunct="1">
              <a:buFont typeface="Arial" panose="020B0604020202020204" pitchFamily="34" charset="0"/>
              <a:buChar char="•"/>
            </a:pPr>
            <a:r>
              <a:rPr lang="tr-TR" altLang="tr-TR"/>
              <a:t>Ses tonuna özen gösterilmelidir.</a:t>
            </a:r>
          </a:p>
          <a:p>
            <a:pPr eaLnBrk="1" hangingPunct="1">
              <a:buFont typeface="Arial" panose="020B0604020202020204" pitchFamily="34" charset="0"/>
              <a:buChar char="•"/>
            </a:pPr>
            <a:r>
              <a:rPr lang="tr-TR" altLang="tr-TR"/>
              <a:t>Kırıcı ve yıkıcı eleştiri yapılmamalıdır.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609600" y="304800"/>
            <a:ext cx="8534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r>
              <a:rPr lang="tr-TR" altLang="tr-TR" sz="1600" b="1">
                <a:solidFill>
                  <a:schemeClr val="tx2"/>
                </a:solidFill>
                <a:latin typeface="Times New Roman" panose="02020603050405020304" pitchFamily="18" charset="0"/>
                <a:cs typeface="Times New Roman" panose="02020603050405020304" pitchFamily="18" charset="0"/>
              </a:rPr>
              <a:t> </a:t>
            </a:r>
            <a:r>
              <a:rPr lang="tr-TR" altLang="tr-TR" sz="1600">
                <a:solidFill>
                  <a:schemeClr val="tx2"/>
                </a:solidFill>
                <a:latin typeface="Times New Roman" panose="02020603050405020304" pitchFamily="18" charset="0"/>
                <a:cs typeface="Times New Roman" panose="02020603050405020304" pitchFamily="18" charset="0"/>
              </a:rPr>
              <a:t/>
            </a:r>
            <a:br>
              <a:rPr lang="tr-TR" altLang="tr-TR" sz="1600">
                <a:solidFill>
                  <a:schemeClr val="tx2"/>
                </a:solidFill>
                <a:latin typeface="Times New Roman" panose="02020603050405020304" pitchFamily="18" charset="0"/>
                <a:cs typeface="Times New Roman" panose="02020603050405020304" pitchFamily="18" charset="0"/>
              </a:rPr>
            </a:br>
            <a:r>
              <a:rPr lang="tr-TR" altLang="tr-TR" b="1">
                <a:solidFill>
                  <a:schemeClr val="tx2"/>
                </a:solidFill>
                <a:latin typeface="Times New Roman" panose="02020603050405020304" pitchFamily="18" charset="0"/>
                <a:cs typeface="Times New Roman" panose="02020603050405020304" pitchFamily="18" charset="0"/>
              </a:rPr>
              <a:t>Toplantıda</a:t>
            </a:r>
            <a:r>
              <a:rPr lang="tr-TR" altLang="tr-TR" sz="1600" b="1">
                <a:solidFill>
                  <a:schemeClr val="tx2"/>
                </a:solidFill>
                <a:latin typeface="Times New Roman" panose="02020603050405020304" pitchFamily="18" charset="0"/>
                <a:cs typeface="Times New Roman" panose="02020603050405020304" pitchFamily="18" charset="0"/>
              </a:rPr>
              <a:t> </a:t>
            </a:r>
            <a:r>
              <a:rPr lang="tr-TR" altLang="tr-TR" b="1">
                <a:solidFill>
                  <a:schemeClr val="tx2"/>
                </a:solidFill>
                <a:latin typeface="Times New Roman" panose="02020603050405020304" pitchFamily="18" charset="0"/>
                <a:cs typeface="Times New Roman" panose="02020603050405020304" pitchFamily="18" charset="0"/>
              </a:rPr>
              <a:t>Oynanan Roller</a:t>
            </a:r>
            <a:r>
              <a:rPr lang="en-US" altLang="tr-TR" sz="1600">
                <a:solidFill>
                  <a:schemeClr val="tx2"/>
                </a:solidFill>
                <a:latin typeface="Times New Roman" panose="02020603050405020304" pitchFamily="18" charset="0"/>
                <a:cs typeface="Times New Roman" panose="02020603050405020304" pitchFamily="18" charset="0"/>
              </a:rPr>
              <a:t/>
            </a:r>
            <a:br>
              <a:rPr lang="en-US" altLang="tr-TR" sz="1600">
                <a:solidFill>
                  <a:schemeClr val="tx2"/>
                </a:solidFill>
                <a:latin typeface="Times New Roman" panose="02020603050405020304" pitchFamily="18" charset="0"/>
                <a:cs typeface="Times New Roman" panose="02020603050405020304" pitchFamily="18" charset="0"/>
              </a:rPr>
            </a:br>
            <a:r>
              <a:rPr lang="tr-TR" altLang="tr-TR" sz="1600" b="1">
                <a:solidFill>
                  <a:schemeClr val="tx2"/>
                </a:solidFill>
                <a:latin typeface="Times New Roman" panose="02020603050405020304" pitchFamily="18" charset="0"/>
                <a:cs typeface="Times New Roman" panose="02020603050405020304" pitchFamily="18" charset="0"/>
              </a:rPr>
              <a:t> </a:t>
            </a:r>
            <a:r>
              <a:rPr lang="tr-TR" altLang="tr-TR" sz="1600">
                <a:solidFill>
                  <a:schemeClr val="tx2"/>
                </a:solidFill>
                <a:latin typeface="Times New Roman" panose="02020603050405020304" pitchFamily="18" charset="0"/>
                <a:cs typeface="Times New Roman" panose="02020603050405020304" pitchFamily="18" charset="0"/>
              </a:rPr>
              <a:t/>
            </a:r>
            <a:br>
              <a:rPr lang="tr-TR" altLang="tr-TR" sz="1600">
                <a:solidFill>
                  <a:schemeClr val="tx2"/>
                </a:solidFill>
                <a:latin typeface="Times New Roman" panose="02020603050405020304" pitchFamily="18" charset="0"/>
                <a:cs typeface="Times New Roman" panose="02020603050405020304" pitchFamily="18" charset="0"/>
              </a:rPr>
            </a:br>
            <a:endParaRPr lang="tr-TR" altLang="tr-TR" sz="1600">
              <a:solidFill>
                <a:schemeClr val="tx2"/>
              </a:solidFill>
              <a:latin typeface="Times New Roman" panose="02020603050405020304" pitchFamily="18" charset="0"/>
              <a:cs typeface="Times New Roman" panose="02020603050405020304" pitchFamily="18" charset="0"/>
            </a:endParaRPr>
          </a:p>
        </p:txBody>
      </p:sp>
      <p:sp>
        <p:nvSpPr>
          <p:cNvPr id="20483" name="Rectangle 5"/>
          <p:cNvSpPr>
            <a:spLocks noGrp="1" noChangeArrowheads="1"/>
          </p:cNvSpPr>
          <p:nvPr>
            <p:ph idx="1"/>
          </p:nvPr>
        </p:nvSpPr>
        <p:spPr>
          <a:xfrm>
            <a:off x="1295400" y="990600"/>
            <a:ext cx="7848600" cy="5562600"/>
          </a:xfrm>
        </p:spPr>
        <p:txBody>
          <a:bodyPr/>
          <a:lstStyle/>
          <a:p>
            <a:pPr marL="0" indent="0" eaLnBrk="1" hangingPunct="1">
              <a:lnSpc>
                <a:spcPct val="90000"/>
              </a:lnSpc>
              <a:buFont typeface="Wingdings" panose="05000000000000000000" pitchFamily="2" charset="2"/>
              <a:buNone/>
              <a:defRPr/>
            </a:pPr>
            <a:r>
              <a:rPr lang="tr-TR" sz="2400" b="1" dirty="0" smtClean="0">
                <a:cs typeface="Times New Roman" pitchFamily="18" charset="0"/>
              </a:rPr>
              <a:t>Toplantıda Grubu Engelleyen Roller</a:t>
            </a:r>
            <a:endParaRPr lang="tr-TR" sz="2400" dirty="0" smtClean="0">
              <a:cs typeface="Times New Roman" pitchFamily="18" charset="0"/>
            </a:endParaRPr>
          </a:p>
          <a:p>
            <a:pPr eaLnBrk="1" hangingPunct="1">
              <a:lnSpc>
                <a:spcPct val="90000"/>
              </a:lnSpc>
              <a:defRPr/>
            </a:pPr>
            <a:r>
              <a:rPr lang="tr-TR" sz="2000" b="1" dirty="0" smtClean="0">
                <a:cs typeface="Times New Roman" pitchFamily="18" charset="0"/>
              </a:rPr>
              <a:t>	</a:t>
            </a:r>
            <a:r>
              <a:rPr lang="tr-TR" sz="2000" dirty="0" smtClean="0">
                <a:cs typeface="Times New Roman" pitchFamily="18" charset="0"/>
              </a:rPr>
              <a:t>Bunları şöylece betimlemek mümkündür</a:t>
            </a:r>
            <a:r>
              <a:rPr lang="tr-TR" sz="2000" b="1" dirty="0" smtClean="0">
                <a:cs typeface="Times New Roman" pitchFamily="18" charset="0"/>
              </a:rPr>
              <a:t>.</a:t>
            </a:r>
            <a:endParaRPr lang="tr-TR" sz="2000" dirty="0" smtClean="0">
              <a:cs typeface="Times New Roman" pitchFamily="18" charset="0"/>
            </a:endParaRPr>
          </a:p>
          <a:p>
            <a:pPr eaLnBrk="1" hangingPunct="1">
              <a:lnSpc>
                <a:spcPct val="90000"/>
              </a:lnSpc>
              <a:defRPr/>
            </a:pPr>
            <a:r>
              <a:rPr lang="tr-TR" sz="2000" b="1" dirty="0" smtClean="0">
                <a:cs typeface="Times New Roman" pitchFamily="18" charset="0"/>
              </a:rPr>
              <a:t>Saldırgan</a:t>
            </a:r>
            <a:r>
              <a:rPr lang="tr-TR" sz="2000" dirty="0" smtClean="0">
                <a:cs typeface="Times New Roman" pitchFamily="18" charset="0"/>
              </a:rPr>
              <a:t>: Diğer üyeleri  aşırı eleştirir ve tepeden bakar.  Eleştiri ve karşı çıkmalarında saldırgandır.</a:t>
            </a:r>
          </a:p>
          <a:p>
            <a:pPr eaLnBrk="1" hangingPunct="1">
              <a:lnSpc>
                <a:spcPct val="90000"/>
              </a:lnSpc>
              <a:defRPr/>
            </a:pPr>
            <a:r>
              <a:rPr lang="tr-TR" sz="2000" b="1" dirty="0" smtClean="0">
                <a:cs typeface="Times New Roman" pitchFamily="18" charset="0"/>
              </a:rPr>
              <a:t>Engelleyici</a:t>
            </a:r>
            <a:r>
              <a:rPr lang="tr-TR" sz="2000" dirty="0" smtClean="0">
                <a:cs typeface="Times New Roman" pitchFamily="18" charset="0"/>
              </a:rPr>
              <a:t>: Toplantıların adeta sabote edicisi rolünü oynar; inatla itiraz eder; başkalarının görüşlerini </a:t>
            </a:r>
            <a:r>
              <a:rPr lang="tr-TR" sz="2000" dirty="0" err="1" smtClean="0">
                <a:cs typeface="Times New Roman" pitchFamily="18" charset="0"/>
              </a:rPr>
              <a:t>red</a:t>
            </a:r>
            <a:r>
              <a:rPr lang="tr-TR" sz="2000" dirty="0" smtClean="0">
                <a:cs typeface="Times New Roman" pitchFamily="18" charset="0"/>
              </a:rPr>
              <a:t> eder; konuyu saptırır.</a:t>
            </a:r>
          </a:p>
          <a:p>
            <a:pPr eaLnBrk="1" hangingPunct="1">
              <a:lnSpc>
                <a:spcPct val="90000"/>
              </a:lnSpc>
              <a:defRPr/>
            </a:pPr>
            <a:r>
              <a:rPr lang="tr-TR" sz="2000" b="1" dirty="0" smtClean="0">
                <a:cs typeface="Times New Roman" pitchFamily="18" charset="0"/>
              </a:rPr>
              <a:t>Çekimser</a:t>
            </a:r>
            <a:r>
              <a:rPr lang="tr-TR" sz="2000" dirty="0" smtClean="0">
                <a:cs typeface="Times New Roman" pitchFamily="18" charset="0"/>
              </a:rPr>
              <a:t>:</a:t>
            </a:r>
            <a:r>
              <a:rPr lang="tr-TR" sz="2000" b="1" dirty="0" smtClean="0">
                <a:cs typeface="Times New Roman" pitchFamily="18" charset="0"/>
              </a:rPr>
              <a:t> </a:t>
            </a:r>
            <a:r>
              <a:rPr lang="tr-TR" sz="2000" dirty="0" smtClean="0">
                <a:cs typeface="Times New Roman" pitchFamily="18" charset="0"/>
              </a:rPr>
              <a:t>Tartışmalara katılmaz; kişilerle tek tek konuşur; hayale dalar.</a:t>
            </a:r>
          </a:p>
          <a:p>
            <a:pPr eaLnBrk="1" hangingPunct="1">
              <a:lnSpc>
                <a:spcPct val="90000"/>
              </a:lnSpc>
              <a:defRPr/>
            </a:pPr>
            <a:r>
              <a:rPr lang="tr-TR" sz="2000" b="1" dirty="0" smtClean="0">
                <a:cs typeface="Times New Roman" pitchFamily="18" charset="0"/>
              </a:rPr>
              <a:t>İhtiraslı</a:t>
            </a:r>
            <a:r>
              <a:rPr lang="tr-TR" sz="2000" dirty="0" smtClean="0">
                <a:cs typeface="Times New Roman" pitchFamily="18" charset="0"/>
              </a:rPr>
              <a:t>:</a:t>
            </a:r>
            <a:r>
              <a:rPr lang="tr-TR" sz="2000" b="1" dirty="0" smtClean="0">
                <a:cs typeface="Times New Roman" pitchFamily="18" charset="0"/>
              </a:rPr>
              <a:t> </a:t>
            </a:r>
            <a:r>
              <a:rPr lang="tr-TR" sz="2000" dirty="0" smtClean="0">
                <a:cs typeface="Times New Roman" pitchFamily="18" charset="0"/>
              </a:rPr>
              <a:t>Mevkiinin bilincinde olup böbürlenerek konuşur.</a:t>
            </a:r>
          </a:p>
          <a:p>
            <a:pPr eaLnBrk="1" hangingPunct="1">
              <a:lnSpc>
                <a:spcPct val="90000"/>
              </a:lnSpc>
              <a:defRPr/>
            </a:pPr>
            <a:r>
              <a:rPr lang="tr-TR" sz="2000" b="1" dirty="0" smtClean="0">
                <a:cs typeface="Times New Roman" pitchFamily="18" charset="0"/>
              </a:rPr>
              <a:t>Uçarı</a:t>
            </a:r>
            <a:r>
              <a:rPr lang="tr-TR" sz="2000" dirty="0" smtClean="0">
                <a:cs typeface="Times New Roman" pitchFamily="18" charset="0"/>
              </a:rPr>
              <a:t>: Sürekli konu değiştirir.</a:t>
            </a:r>
          </a:p>
          <a:p>
            <a:pPr eaLnBrk="1" hangingPunct="1">
              <a:lnSpc>
                <a:spcPct val="90000"/>
              </a:lnSpc>
              <a:defRPr/>
            </a:pPr>
            <a:r>
              <a:rPr lang="tr-TR" sz="2000" b="1" dirty="0" smtClean="0">
                <a:cs typeface="Times New Roman" pitchFamily="18" charset="0"/>
              </a:rPr>
              <a:t>Despot</a:t>
            </a:r>
            <a:r>
              <a:rPr lang="tr-TR" sz="2000" dirty="0" smtClean="0">
                <a:cs typeface="Times New Roman" pitchFamily="18" charset="0"/>
              </a:rPr>
              <a:t>: Baskı yaparak konuşur, hep söz almak ister; grubun yönetimini ele geçirmeye çalışır.</a:t>
            </a:r>
          </a:p>
          <a:p>
            <a:pPr eaLnBrk="1" hangingPunct="1">
              <a:lnSpc>
                <a:spcPct val="90000"/>
              </a:lnSpc>
              <a:defRPr/>
            </a:pPr>
            <a:r>
              <a:rPr lang="tr-TR" sz="2000" b="1" dirty="0" smtClean="0">
                <a:cs typeface="Times New Roman" pitchFamily="18" charset="0"/>
              </a:rPr>
              <a:t>Bencil</a:t>
            </a:r>
            <a:r>
              <a:rPr lang="tr-TR" sz="2000" dirty="0" smtClean="0">
                <a:cs typeface="Times New Roman" pitchFamily="18" charset="0"/>
              </a:rPr>
              <a:t>: Kendi arzuları için başkalarının zamanını boşa harcar.</a:t>
            </a:r>
          </a:p>
          <a:p>
            <a:pPr eaLnBrk="1" hangingPunct="1">
              <a:lnSpc>
                <a:spcPct val="90000"/>
              </a:lnSpc>
              <a:defRPr/>
            </a:pPr>
            <a:r>
              <a:rPr lang="tr-TR" sz="2000" b="1" dirty="0" err="1" smtClean="0">
                <a:cs typeface="Times New Roman" pitchFamily="18" charset="0"/>
              </a:rPr>
              <a:t>Playboy</a:t>
            </a:r>
            <a:r>
              <a:rPr lang="tr-TR" sz="2000" dirty="0" smtClean="0">
                <a:cs typeface="Times New Roman" pitchFamily="18" charset="0"/>
              </a:rPr>
              <a:t>: Gösteriş yaparak herkese zaman kaybettirir; konu dışı fıkralar anlatır; kayıtsız, sinsi ve soğukkanlıdır.</a:t>
            </a:r>
          </a:p>
          <a:p>
            <a:pPr eaLnBrk="1" hangingPunct="1">
              <a:lnSpc>
                <a:spcPct val="90000"/>
              </a:lnSpc>
              <a:defRPr/>
            </a:pPr>
            <a:r>
              <a:rPr lang="tr-TR" sz="2000" b="1" dirty="0" smtClean="0">
                <a:cs typeface="Times New Roman" pitchFamily="18" charset="0"/>
              </a:rPr>
              <a:t>Şeytan</a:t>
            </a:r>
            <a:r>
              <a:rPr lang="tr-TR" sz="2000" dirty="0" smtClean="0">
                <a:cs typeface="Times New Roman" pitchFamily="18" charset="0"/>
              </a:rPr>
              <a:t>: Sırf tartışma yaratmak </a:t>
            </a:r>
            <a:r>
              <a:rPr lang="tr-TR" sz="2000" dirty="0" err="1" smtClean="0">
                <a:cs typeface="Times New Roman" pitchFamily="18" charset="0"/>
              </a:rPr>
              <a:t>amacıya</a:t>
            </a:r>
            <a:r>
              <a:rPr lang="tr-TR" sz="2000" dirty="0" smtClean="0">
                <a:cs typeface="Times New Roman" pitchFamily="18" charset="0"/>
              </a:rPr>
              <a:t> zayıf tarafı tutar.</a:t>
            </a:r>
          </a:p>
          <a:p>
            <a:pPr eaLnBrk="1" hangingPunct="1">
              <a:lnSpc>
                <a:spcPct val="90000"/>
              </a:lnSpc>
              <a:defRPr/>
            </a:pPr>
            <a:r>
              <a:rPr lang="tr-TR" sz="2000" dirty="0" smtClean="0">
                <a:cs typeface="Times New Roman" pitchFamily="18" charset="0"/>
              </a:rPr>
              <a:t> </a:t>
            </a:r>
          </a:p>
          <a:p>
            <a:pPr eaLnBrk="1" hangingPunct="1">
              <a:lnSpc>
                <a:spcPct val="90000"/>
              </a:lnSpc>
              <a:defRPr/>
            </a:pPr>
            <a:endParaRPr lang="tr-TR" sz="2000" dirty="0" smtClean="0"/>
          </a:p>
        </p:txBody>
      </p:sp>
      <p:sp>
        <p:nvSpPr>
          <p:cNvPr id="22532"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2C5A9481-70D5-468E-B8D4-C48B3A0F8809}" type="slidenum">
              <a:rPr lang="tr-TR" altLang="tr-TR" sz="1400">
                <a:solidFill>
                  <a:schemeClr val="bg2"/>
                </a:solidFill>
              </a:rPr>
              <a:pPr eaLnBrk="1" hangingPunct="1"/>
              <a:t>20</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6"/>
          <p:cNvSpPr>
            <a:spLocks noGrp="1" noChangeArrowheads="1"/>
          </p:cNvSpPr>
          <p:nvPr>
            <p:ph type="title"/>
          </p:nvPr>
        </p:nvSpPr>
        <p:spPr>
          <a:xfrm>
            <a:off x="1447800" y="914400"/>
            <a:ext cx="7086600" cy="4495800"/>
          </a:xfrm>
        </p:spPr>
        <p:txBody>
          <a:bodyPr/>
          <a:lstStyle/>
          <a:p>
            <a:pPr eaLnBrk="1" hangingPunct="1"/>
            <a:r>
              <a:rPr lang="tr-TR" altLang="tr-TR" sz="2400" b="1" smtClean="0">
                <a:cs typeface="Times New Roman" panose="02020603050405020304" pitchFamily="18" charset="0"/>
              </a:rPr>
              <a:t>Toplantıda Grubu Destekleyen Roller</a:t>
            </a:r>
            <a:br>
              <a:rPr lang="tr-TR" altLang="tr-TR" sz="2400" b="1" smtClean="0">
                <a:cs typeface="Times New Roman" panose="02020603050405020304" pitchFamily="18" charset="0"/>
              </a:rPr>
            </a:br>
            <a:r>
              <a:rPr lang="en-US" altLang="tr-TR" sz="2000" b="1" smtClean="0">
                <a:cs typeface="Times New Roman" panose="02020603050405020304" pitchFamily="18" charset="0"/>
              </a:rPr>
              <a:t/>
            </a:r>
            <a:br>
              <a:rPr lang="en-US" altLang="tr-TR" sz="2000" b="1" smtClean="0">
                <a:cs typeface="Times New Roman" panose="02020603050405020304" pitchFamily="18" charset="0"/>
              </a:rPr>
            </a:br>
            <a:r>
              <a:rPr lang="tr-TR" altLang="tr-TR" sz="2000" smtClean="0">
                <a:cs typeface="Times New Roman" panose="02020603050405020304" pitchFamily="18" charset="0"/>
              </a:rPr>
              <a:t> </a:t>
            </a:r>
            <a:br>
              <a:rPr lang="tr-TR" altLang="tr-TR" sz="2000" smtClean="0">
                <a:cs typeface="Times New Roman" panose="02020603050405020304" pitchFamily="18" charset="0"/>
              </a:rPr>
            </a:br>
            <a:r>
              <a:rPr lang="tr-TR" altLang="tr-TR" sz="2000" b="1" smtClean="0">
                <a:cs typeface="Times New Roman" panose="02020603050405020304" pitchFamily="18" charset="0"/>
              </a:rPr>
              <a:t>Girişimci</a:t>
            </a:r>
            <a:r>
              <a:rPr lang="tr-TR" altLang="tr-TR" sz="2000" smtClean="0">
                <a:cs typeface="Times New Roman" panose="02020603050405020304" pitchFamily="18" charset="0"/>
              </a:rPr>
              <a:t>: Tartışmalar için yeni ve farklı fikirler geliştirir; sorunlara olumlu yaklaşır.</a:t>
            </a:r>
            <a:br>
              <a:rPr lang="tr-TR" altLang="tr-TR" sz="2000" smtClean="0">
                <a:cs typeface="Times New Roman" panose="02020603050405020304" pitchFamily="18" charset="0"/>
              </a:rPr>
            </a:br>
            <a:r>
              <a:rPr lang="tr-TR" altLang="tr-TR" sz="2000" b="1" smtClean="0">
                <a:cs typeface="Times New Roman" panose="02020603050405020304" pitchFamily="18" charset="0"/>
              </a:rPr>
              <a:t>Önerici</a:t>
            </a:r>
            <a:r>
              <a:rPr lang="tr-TR" altLang="tr-TR" sz="2000" smtClean="0">
                <a:cs typeface="Times New Roman" panose="02020603050405020304" pitchFamily="18" charset="0"/>
              </a:rPr>
              <a:t>: Konuyla ilgili düşünce ve inançların, başkalarının önerilerini iletir.</a:t>
            </a:r>
            <a:br>
              <a:rPr lang="tr-TR" altLang="tr-TR" sz="2000" smtClean="0">
                <a:cs typeface="Times New Roman" panose="02020603050405020304" pitchFamily="18" charset="0"/>
              </a:rPr>
            </a:br>
            <a:r>
              <a:rPr lang="tr-TR" altLang="tr-TR" sz="2000" smtClean="0"/>
              <a:t>  </a:t>
            </a:r>
            <a:r>
              <a:rPr lang="tr-TR" altLang="tr-TR" sz="2000" b="1" smtClean="0">
                <a:cs typeface="Times New Roman" panose="02020603050405020304" pitchFamily="18" charset="0"/>
              </a:rPr>
              <a:t>Ayrıntıcı</a:t>
            </a:r>
            <a:r>
              <a:rPr lang="tr-TR" altLang="tr-TR" sz="2000" smtClean="0">
                <a:cs typeface="Times New Roman" panose="02020603050405020304" pitchFamily="18" charset="0"/>
              </a:rPr>
              <a:t>: Başkalarının fikir ve önerilerinden yola çıkar ve bunların iyice ayrıntılarına iner.</a:t>
            </a:r>
            <a:br>
              <a:rPr lang="tr-TR" altLang="tr-TR" sz="2000" smtClean="0">
                <a:cs typeface="Times New Roman" panose="02020603050405020304" pitchFamily="18" charset="0"/>
              </a:rPr>
            </a:br>
            <a:r>
              <a:rPr lang="tr-TR" altLang="tr-TR" sz="2000" b="1" smtClean="0">
                <a:cs typeface="Times New Roman" panose="02020603050405020304" pitchFamily="18" charset="0"/>
              </a:rPr>
              <a:t>Açıklayıc</a:t>
            </a:r>
            <a:r>
              <a:rPr lang="tr-TR" altLang="tr-TR" sz="2000" smtClean="0">
                <a:cs typeface="Times New Roman" panose="02020603050405020304" pitchFamily="18" charset="0"/>
              </a:rPr>
              <a:t>ı: Konuyla ilgili örnekler verir; anlam ve mantık araştırır; sorunları tek tek gündeme getirir.</a:t>
            </a:r>
            <a:br>
              <a:rPr lang="tr-TR" altLang="tr-TR" sz="2000" smtClean="0">
                <a:cs typeface="Times New Roman" panose="02020603050405020304" pitchFamily="18" charset="0"/>
              </a:rPr>
            </a:br>
            <a:r>
              <a:rPr lang="tr-TR" altLang="tr-TR" sz="2000" b="1" smtClean="0">
                <a:cs typeface="Times New Roman" panose="02020603050405020304" pitchFamily="18" charset="0"/>
              </a:rPr>
              <a:t>Sınayıcı</a:t>
            </a:r>
            <a:r>
              <a:rPr lang="tr-TR" altLang="tr-TR" sz="2000" smtClean="0">
                <a:cs typeface="Times New Roman" panose="02020603050405020304" pitchFamily="18" charset="0"/>
              </a:rPr>
              <a:t>:</a:t>
            </a:r>
            <a:r>
              <a:rPr lang="tr-TR" altLang="tr-TR" sz="2000" b="1" smtClean="0">
                <a:cs typeface="Times New Roman" panose="02020603050405020304" pitchFamily="18" charset="0"/>
              </a:rPr>
              <a:t> </a:t>
            </a:r>
            <a:r>
              <a:rPr lang="tr-TR" altLang="tr-TR" sz="2000" smtClean="0">
                <a:cs typeface="Times New Roman" panose="02020603050405020304" pitchFamily="18" charset="0"/>
              </a:rPr>
              <a:t>Grubun karara hazır olup olmadığını sınamak üzere sorular sorar.</a:t>
            </a:r>
            <a:br>
              <a:rPr lang="tr-TR" altLang="tr-TR" sz="2000" smtClean="0">
                <a:cs typeface="Times New Roman" panose="02020603050405020304" pitchFamily="18" charset="0"/>
              </a:rPr>
            </a:br>
            <a:endParaRPr lang="tr-TR" altLang="tr-TR" sz="2000" smtClean="0">
              <a:cs typeface="Times New Roman" panose="02020603050405020304" pitchFamily="18" charset="0"/>
            </a:endParaRPr>
          </a:p>
        </p:txBody>
      </p:sp>
      <p:sp>
        <p:nvSpPr>
          <p:cNvPr id="23555"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A822B192-E0D7-4B4C-8783-9D7448CE85BC}" type="slidenum">
              <a:rPr lang="tr-TR" altLang="tr-TR" sz="1400">
                <a:solidFill>
                  <a:schemeClr val="bg2"/>
                </a:solidFill>
              </a:rPr>
              <a:pPr eaLnBrk="1" hangingPunct="1"/>
              <a:t>21</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tr-TR" altLang="tr-TR" sz="2000" smtClean="0">
                <a:cs typeface="Times New Roman" panose="02020603050405020304" pitchFamily="18" charset="0"/>
              </a:rPr>
              <a:t/>
            </a:r>
            <a:br>
              <a:rPr lang="tr-TR" altLang="tr-TR" sz="2000" smtClean="0">
                <a:cs typeface="Times New Roman" panose="02020603050405020304" pitchFamily="18" charset="0"/>
              </a:rPr>
            </a:br>
            <a:r>
              <a:rPr lang="tr-TR" altLang="tr-TR" sz="2800" b="1" smtClean="0">
                <a:cs typeface="Times New Roman" panose="02020603050405020304" pitchFamily="18" charset="0"/>
              </a:rPr>
              <a:t>Grubu Kayna</a:t>
            </a:r>
            <a:r>
              <a:rPr lang="tr-TR" altLang="tr-TR" sz="2800" b="1" smtClean="0"/>
              <a:t>ş</a:t>
            </a:r>
            <a:r>
              <a:rPr lang="tr-TR" altLang="tr-TR" sz="2800" b="1" smtClean="0">
                <a:cs typeface="Times New Roman" panose="02020603050405020304" pitchFamily="18" charset="0"/>
              </a:rPr>
              <a:t>tıran Roller</a:t>
            </a:r>
            <a:r>
              <a:rPr lang="en-US" altLang="tr-TR" sz="2800" b="1" smtClean="0">
                <a:cs typeface="Times New Roman" panose="02020603050405020304" pitchFamily="18" charset="0"/>
              </a:rPr>
              <a:t/>
            </a:r>
            <a:br>
              <a:rPr lang="en-US" altLang="tr-TR" sz="2800" b="1" smtClean="0">
                <a:cs typeface="Times New Roman" panose="02020603050405020304" pitchFamily="18" charset="0"/>
              </a:rPr>
            </a:br>
            <a:endParaRPr lang="tr-TR" altLang="tr-TR" sz="2800" b="1" smtClean="0">
              <a:cs typeface="Times New Roman" panose="02020603050405020304" pitchFamily="18" charset="0"/>
            </a:endParaRPr>
          </a:p>
        </p:txBody>
      </p:sp>
      <p:sp>
        <p:nvSpPr>
          <p:cNvPr id="24579" name="Rectangle 3"/>
          <p:cNvSpPr>
            <a:spLocks noGrp="1" noChangeArrowheads="1"/>
          </p:cNvSpPr>
          <p:nvPr>
            <p:ph idx="1"/>
          </p:nvPr>
        </p:nvSpPr>
        <p:spPr>
          <a:xfrm>
            <a:off x="1524000" y="1676400"/>
            <a:ext cx="7239000" cy="4419600"/>
          </a:xfrm>
        </p:spPr>
        <p:txBody>
          <a:bodyPr/>
          <a:lstStyle/>
          <a:p>
            <a:pPr eaLnBrk="1" hangingPunct="1"/>
            <a:r>
              <a:rPr lang="tr-TR" altLang="tr-TR" sz="2800" b="1" smtClean="0">
                <a:cs typeface="Times New Roman" panose="02020603050405020304" pitchFamily="18" charset="0"/>
              </a:rPr>
              <a:t>Rahatlatıcı</a:t>
            </a:r>
            <a:r>
              <a:rPr lang="tr-TR" altLang="tr-TR" sz="2800" smtClean="0">
                <a:cs typeface="Times New Roman" panose="02020603050405020304" pitchFamily="18" charset="0"/>
              </a:rPr>
              <a:t>:  Olumsuzlukları gidermek üzere gerekli anlarda toplantıya ara verilmesini sağlar; gerilimi azaltmak üzere şakalar yapar.</a:t>
            </a:r>
          </a:p>
          <a:p>
            <a:pPr eaLnBrk="1" hangingPunct="1"/>
            <a:r>
              <a:rPr lang="tr-TR" altLang="tr-TR" sz="2800" b="1" smtClean="0">
                <a:cs typeface="Times New Roman" panose="02020603050405020304" pitchFamily="18" charset="0"/>
              </a:rPr>
              <a:t>Uzlaşmacı</a:t>
            </a:r>
            <a:r>
              <a:rPr lang="tr-TR" altLang="tr-TR" sz="2800" smtClean="0">
                <a:cs typeface="Times New Roman" panose="02020603050405020304" pitchFamily="18" charset="0"/>
              </a:rPr>
              <a:t>: Gelişme için gerekli yerlerde boyun eğer taviz verir.</a:t>
            </a:r>
          </a:p>
          <a:p>
            <a:pPr eaLnBrk="1" hangingPunct="1"/>
            <a:r>
              <a:rPr lang="tr-TR" altLang="tr-TR" sz="2800" b="1" smtClean="0">
                <a:cs typeface="Times New Roman" panose="02020603050405020304" pitchFamily="18" charset="0"/>
              </a:rPr>
              <a:t>Uyum sağlayıcı</a:t>
            </a:r>
            <a:r>
              <a:rPr lang="tr-TR" altLang="tr-TR" sz="2800" smtClean="0">
                <a:cs typeface="Times New Roman" panose="02020603050405020304" pitchFamily="18" charset="0"/>
              </a:rPr>
              <a:t>:</a:t>
            </a:r>
            <a:r>
              <a:rPr lang="tr-TR" altLang="tr-TR" sz="2800" b="1" smtClean="0">
                <a:cs typeface="Times New Roman" panose="02020603050405020304" pitchFamily="18" charset="0"/>
              </a:rPr>
              <a:t> </a:t>
            </a:r>
            <a:r>
              <a:rPr lang="tr-TR" altLang="tr-TR" sz="2800" smtClean="0">
                <a:cs typeface="Times New Roman" panose="02020603050405020304" pitchFamily="18" charset="0"/>
              </a:rPr>
              <a:t>Farklılık ve anlaşmazlıkları gidermek için aracılık ve arabuluculuk yapar.</a:t>
            </a:r>
          </a:p>
          <a:p>
            <a:pPr eaLnBrk="1" hangingPunct="1"/>
            <a:endParaRPr lang="tr-TR" altLang="tr-TR" sz="2800" smtClean="0"/>
          </a:p>
        </p:txBody>
      </p:sp>
      <p:sp>
        <p:nvSpPr>
          <p:cNvPr id="24580"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A9752C9A-683C-40DF-AB90-685C5572D671}" type="slidenum">
              <a:rPr lang="tr-TR" altLang="tr-TR" sz="1400">
                <a:solidFill>
                  <a:schemeClr val="bg2"/>
                </a:solidFill>
              </a:rPr>
              <a:pPr eaLnBrk="1" hangingPunct="1"/>
              <a:t>22</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257300" y="533400"/>
            <a:ext cx="7772400" cy="685800"/>
          </a:xfrm>
        </p:spPr>
        <p:txBody>
          <a:bodyPr/>
          <a:lstStyle/>
          <a:p>
            <a:pPr algn="ctr" eaLnBrk="1" hangingPunct="1"/>
            <a:r>
              <a:rPr lang="tr-TR" altLang="tr-TR" sz="4000" b="1" smtClean="0">
                <a:cs typeface="Times New Roman" panose="02020603050405020304" pitchFamily="18" charset="0"/>
              </a:rPr>
              <a:t>Toplantıda Oynanan Oyunlar</a:t>
            </a:r>
            <a:r>
              <a:rPr lang="tr-TR" altLang="tr-TR" smtClean="0"/>
              <a:t> </a:t>
            </a:r>
          </a:p>
        </p:txBody>
      </p:sp>
      <p:sp>
        <p:nvSpPr>
          <p:cNvPr id="16387" name="Rectangle 3"/>
          <p:cNvSpPr>
            <a:spLocks noGrp="1" noChangeArrowheads="1"/>
          </p:cNvSpPr>
          <p:nvPr>
            <p:ph idx="1"/>
          </p:nvPr>
        </p:nvSpPr>
        <p:spPr>
          <a:xfrm>
            <a:off x="1371600" y="1371600"/>
            <a:ext cx="7467600" cy="5153025"/>
          </a:xfrm>
        </p:spPr>
        <p:txBody>
          <a:bodyPr/>
          <a:lstStyle/>
          <a:p>
            <a:pPr marL="0" indent="0" eaLnBrk="1" hangingPunct="1">
              <a:lnSpc>
                <a:spcPct val="90000"/>
              </a:lnSpc>
              <a:buFont typeface="Wingdings" panose="05000000000000000000" pitchFamily="2" charset="2"/>
              <a:buNone/>
              <a:defRPr/>
            </a:pPr>
            <a:r>
              <a:rPr lang="tr-TR" sz="2000" dirty="0" smtClean="0">
                <a:cs typeface="Times New Roman" charset="0"/>
              </a:rPr>
              <a:t>“</a:t>
            </a:r>
            <a:r>
              <a:rPr lang="tr-TR" sz="2000" b="1" dirty="0" smtClean="0">
                <a:cs typeface="Times New Roman" charset="0"/>
              </a:rPr>
              <a:t>Ne müthiş bir insanım ben</a:t>
            </a:r>
            <a:r>
              <a:rPr lang="tr-TR" sz="2000" dirty="0" smtClean="0">
                <a:cs typeface="Times New Roman" charset="0"/>
              </a:rPr>
              <a:t>” oyunu.</a:t>
            </a:r>
          </a:p>
          <a:p>
            <a:pPr eaLnBrk="1" hangingPunct="1">
              <a:lnSpc>
                <a:spcPct val="90000"/>
              </a:lnSpc>
              <a:defRPr/>
            </a:pPr>
            <a:r>
              <a:rPr lang="tr-TR" sz="2000" dirty="0" smtClean="0">
                <a:cs typeface="Times New Roman" charset="0"/>
              </a:rPr>
              <a:t> Bireyin daima iyi, başarılı ve hatasız görülmesi ve durmadan çalıştığını ifade etmesidir. Bu oyun şu oyunlarla ortaya çıkmaktadır:</a:t>
            </a:r>
          </a:p>
          <a:p>
            <a:pPr eaLnBrk="1" hangingPunct="1">
              <a:lnSpc>
                <a:spcPct val="90000"/>
              </a:lnSpc>
              <a:defRPr/>
            </a:pPr>
            <a:r>
              <a:rPr lang="tr-TR" sz="2000" dirty="0" smtClean="0">
                <a:cs typeface="Times New Roman" charset="0"/>
              </a:rPr>
              <a:t>a)      </a:t>
            </a:r>
            <a:r>
              <a:rPr lang="tr-TR" sz="2000" b="1" dirty="0" smtClean="0">
                <a:cs typeface="Times New Roman" charset="0"/>
              </a:rPr>
              <a:t>Günün </a:t>
            </a:r>
            <a:r>
              <a:rPr lang="tr-TR" sz="2000" b="1" dirty="0" err="1" smtClean="0">
                <a:cs typeface="Times New Roman" charset="0"/>
              </a:rPr>
              <a:t>mücizeler</a:t>
            </a:r>
            <a:r>
              <a:rPr lang="tr-TR" sz="2000" dirty="0" err="1" smtClean="0">
                <a:cs typeface="Times New Roman" charset="0"/>
              </a:rPr>
              <a:t>i</a:t>
            </a:r>
            <a:r>
              <a:rPr lang="tr-TR" sz="2000" dirty="0" smtClean="0">
                <a:cs typeface="Times New Roman" charset="0"/>
              </a:rPr>
              <a:t>: Yapılan sıradan  işleri olağanüstü bir başarı olarak,  adeta “mucize” olarak gösterme; hiçbir sorunu gündeme getirmeme söz konusudur.</a:t>
            </a:r>
          </a:p>
          <a:p>
            <a:pPr eaLnBrk="1" hangingPunct="1">
              <a:lnSpc>
                <a:spcPct val="90000"/>
              </a:lnSpc>
              <a:defRPr/>
            </a:pPr>
            <a:r>
              <a:rPr lang="tr-TR" sz="2000" dirty="0" smtClean="0">
                <a:cs typeface="Times New Roman" charset="0"/>
              </a:rPr>
              <a:t>b)      </a:t>
            </a:r>
            <a:r>
              <a:rPr lang="tr-TR" sz="2000" b="1" dirty="0" smtClean="0">
                <a:cs typeface="Times New Roman" charset="0"/>
              </a:rPr>
              <a:t>Ne güçlüklerle başardık</a:t>
            </a:r>
            <a:r>
              <a:rPr lang="tr-TR" sz="2000" dirty="0" smtClean="0">
                <a:cs typeface="Times New Roman" charset="0"/>
              </a:rPr>
              <a:t>. Bütün güçlüklerin nasıl yenildiği görüntüsü verilir; bütün zorluk ve tehlikelerin nasıl başarıyla atlatıldığı anlatılır; " benden iyisi yoktur” izlenimi verilir.</a:t>
            </a:r>
          </a:p>
          <a:p>
            <a:pPr eaLnBrk="1" hangingPunct="1">
              <a:lnSpc>
                <a:spcPct val="90000"/>
              </a:lnSpc>
              <a:defRPr/>
            </a:pPr>
            <a:r>
              <a:rPr lang="tr-TR" sz="2000" dirty="0" smtClean="0">
                <a:cs typeface="Times New Roman" charset="0"/>
              </a:rPr>
              <a:t>c)      </a:t>
            </a:r>
            <a:r>
              <a:rPr lang="tr-TR" sz="2000" b="1" dirty="0" smtClean="0">
                <a:cs typeface="Times New Roman" charset="0"/>
              </a:rPr>
              <a:t>Ne kadar sıkı çalışıyoruz: T</a:t>
            </a:r>
            <a:r>
              <a:rPr lang="tr-TR" sz="2000" dirty="0" smtClean="0">
                <a:cs typeface="Times New Roman" charset="0"/>
              </a:rPr>
              <a:t>er döküldüğü, eziyet çekildiği, başarıya ulaşmak için durmadan gece gündüz her şeyin feda edilerek çalışıldığı izlenimini  verme,  daha doğrusu  böyle görünmedir.</a:t>
            </a:r>
          </a:p>
          <a:p>
            <a:pPr eaLnBrk="1" hangingPunct="1">
              <a:lnSpc>
                <a:spcPct val="90000"/>
              </a:lnSpc>
              <a:defRPr/>
            </a:pPr>
            <a:r>
              <a:rPr lang="tr-TR" sz="2000" dirty="0" smtClean="0">
                <a:cs typeface="Times New Roman" charset="0"/>
              </a:rPr>
              <a:t>d)      </a:t>
            </a:r>
            <a:r>
              <a:rPr lang="tr-TR" sz="2000" b="1" dirty="0" smtClean="0">
                <a:cs typeface="Times New Roman" charset="0"/>
              </a:rPr>
              <a:t>Halının altına süpürmek:</a:t>
            </a:r>
            <a:r>
              <a:rPr lang="tr-TR" sz="2000" dirty="0" smtClean="0">
                <a:cs typeface="Times New Roman" charset="0"/>
              </a:rPr>
              <a:t> Sorunları çözmek yerine başarı ile saklamaktır.</a:t>
            </a:r>
          </a:p>
          <a:p>
            <a:pPr eaLnBrk="1" hangingPunct="1">
              <a:lnSpc>
                <a:spcPct val="90000"/>
              </a:lnSpc>
              <a:defRPr/>
            </a:pPr>
            <a:endParaRPr lang="tr-TR" sz="2000" dirty="0" smtClean="0"/>
          </a:p>
        </p:txBody>
      </p:sp>
      <p:sp>
        <p:nvSpPr>
          <p:cNvPr id="25604"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F48103D7-9124-4DBA-AA7F-1F9C6329AE09}" type="slidenum">
              <a:rPr lang="tr-TR" altLang="tr-TR" sz="1400">
                <a:solidFill>
                  <a:schemeClr val="bg2"/>
                </a:solidFill>
              </a:rPr>
              <a:pPr eaLnBrk="1" hangingPunct="1"/>
              <a:t>23</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tr-TR" altLang="tr-TR" sz="2800" b="1" smtClean="0">
                <a:cs typeface="Times New Roman" panose="02020603050405020304" pitchFamily="18" charset="0"/>
              </a:rPr>
              <a:t>Suçlama oyunları</a:t>
            </a:r>
            <a:r>
              <a:rPr lang="tr-TR" altLang="tr-TR" sz="2800" smtClean="0">
                <a:cs typeface="Times New Roman" panose="02020603050405020304" pitchFamily="18" charset="0"/>
              </a:rPr>
              <a:t/>
            </a:r>
            <a:br>
              <a:rPr lang="tr-TR" altLang="tr-TR" sz="2800" smtClean="0">
                <a:cs typeface="Times New Roman" panose="02020603050405020304" pitchFamily="18" charset="0"/>
              </a:rPr>
            </a:br>
            <a:endParaRPr lang="tr-TR" altLang="tr-TR" sz="2800" smtClean="0">
              <a:cs typeface="Times New Roman" panose="02020603050405020304" pitchFamily="18" charset="0"/>
            </a:endParaRPr>
          </a:p>
        </p:txBody>
      </p:sp>
      <p:sp>
        <p:nvSpPr>
          <p:cNvPr id="24579" name="Rectangle 3"/>
          <p:cNvSpPr>
            <a:spLocks noGrp="1" noChangeArrowheads="1"/>
          </p:cNvSpPr>
          <p:nvPr>
            <p:ph idx="1"/>
          </p:nvPr>
        </p:nvSpPr>
        <p:spPr>
          <a:xfrm>
            <a:off x="1371600" y="1447800"/>
            <a:ext cx="7772400" cy="4572000"/>
          </a:xfrm>
        </p:spPr>
        <p:txBody>
          <a:bodyPr/>
          <a:lstStyle/>
          <a:p>
            <a:pPr marL="0" indent="0" eaLnBrk="1" hangingPunct="1">
              <a:lnSpc>
                <a:spcPct val="90000"/>
              </a:lnSpc>
              <a:buFont typeface="Wingdings" panose="05000000000000000000" pitchFamily="2" charset="2"/>
              <a:buNone/>
              <a:defRPr/>
            </a:pPr>
            <a:r>
              <a:rPr lang="tr-TR" sz="2000" dirty="0" smtClean="0">
                <a:cs typeface="Times New Roman" pitchFamily="18" charset="0"/>
              </a:rPr>
              <a:t>Bu türden oyunlarda en iyi savunmanın hücum olduğu anlayışı hakimdir. </a:t>
            </a:r>
          </a:p>
          <a:p>
            <a:pPr eaLnBrk="1" hangingPunct="1">
              <a:lnSpc>
                <a:spcPct val="90000"/>
              </a:lnSpc>
              <a:defRPr/>
            </a:pPr>
            <a:r>
              <a:rPr lang="tr-TR" sz="2000" dirty="0" smtClean="0">
                <a:cs typeface="Times New Roman" pitchFamily="18" charset="0"/>
              </a:rPr>
              <a:t>a)      </a:t>
            </a:r>
            <a:r>
              <a:rPr lang="tr-TR" sz="2000" b="1" dirty="0" smtClean="0">
                <a:cs typeface="Times New Roman" pitchFamily="18" charset="0"/>
              </a:rPr>
              <a:t>Böyle yapmasalardı</a:t>
            </a:r>
            <a:r>
              <a:rPr lang="tr-TR" sz="2000" dirty="0" smtClean="0">
                <a:cs typeface="Times New Roman" pitchFamily="18" charset="0"/>
              </a:rPr>
              <a:t>: Olmamış bir olayın sorumluluğu başka birine yüklemek suretiyle oynanır. Bu özelliği dolayısıyla da yıkıcı bir oyundur bu.  Doğaldır ki bu oyunda herkes en çok da suçlayan kaybeder.</a:t>
            </a:r>
          </a:p>
          <a:p>
            <a:pPr eaLnBrk="1" hangingPunct="1">
              <a:lnSpc>
                <a:spcPct val="90000"/>
              </a:lnSpc>
              <a:defRPr/>
            </a:pPr>
            <a:r>
              <a:rPr lang="tr-TR" sz="2000" dirty="0" smtClean="0">
                <a:cs typeface="Times New Roman" pitchFamily="18" charset="0"/>
              </a:rPr>
              <a:t>b)      </a:t>
            </a:r>
            <a:r>
              <a:rPr lang="tr-TR" sz="2000" b="1" dirty="0" smtClean="0">
                <a:cs typeface="Times New Roman" pitchFamily="18" charset="0"/>
              </a:rPr>
              <a:t>Çamur atmak</a:t>
            </a:r>
            <a:r>
              <a:rPr lang="tr-TR" sz="2000" dirty="0" smtClean="0">
                <a:cs typeface="Times New Roman" pitchFamily="18" charset="0"/>
              </a:rPr>
              <a:t>: Çamur atan üye işi inceden inceye öyle eleştirir ki olumlu hiçbir iş kalmaz. Bu oyunda ana y</a:t>
            </a:r>
            <a:r>
              <a:rPr lang="tr-TR" sz="2000" dirty="0" smtClean="0"/>
              <a:t>ö</a:t>
            </a:r>
            <a:r>
              <a:rPr lang="tr-TR" sz="2000" dirty="0" smtClean="0">
                <a:cs typeface="Times New Roman" pitchFamily="18" charset="0"/>
              </a:rPr>
              <a:t>ntem, “ evet ama.....”, “ bu iyi ama.... sonuç” şeklinde özetlenebilir.</a:t>
            </a:r>
          </a:p>
          <a:p>
            <a:pPr eaLnBrk="1" hangingPunct="1">
              <a:lnSpc>
                <a:spcPct val="90000"/>
              </a:lnSpc>
              <a:defRPr/>
            </a:pPr>
            <a:r>
              <a:rPr lang="tr-TR" sz="2000" dirty="0" smtClean="0">
                <a:cs typeface="Times New Roman" pitchFamily="18" charset="0"/>
              </a:rPr>
              <a:t>c)      </a:t>
            </a:r>
            <a:r>
              <a:rPr lang="tr-TR" sz="2000" b="1" dirty="0" smtClean="0">
                <a:cs typeface="Times New Roman" pitchFamily="18" charset="0"/>
              </a:rPr>
              <a:t>Ateş et</a:t>
            </a:r>
            <a:r>
              <a:rPr lang="tr-TR" sz="2000" dirty="0" smtClean="0">
                <a:cs typeface="Times New Roman" pitchFamily="18" charset="0"/>
              </a:rPr>
              <a:t>: Sorunu görmek yerine üyelerin birbirlerini karşılıklı suçlamaları ve saldırmaları asıldır. Sorunu görmezlikten gelerek karşılıklı atışa geçmektir bu.</a:t>
            </a:r>
          </a:p>
          <a:p>
            <a:pPr eaLnBrk="1" hangingPunct="1">
              <a:lnSpc>
                <a:spcPct val="90000"/>
              </a:lnSpc>
              <a:defRPr/>
            </a:pPr>
            <a:r>
              <a:rPr lang="tr-TR" sz="2000" dirty="0" smtClean="0">
                <a:cs typeface="Times New Roman" pitchFamily="18" charset="0"/>
              </a:rPr>
              <a:t>d)      </a:t>
            </a:r>
            <a:r>
              <a:rPr lang="tr-TR" sz="2000" b="1" dirty="0" smtClean="0">
                <a:cs typeface="Times New Roman" pitchFamily="18" charset="0"/>
              </a:rPr>
              <a:t>Seni kıstırdık</a:t>
            </a:r>
            <a:r>
              <a:rPr lang="tr-TR" sz="2000" dirty="0" smtClean="0">
                <a:cs typeface="Times New Roman" pitchFamily="18" charset="0"/>
              </a:rPr>
              <a:t>: Sen bir hata yapacaksın diğerleri de üstüne çullanacak. Tıpkı yaralı bir insanı izleyen bir kurt gibi. </a:t>
            </a:r>
          </a:p>
          <a:p>
            <a:pPr eaLnBrk="1" hangingPunct="1">
              <a:lnSpc>
                <a:spcPct val="90000"/>
              </a:lnSpc>
              <a:defRPr/>
            </a:pPr>
            <a:r>
              <a:rPr lang="tr-TR" sz="2000" dirty="0" smtClean="0">
                <a:cs typeface="Times New Roman" pitchFamily="18" charset="0"/>
              </a:rPr>
              <a:t>e)      </a:t>
            </a:r>
            <a:r>
              <a:rPr lang="tr-TR" sz="2000" b="1" dirty="0" smtClean="0">
                <a:cs typeface="Times New Roman" pitchFamily="18" charset="0"/>
              </a:rPr>
              <a:t>Küt</a:t>
            </a:r>
            <a:r>
              <a:rPr lang="tr-TR" sz="2000" dirty="0" smtClean="0">
                <a:cs typeface="Times New Roman" pitchFamily="18" charset="0"/>
              </a:rPr>
              <a:t>-</a:t>
            </a:r>
            <a:r>
              <a:rPr lang="tr-TR" sz="2000" b="1" dirty="0" smtClean="0">
                <a:cs typeface="Times New Roman" pitchFamily="18" charset="0"/>
              </a:rPr>
              <a:t>pat</a:t>
            </a:r>
            <a:r>
              <a:rPr lang="tr-TR" sz="2000" dirty="0" smtClean="0">
                <a:cs typeface="Times New Roman" pitchFamily="18" charset="0"/>
              </a:rPr>
              <a:t>: Bu oyunda küfürden yumruklaşmaya dek her türden saldırı </a:t>
            </a:r>
            <a:r>
              <a:rPr lang="tr-TR" sz="2000" dirty="0" err="1" smtClean="0">
                <a:cs typeface="Times New Roman" pitchFamily="18" charset="0"/>
              </a:rPr>
              <a:t>serbestir</a:t>
            </a:r>
            <a:r>
              <a:rPr lang="tr-TR" sz="2000" dirty="0" smtClean="0">
                <a:cs typeface="Times New Roman" pitchFamily="18" charset="0"/>
              </a:rPr>
              <a:t>. Yumruk atan yumruk yiyeceğini de bildiğinden olanca gücüyle yumruk atar.</a:t>
            </a:r>
          </a:p>
          <a:p>
            <a:pPr eaLnBrk="1" hangingPunct="1">
              <a:lnSpc>
                <a:spcPct val="90000"/>
              </a:lnSpc>
              <a:defRPr/>
            </a:pPr>
            <a:endParaRPr lang="tr-TR" sz="2000" dirty="0" smtClean="0"/>
          </a:p>
        </p:txBody>
      </p:sp>
      <p:sp>
        <p:nvSpPr>
          <p:cNvPr id="26628"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257E08A5-94D6-49EF-B4F8-F7232940894C}" type="slidenum">
              <a:rPr lang="tr-TR" altLang="tr-TR" sz="1400">
                <a:solidFill>
                  <a:schemeClr val="bg2"/>
                </a:solidFill>
              </a:rPr>
              <a:pPr eaLnBrk="1" hangingPunct="1"/>
              <a:t>24</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idx="1"/>
          </p:nvPr>
        </p:nvSpPr>
        <p:spPr>
          <a:xfrm>
            <a:off x="1371600" y="1219200"/>
            <a:ext cx="7772400" cy="457200"/>
          </a:xfrm>
        </p:spPr>
        <p:txBody>
          <a:bodyPr/>
          <a:lstStyle/>
          <a:p>
            <a:pPr algn="ctr" eaLnBrk="1" hangingPunct="1">
              <a:buFont typeface="Wingdings" panose="05000000000000000000" pitchFamily="2" charset="2"/>
              <a:buNone/>
            </a:pPr>
            <a:r>
              <a:rPr lang="tr-TR" altLang="tr-TR" b="1" smtClean="0">
                <a:cs typeface="Times New Roman" panose="02020603050405020304" pitchFamily="18" charset="0"/>
              </a:rPr>
              <a:t>Toplantı Yönetimi- Yürütülmesi</a:t>
            </a:r>
            <a:endParaRPr lang="en-US" altLang="tr-TR" smtClean="0">
              <a:cs typeface="Times New Roman" panose="02020603050405020304" pitchFamily="18" charset="0"/>
            </a:endParaRPr>
          </a:p>
          <a:p>
            <a:pPr eaLnBrk="1" hangingPunct="1"/>
            <a:endParaRPr lang="tr-TR" altLang="tr-TR" smtClean="0"/>
          </a:p>
        </p:txBody>
      </p:sp>
      <p:sp>
        <p:nvSpPr>
          <p:cNvPr id="27651"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693F7454-D8C1-4255-9995-E471DFB3DE67}" type="slidenum">
              <a:rPr lang="tr-TR" altLang="tr-TR" sz="1400">
                <a:solidFill>
                  <a:schemeClr val="bg2"/>
                </a:solidFill>
              </a:rPr>
              <a:pPr eaLnBrk="1" hangingPunct="1"/>
              <a:t>25</a:t>
            </a:fld>
            <a:endParaRPr lang="tr-TR" altLang="tr-TR" sz="1400">
              <a:solidFill>
                <a:schemeClr val="bg2"/>
              </a:solidFill>
            </a:endParaRPr>
          </a:p>
        </p:txBody>
      </p:sp>
      <p:sp>
        <p:nvSpPr>
          <p:cNvPr id="27652" name="Text Box 4"/>
          <p:cNvSpPr txBox="1">
            <a:spLocks noChangeArrowheads="1"/>
          </p:cNvSpPr>
          <p:nvPr/>
        </p:nvSpPr>
        <p:spPr bwMode="auto">
          <a:xfrm>
            <a:off x="1295400" y="1219200"/>
            <a:ext cx="7391400" cy="655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endParaRPr lang="tr-TR" altLang="tr-TR">
              <a:latin typeface="Times New Roman" panose="02020603050405020304" pitchFamily="18" charset="0"/>
              <a:cs typeface="Times New Roman" panose="02020603050405020304" pitchFamily="18" charset="0"/>
            </a:endParaRPr>
          </a:p>
          <a:p>
            <a:pPr eaLnBrk="1" hangingPunct="1">
              <a:spcBef>
                <a:spcPct val="50000"/>
              </a:spcBef>
              <a:buFontTx/>
              <a:buChar char="•"/>
            </a:pPr>
            <a:r>
              <a:rPr lang="tr-TR" altLang="tr-TR">
                <a:latin typeface="Times New Roman" panose="02020603050405020304" pitchFamily="18" charset="0"/>
              </a:rPr>
              <a:t>Sorunu  belirleyin</a:t>
            </a:r>
          </a:p>
          <a:p>
            <a:pPr eaLnBrk="1" hangingPunct="1">
              <a:spcBef>
                <a:spcPct val="50000"/>
              </a:spcBef>
              <a:buFontTx/>
              <a:buChar char="•"/>
            </a:pPr>
            <a:r>
              <a:rPr lang="tr-TR" altLang="tr-TR">
                <a:latin typeface="Times New Roman" panose="02020603050405020304" pitchFamily="18" charset="0"/>
              </a:rPr>
              <a:t>Sorunu netleştirin</a:t>
            </a:r>
          </a:p>
          <a:p>
            <a:pPr eaLnBrk="1" hangingPunct="1">
              <a:spcBef>
                <a:spcPct val="50000"/>
              </a:spcBef>
              <a:buFontTx/>
              <a:buChar char="•"/>
            </a:pPr>
            <a:r>
              <a:rPr lang="tr-TR" altLang="tr-TR">
                <a:latin typeface="Times New Roman" panose="02020603050405020304" pitchFamily="18" charset="0"/>
              </a:rPr>
              <a:t>Seçenekler  geliştirin</a:t>
            </a:r>
          </a:p>
          <a:p>
            <a:pPr eaLnBrk="1" hangingPunct="1">
              <a:spcBef>
                <a:spcPct val="50000"/>
              </a:spcBef>
              <a:buFontTx/>
              <a:buChar char="•"/>
            </a:pPr>
            <a:r>
              <a:rPr lang="tr-TR" altLang="tr-TR">
                <a:latin typeface="Times New Roman" panose="02020603050405020304" pitchFamily="18" charset="0"/>
              </a:rPr>
              <a:t> Tartışmayı tavında tutun</a:t>
            </a:r>
          </a:p>
          <a:p>
            <a:pPr eaLnBrk="1" hangingPunct="1">
              <a:spcBef>
                <a:spcPct val="50000"/>
              </a:spcBef>
              <a:buFontTx/>
              <a:buChar char="•"/>
            </a:pPr>
            <a:r>
              <a:rPr lang="tr-TR" altLang="tr-TR">
                <a:latin typeface="Times New Roman" panose="02020603050405020304" pitchFamily="18" charset="0"/>
              </a:rPr>
              <a:t>Özetleyin</a:t>
            </a:r>
          </a:p>
          <a:p>
            <a:pPr eaLnBrk="1" hangingPunct="1">
              <a:spcBef>
                <a:spcPct val="50000"/>
              </a:spcBef>
              <a:buFontTx/>
              <a:buChar char="•"/>
            </a:pPr>
            <a:r>
              <a:rPr lang="tr-TR" altLang="tr-TR">
                <a:latin typeface="Times New Roman" panose="02020603050405020304" pitchFamily="18" charset="0"/>
              </a:rPr>
              <a:t>Grubun seçtiği çözümün sonucunu kontrol edin</a:t>
            </a:r>
          </a:p>
          <a:p>
            <a:pPr eaLnBrk="1" hangingPunct="1">
              <a:spcBef>
                <a:spcPct val="50000"/>
              </a:spcBef>
              <a:buFontTx/>
              <a:buChar char="•"/>
            </a:pPr>
            <a:r>
              <a:rPr lang="tr-TR" altLang="tr-TR">
                <a:latin typeface="Times New Roman" panose="02020603050405020304" pitchFamily="18" charset="0"/>
              </a:rPr>
              <a:t>Üyelerin yüklenimlerini kontrol edin</a:t>
            </a:r>
          </a:p>
          <a:p>
            <a:pPr eaLnBrk="1" hangingPunct="1">
              <a:spcBef>
                <a:spcPct val="50000"/>
              </a:spcBef>
              <a:buFontTx/>
              <a:buChar char="•"/>
            </a:pPr>
            <a:r>
              <a:rPr lang="tr-TR" altLang="tr-TR">
                <a:latin typeface="Times New Roman" panose="02020603050405020304" pitchFamily="18" charset="0"/>
              </a:rPr>
              <a:t>Üyeler arasında görüş birliği sağlayın </a:t>
            </a:r>
          </a:p>
          <a:p>
            <a:pPr eaLnBrk="1" hangingPunct="1">
              <a:spcBef>
                <a:spcPct val="50000"/>
              </a:spcBef>
              <a:buFontTx/>
              <a:buChar char="•"/>
            </a:pPr>
            <a:r>
              <a:rPr lang="tr-TR" altLang="tr-TR">
                <a:latin typeface="Times New Roman" panose="02020603050405020304" pitchFamily="18" charset="0"/>
              </a:rPr>
              <a:t>Gizli gündemi dikkate alın</a:t>
            </a:r>
          </a:p>
          <a:p>
            <a:pPr eaLnBrk="1" hangingPunct="1">
              <a:spcBef>
                <a:spcPct val="50000"/>
              </a:spcBef>
            </a:pPr>
            <a:endParaRPr lang="tr-TR" altLang="tr-TR">
              <a:latin typeface="Times New Roman" panose="02020603050405020304" pitchFamily="18" charset="0"/>
            </a:endParaRPr>
          </a:p>
          <a:p>
            <a:pPr algn="ctr" eaLnBrk="1" hangingPunct="1">
              <a:spcBef>
                <a:spcPct val="50000"/>
              </a:spcBef>
              <a:buFontTx/>
              <a:buChar char="•"/>
            </a:pPr>
            <a:endParaRPr lang="tr-TR" altLang="tr-TR">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Başlık 1"/>
          <p:cNvSpPr>
            <a:spLocks noGrp="1"/>
          </p:cNvSpPr>
          <p:nvPr>
            <p:ph type="title"/>
          </p:nvPr>
        </p:nvSpPr>
        <p:spPr/>
        <p:txBody>
          <a:bodyPr/>
          <a:lstStyle/>
          <a:p>
            <a:r>
              <a:rPr lang="tr-TR" altLang="tr-TR" smtClean="0"/>
              <a:t/>
            </a:r>
            <a:br>
              <a:rPr lang="tr-TR" altLang="tr-TR" smtClean="0"/>
            </a:br>
            <a:r>
              <a:rPr lang="tr-TR" altLang="tr-TR" smtClean="0"/>
              <a:t>Toplantının Pratik Öğeleri</a:t>
            </a:r>
          </a:p>
        </p:txBody>
      </p:sp>
      <p:sp>
        <p:nvSpPr>
          <p:cNvPr id="28675"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62C68923-0DED-4EF0-B156-4EC8DD1FD32F}" type="slidenum">
              <a:rPr lang="tr-TR" altLang="tr-TR" sz="1400">
                <a:solidFill>
                  <a:schemeClr val="bg2"/>
                </a:solidFill>
              </a:rPr>
              <a:pPr eaLnBrk="1" hangingPunct="1"/>
              <a:t>26</a:t>
            </a:fld>
            <a:endParaRPr lang="tr-TR" altLang="tr-TR" sz="1400">
              <a:solidFill>
                <a:schemeClr val="bg2"/>
              </a:solidFill>
            </a:endParaRPr>
          </a:p>
        </p:txBody>
      </p:sp>
      <p:sp>
        <p:nvSpPr>
          <p:cNvPr id="2" name="Dikdörtgen 2"/>
          <p:cNvSpPr>
            <a:spLocks noChangeArrowheads="1"/>
          </p:cNvSpPr>
          <p:nvPr/>
        </p:nvSpPr>
        <p:spPr bwMode="auto">
          <a:xfrm>
            <a:off x="2286000" y="2492375"/>
            <a:ext cx="4446588" cy="3048000"/>
          </a:xfrm>
          <a:prstGeom prst="rect">
            <a:avLst/>
          </a:prstGeom>
          <a:noFill/>
          <a:ln>
            <a:noFill/>
          </a:ln>
          <a:extLst/>
        </p:spPr>
        <p:txBody>
          <a:bodyPr>
            <a:spAutoFit/>
          </a:bodyPr>
          <a:lstStyle/>
          <a:p>
            <a:pPr>
              <a:defRPr/>
            </a:pPr>
            <a:r>
              <a:rPr lang="en-US" dirty="0">
                <a:latin typeface="Arial" charset="0"/>
              </a:rPr>
              <a:t>E</a:t>
            </a:r>
            <a:r>
              <a:rPr lang="tr-TR" dirty="0" err="1">
                <a:latin typeface="Arial" charset="0"/>
              </a:rPr>
              <a:t>tkili</a:t>
            </a:r>
            <a:r>
              <a:rPr lang="tr-TR" dirty="0">
                <a:latin typeface="Arial" charset="0"/>
              </a:rPr>
              <a:t> toplantının kontrol listesi</a:t>
            </a:r>
            <a:endParaRPr lang="en-US" dirty="0">
              <a:latin typeface="Arial" charset="0"/>
            </a:endParaRPr>
          </a:p>
          <a:p>
            <a:pPr>
              <a:defRPr/>
            </a:pPr>
            <a:endParaRPr lang="en-US" dirty="0">
              <a:latin typeface="Arial" charset="0"/>
            </a:endParaRPr>
          </a:p>
          <a:p>
            <a:pPr marL="342900" indent="-342900">
              <a:buFont typeface="Arial" pitchFamily="34" charset="0"/>
              <a:buChar char="•"/>
              <a:defRPr/>
            </a:pPr>
            <a:r>
              <a:rPr lang="tr-TR" dirty="0">
                <a:latin typeface="Arial" charset="0"/>
              </a:rPr>
              <a:t>Rehber ya da Düzen</a:t>
            </a:r>
            <a:endParaRPr lang="en-US" dirty="0">
              <a:latin typeface="Arial" charset="0"/>
            </a:endParaRPr>
          </a:p>
          <a:p>
            <a:pPr marL="342900" indent="-342900">
              <a:buFont typeface="Arial" pitchFamily="34" charset="0"/>
              <a:buChar char="•"/>
              <a:defRPr/>
            </a:pPr>
            <a:r>
              <a:rPr lang="tr-TR" dirty="0">
                <a:latin typeface="Arial" charset="0"/>
              </a:rPr>
              <a:t>Gündem- Ajanda </a:t>
            </a:r>
            <a:r>
              <a:rPr lang="tr-TR" dirty="0">
                <a:latin typeface="Arial" charset="0"/>
              </a:rPr>
              <a:t>(başlıklar)</a:t>
            </a:r>
            <a:endParaRPr lang="en-US" dirty="0">
              <a:latin typeface="Arial" charset="0"/>
            </a:endParaRPr>
          </a:p>
          <a:p>
            <a:pPr marL="342900" indent="-342900">
              <a:buFont typeface="Arial" pitchFamily="34" charset="0"/>
              <a:buChar char="•"/>
              <a:defRPr/>
            </a:pPr>
            <a:r>
              <a:rPr lang="tr-TR" dirty="0">
                <a:latin typeface="Arial" charset="0"/>
              </a:rPr>
              <a:t>Toplantı yöneticisi</a:t>
            </a:r>
            <a:endParaRPr lang="en-US" dirty="0">
              <a:latin typeface="Arial" charset="0"/>
            </a:endParaRPr>
          </a:p>
          <a:p>
            <a:pPr marL="342900" indent="-342900">
              <a:buFont typeface="Arial" pitchFamily="34" charset="0"/>
              <a:buChar char="•"/>
              <a:defRPr/>
            </a:pPr>
            <a:r>
              <a:rPr lang="tr-TR" dirty="0">
                <a:latin typeface="Arial" charset="0"/>
              </a:rPr>
              <a:t>Kayıt edici</a:t>
            </a:r>
            <a:endParaRPr lang="en-US" dirty="0">
              <a:latin typeface="Arial" charset="0"/>
            </a:endParaRPr>
          </a:p>
          <a:p>
            <a:pPr marL="342900" indent="-342900">
              <a:buFont typeface="Arial" pitchFamily="34" charset="0"/>
              <a:buChar char="•"/>
              <a:defRPr/>
            </a:pPr>
            <a:r>
              <a:rPr lang="tr-TR" dirty="0">
                <a:latin typeface="Arial" charset="0"/>
              </a:rPr>
              <a:t>Belgeleme</a:t>
            </a:r>
            <a:endParaRPr lang="en-US" dirty="0">
              <a:latin typeface="Arial" charset="0"/>
            </a:endParaRPr>
          </a:p>
          <a:p>
            <a:pPr marL="342900" indent="-342900">
              <a:buFont typeface="Arial" pitchFamily="34" charset="0"/>
              <a:buChar char="•"/>
              <a:defRPr/>
            </a:pPr>
            <a:r>
              <a:rPr lang="tr-TR" dirty="0">
                <a:latin typeface="Arial" charset="0"/>
              </a:rPr>
              <a:t>İzleme</a:t>
            </a:r>
            <a:endParaRPr lang="en-US" dirty="0">
              <a:latin typeface="Arial"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Dikdörtgen 1"/>
          <p:cNvSpPr>
            <a:spLocks noChangeArrowheads="1"/>
          </p:cNvSpPr>
          <p:nvPr/>
        </p:nvSpPr>
        <p:spPr bwMode="auto">
          <a:xfrm>
            <a:off x="1258888" y="1350963"/>
            <a:ext cx="6948487" cy="3046412"/>
          </a:xfrm>
          <a:prstGeom prst="rect">
            <a:avLst/>
          </a:prstGeom>
          <a:noFill/>
          <a:ln>
            <a:noFill/>
          </a:ln>
          <a:extLst/>
        </p:spPr>
        <p:txBody>
          <a:bodyPr>
            <a:spAutoFit/>
          </a:bodyPr>
          <a:lstStyle/>
          <a:p>
            <a:pPr>
              <a:defRPr/>
            </a:pPr>
            <a:r>
              <a:rPr lang="tr-TR" b="1" dirty="0">
                <a:latin typeface="Arial" charset="0"/>
              </a:rPr>
              <a:t>Toplantıyı Yönetme Kuralları</a:t>
            </a:r>
          </a:p>
          <a:p>
            <a:pPr>
              <a:defRPr/>
            </a:pPr>
            <a:endParaRPr lang="en-US" b="1" dirty="0">
              <a:latin typeface="Arial" charset="0"/>
            </a:endParaRPr>
          </a:p>
          <a:p>
            <a:pPr marL="342900" indent="-342900">
              <a:buFont typeface="Arial" pitchFamily="34" charset="0"/>
              <a:buChar char="•"/>
              <a:defRPr/>
            </a:pPr>
            <a:r>
              <a:rPr lang="en-US" dirty="0">
                <a:latin typeface="Arial" charset="0"/>
              </a:rPr>
              <a:t>K</a:t>
            </a:r>
            <a:r>
              <a:rPr lang="tr-TR" dirty="0" err="1">
                <a:latin typeface="Arial" charset="0"/>
              </a:rPr>
              <a:t>urallara</a:t>
            </a:r>
            <a:r>
              <a:rPr lang="tr-TR" dirty="0">
                <a:latin typeface="Arial" charset="0"/>
              </a:rPr>
              <a:t> ve plana göre kontrol,</a:t>
            </a:r>
            <a:endParaRPr lang="en-US" dirty="0">
              <a:latin typeface="Arial" charset="0"/>
            </a:endParaRPr>
          </a:p>
          <a:p>
            <a:pPr marL="342900" indent="-342900">
              <a:buFont typeface="Arial" pitchFamily="34" charset="0"/>
              <a:buChar char="•"/>
              <a:defRPr/>
            </a:pPr>
            <a:r>
              <a:rPr lang="tr-TR" dirty="0">
                <a:latin typeface="Arial" charset="0"/>
              </a:rPr>
              <a:t>Hedefler ve stratejinin bütünlüğünü sürdürme,</a:t>
            </a:r>
            <a:endParaRPr lang="en-US" dirty="0">
              <a:latin typeface="Arial" charset="0"/>
            </a:endParaRPr>
          </a:p>
          <a:p>
            <a:pPr marL="342900" indent="-342900">
              <a:buFont typeface="Arial" pitchFamily="34" charset="0"/>
              <a:buChar char="•"/>
              <a:defRPr/>
            </a:pPr>
            <a:r>
              <a:rPr lang="tr-TR" dirty="0">
                <a:latin typeface="Arial" charset="0"/>
              </a:rPr>
              <a:t>Toplantının hedeflerine göre tartışma türlerini sınırlama,</a:t>
            </a:r>
            <a:endParaRPr lang="en-US" dirty="0">
              <a:latin typeface="Arial" charset="0"/>
            </a:endParaRPr>
          </a:p>
          <a:p>
            <a:pPr marL="342900" indent="-342900">
              <a:buFont typeface="Arial" pitchFamily="34" charset="0"/>
              <a:buChar char="•"/>
              <a:defRPr/>
            </a:pPr>
            <a:r>
              <a:rPr lang="tr-TR" dirty="0">
                <a:latin typeface="Arial" charset="0"/>
              </a:rPr>
              <a:t>Konuşma düzenini sürdürme,.</a:t>
            </a:r>
            <a:endParaRPr lang="en-US" dirty="0">
              <a:latin typeface="Arial" charset="0"/>
            </a:endParaRPr>
          </a:p>
          <a:p>
            <a:pPr marL="342900" indent="-342900">
              <a:buFont typeface="Arial" pitchFamily="34" charset="0"/>
              <a:buChar char="•"/>
              <a:defRPr/>
            </a:pPr>
            <a:r>
              <a:rPr lang="tr-TR" dirty="0">
                <a:latin typeface="Arial" charset="0"/>
              </a:rPr>
              <a:t>Tartışmalar için bir format oluşturma.</a:t>
            </a:r>
            <a:endParaRPr lang="en-US" dirty="0">
              <a:latin typeface="Arial" charset="0"/>
            </a:endParaRPr>
          </a:p>
        </p:txBody>
      </p:sp>
      <p:sp>
        <p:nvSpPr>
          <p:cNvPr id="29699"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052B4F50-BC6B-42B3-AFFD-5EA223905217}" type="slidenum">
              <a:rPr lang="tr-TR" altLang="tr-TR" sz="1400">
                <a:solidFill>
                  <a:schemeClr val="bg2"/>
                </a:solidFill>
              </a:rPr>
              <a:pPr eaLnBrk="1" hangingPunct="1"/>
              <a:t>27</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ikdörtgen 1"/>
          <p:cNvSpPr>
            <a:spLocks noChangeArrowheads="1"/>
          </p:cNvSpPr>
          <p:nvPr/>
        </p:nvSpPr>
        <p:spPr bwMode="auto">
          <a:xfrm>
            <a:off x="2286000" y="1905000"/>
            <a:ext cx="4572000" cy="3786188"/>
          </a:xfrm>
          <a:prstGeom prst="rect">
            <a:avLst/>
          </a:prstGeom>
          <a:noFill/>
          <a:ln>
            <a:noFill/>
          </a:ln>
          <a:extLst/>
        </p:spPr>
        <p:txBody>
          <a:bodyPr>
            <a:spAutoFit/>
          </a:bodyPr>
          <a:lstStyle/>
          <a:p>
            <a:pPr>
              <a:defRPr/>
            </a:pPr>
            <a:r>
              <a:rPr lang="tr-TR" b="1" dirty="0">
                <a:latin typeface="Arial" charset="0"/>
              </a:rPr>
              <a:t>Gündem</a:t>
            </a:r>
            <a:endParaRPr lang="tr-TR" b="1" dirty="0">
              <a:latin typeface="Arial" charset="0"/>
            </a:endParaRPr>
          </a:p>
          <a:p>
            <a:pPr>
              <a:defRPr/>
            </a:pPr>
            <a:endParaRPr lang="tr-TR" dirty="0">
              <a:latin typeface="Arial" charset="0"/>
            </a:endParaRPr>
          </a:p>
          <a:p>
            <a:pPr marL="342900" indent="-342900">
              <a:buFont typeface="Arial" pitchFamily="34" charset="0"/>
              <a:buChar char="•"/>
              <a:defRPr/>
            </a:pPr>
            <a:r>
              <a:rPr lang="tr-TR" dirty="0">
                <a:latin typeface="Arial" charset="0"/>
              </a:rPr>
              <a:t>Toplantı öncesi uygun bir zamanda dağıtılmalı,</a:t>
            </a:r>
            <a:endParaRPr lang="en-US" dirty="0">
              <a:latin typeface="Arial" charset="0"/>
            </a:endParaRPr>
          </a:p>
          <a:p>
            <a:pPr marL="342900" indent="-342900">
              <a:buFont typeface="Arial" pitchFamily="34" charset="0"/>
              <a:buChar char="•"/>
              <a:defRPr/>
            </a:pPr>
            <a:r>
              <a:rPr lang="tr-TR" dirty="0">
                <a:latin typeface="Arial" charset="0"/>
              </a:rPr>
              <a:t>Toplantı, ajandaya göre başlatılmalı  ve durdurulmalı,</a:t>
            </a:r>
            <a:endParaRPr lang="en-US" dirty="0">
              <a:latin typeface="Arial" charset="0"/>
            </a:endParaRPr>
          </a:p>
          <a:p>
            <a:pPr marL="342900" indent="-342900">
              <a:buFont typeface="Arial" pitchFamily="34" charset="0"/>
              <a:buChar char="•"/>
              <a:defRPr/>
            </a:pPr>
            <a:r>
              <a:rPr lang="tr-TR" dirty="0">
                <a:latin typeface="Arial" charset="0"/>
              </a:rPr>
              <a:t>Ajandaya  bağlı kalınmalı.</a:t>
            </a:r>
            <a:endParaRPr lang="en-US" dirty="0">
              <a:latin typeface="Arial" charset="0"/>
            </a:endParaRPr>
          </a:p>
          <a:p>
            <a:pPr marL="342900" indent="-342900">
              <a:buFont typeface="Arial" pitchFamily="34" charset="0"/>
              <a:buChar char="•"/>
              <a:defRPr/>
            </a:pPr>
            <a:r>
              <a:rPr lang="tr-TR" dirty="0">
                <a:latin typeface="Arial" charset="0"/>
              </a:rPr>
              <a:t>Sadece uygun bir mekanizmaya bağlı olarak ajandada değişiklik yapılmalı.</a:t>
            </a:r>
            <a:endParaRPr lang="en-US" dirty="0">
              <a:latin typeface="Arial" charset="0"/>
            </a:endParaRPr>
          </a:p>
        </p:txBody>
      </p:sp>
      <p:sp>
        <p:nvSpPr>
          <p:cNvPr id="30723"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C24F5071-A01C-4C0B-8D51-FD22FB6C4E8E}" type="slidenum">
              <a:rPr lang="tr-TR" altLang="tr-TR" sz="1400">
                <a:solidFill>
                  <a:schemeClr val="bg2"/>
                </a:solidFill>
              </a:rPr>
              <a:pPr eaLnBrk="1" hangingPunct="1"/>
              <a:t>28</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Dikdörtgen 1"/>
          <p:cNvSpPr>
            <a:spLocks noChangeArrowheads="1"/>
          </p:cNvSpPr>
          <p:nvPr/>
        </p:nvSpPr>
        <p:spPr bwMode="auto">
          <a:xfrm>
            <a:off x="2286000" y="796925"/>
            <a:ext cx="4572000" cy="421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tr-TR" altLang="tr-TR" sz="2800" b="1"/>
              <a:t>Toplantı yöneticisi</a:t>
            </a:r>
          </a:p>
          <a:p>
            <a:pPr eaLnBrk="1" hangingPunct="1"/>
            <a:r>
              <a:rPr lang="tr-TR" altLang="tr-TR"/>
              <a:t>Görevlendirilmiş /atanmıştır. Diğer üyeler üzerinde otoritesi vardır.</a:t>
            </a:r>
            <a:endParaRPr lang="en-US" altLang="tr-TR"/>
          </a:p>
          <a:p>
            <a:pPr eaLnBrk="1" hangingPunct="1"/>
            <a:r>
              <a:rPr lang="tr-TR" altLang="tr-TR"/>
              <a:t>Belirlenmiş rolleri vardır.</a:t>
            </a:r>
            <a:endParaRPr lang="en-US" altLang="tr-TR"/>
          </a:p>
          <a:p>
            <a:pPr eaLnBrk="1" hangingPunct="1"/>
            <a:r>
              <a:rPr lang="tr-TR" altLang="tr-TR"/>
              <a:t>Tartışılamayanların listesini tutar. </a:t>
            </a:r>
            <a:endParaRPr lang="en-US" altLang="tr-TR"/>
          </a:p>
          <a:p>
            <a:pPr eaLnBrk="1" hangingPunct="1"/>
            <a:r>
              <a:rPr lang="tr-TR" altLang="tr-TR"/>
              <a:t>Ajandaya göre toplantıyı yönetir. Rehber ilkelere bağlı kalır.</a:t>
            </a:r>
            <a:endParaRPr lang="en-US" altLang="tr-TR"/>
          </a:p>
          <a:p>
            <a:pPr eaLnBrk="1" hangingPunct="1"/>
            <a:r>
              <a:rPr lang="tr-TR" altLang="tr-TR"/>
              <a:t>Kararları alır.</a:t>
            </a:r>
            <a:endParaRPr lang="en-US" altLang="tr-TR"/>
          </a:p>
          <a:p>
            <a:pPr eaLnBrk="1" hangingPunct="1"/>
            <a:r>
              <a:rPr lang="tr-TR" altLang="tr-TR"/>
              <a:t>Üyeleri yönetir.</a:t>
            </a:r>
            <a:endParaRPr lang="en-US" altLang="tr-TR"/>
          </a:p>
        </p:txBody>
      </p:sp>
      <p:sp>
        <p:nvSpPr>
          <p:cNvPr id="31747"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9A8100C2-2FE9-4CAE-B99D-C46F77310E58}" type="slidenum">
              <a:rPr lang="tr-TR" altLang="tr-TR" sz="1400">
                <a:solidFill>
                  <a:schemeClr val="bg2"/>
                </a:solidFill>
              </a:rPr>
              <a:pPr eaLnBrk="1" hangingPunct="1"/>
              <a:t>29</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Dikdörtgen 1"/>
          <p:cNvSpPr>
            <a:spLocks noChangeArrowheads="1"/>
          </p:cNvSpPr>
          <p:nvPr/>
        </p:nvSpPr>
        <p:spPr bwMode="auto">
          <a:xfrm>
            <a:off x="1979613" y="908050"/>
            <a:ext cx="4572000" cy="5694363"/>
          </a:xfrm>
          <a:prstGeom prst="rect">
            <a:avLst/>
          </a:prstGeom>
          <a:noFill/>
          <a:ln>
            <a:noFill/>
          </a:ln>
          <a:extLst/>
        </p:spPr>
        <p:txBody>
          <a:bodyPr>
            <a:spAutoFit/>
          </a:bodyPr>
          <a:lstStyle/>
          <a:p>
            <a:pPr>
              <a:defRPr/>
            </a:pPr>
            <a:endParaRPr lang="tr-TR" dirty="0">
              <a:latin typeface="Arial" charset="0"/>
            </a:endParaRPr>
          </a:p>
          <a:p>
            <a:pPr>
              <a:defRPr/>
            </a:pPr>
            <a:r>
              <a:rPr lang="tr-TR" sz="2800" b="1" dirty="0">
                <a:latin typeface="Arial" charset="0"/>
              </a:rPr>
              <a:t>Kayıt edici; </a:t>
            </a:r>
          </a:p>
          <a:p>
            <a:pPr marL="342900" indent="-342900">
              <a:buFont typeface="Arial" pitchFamily="34" charset="0"/>
              <a:buChar char="•"/>
              <a:defRPr/>
            </a:pPr>
            <a:r>
              <a:rPr lang="tr-TR" dirty="0">
                <a:latin typeface="Arial" charset="0"/>
              </a:rPr>
              <a:t>Görevlendirilmiş bir kişidir.</a:t>
            </a:r>
            <a:endParaRPr lang="en-US" dirty="0">
              <a:latin typeface="Arial" charset="0"/>
            </a:endParaRPr>
          </a:p>
          <a:p>
            <a:pPr marL="342900" indent="-342900">
              <a:buFont typeface="Arial" pitchFamily="34" charset="0"/>
              <a:buChar char="•"/>
              <a:defRPr/>
            </a:pPr>
            <a:r>
              <a:rPr lang="tr-TR" dirty="0">
                <a:latin typeface="Arial" charset="0"/>
              </a:rPr>
              <a:t>Notları doğru tutar.</a:t>
            </a:r>
            <a:endParaRPr lang="en-US" dirty="0">
              <a:latin typeface="Arial" charset="0"/>
            </a:endParaRPr>
          </a:p>
          <a:p>
            <a:pPr marL="342900" indent="-342900">
              <a:buFont typeface="Arial" pitchFamily="34" charset="0"/>
              <a:buChar char="•"/>
              <a:defRPr/>
            </a:pPr>
            <a:r>
              <a:rPr lang="tr-TR" dirty="0">
                <a:latin typeface="Arial" charset="0"/>
              </a:rPr>
              <a:t>Ajanda formatına bağlı kalarak not alır.</a:t>
            </a:r>
            <a:endParaRPr lang="en-US" dirty="0">
              <a:latin typeface="Arial" charset="0"/>
            </a:endParaRPr>
          </a:p>
          <a:p>
            <a:pPr marL="342900" indent="-342900">
              <a:buFont typeface="Arial" pitchFamily="34" charset="0"/>
              <a:buChar char="•"/>
              <a:defRPr/>
            </a:pPr>
            <a:r>
              <a:rPr lang="tr-TR" dirty="0">
                <a:latin typeface="Arial" charset="0"/>
              </a:rPr>
              <a:t>Toplantıdaki tüm konuşmaları kaydeder.</a:t>
            </a:r>
            <a:endParaRPr lang="en-US" dirty="0">
              <a:latin typeface="Arial" charset="0"/>
            </a:endParaRPr>
          </a:p>
          <a:p>
            <a:pPr marL="342900" indent="-342900">
              <a:buFont typeface="Arial" pitchFamily="34" charset="0"/>
              <a:buChar char="•"/>
              <a:defRPr/>
            </a:pPr>
            <a:r>
              <a:rPr lang="tr-TR" dirty="0">
                <a:latin typeface="Arial" charset="0"/>
              </a:rPr>
              <a:t>Belgeleri toplar ve arşivler.</a:t>
            </a:r>
            <a:endParaRPr lang="en-US" dirty="0">
              <a:latin typeface="Arial" charset="0"/>
            </a:endParaRPr>
          </a:p>
          <a:p>
            <a:pPr marL="342900" indent="-342900">
              <a:buFont typeface="Arial" pitchFamily="34" charset="0"/>
              <a:buChar char="•"/>
              <a:defRPr/>
            </a:pPr>
            <a:r>
              <a:rPr lang="tr-TR" dirty="0">
                <a:latin typeface="Arial" charset="0"/>
              </a:rPr>
              <a:t>Üyelerin gözden geçirmeleri  için taslak kopyaları hazırlar ve dağıtır.</a:t>
            </a:r>
            <a:endParaRPr lang="en-US" dirty="0">
              <a:latin typeface="Arial" charset="0"/>
            </a:endParaRPr>
          </a:p>
          <a:p>
            <a:pPr marL="342900" indent="-342900">
              <a:buFont typeface="Arial" pitchFamily="34" charset="0"/>
              <a:buChar char="•"/>
              <a:defRPr/>
            </a:pPr>
            <a:r>
              <a:rPr lang="tr-TR" dirty="0">
                <a:latin typeface="Arial" charset="0"/>
              </a:rPr>
              <a:t>Gözden geçirmelere dayalı olarak son kopyaları hazırlar.</a:t>
            </a:r>
            <a:endParaRPr lang="en-US" dirty="0">
              <a:latin typeface="Arial" charset="0"/>
            </a:endParaRPr>
          </a:p>
          <a:p>
            <a:pPr marL="342900" indent="-342900">
              <a:buFont typeface="Arial" pitchFamily="34" charset="0"/>
              <a:buChar char="•"/>
              <a:defRPr/>
            </a:pPr>
            <a:endParaRPr lang="en-US" dirty="0">
              <a:latin typeface="Arial" charset="0"/>
            </a:endParaRPr>
          </a:p>
        </p:txBody>
      </p:sp>
      <p:sp>
        <p:nvSpPr>
          <p:cNvPr id="32771"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F0045E59-440F-40B6-B271-1FE1893590A4}" type="slidenum">
              <a:rPr lang="tr-TR" altLang="tr-TR" sz="1400">
                <a:solidFill>
                  <a:schemeClr val="bg2"/>
                </a:solidFill>
              </a:rPr>
              <a:pPr eaLnBrk="1" hangingPunct="1"/>
              <a:t>30</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Dikdörtgen 1"/>
          <p:cNvSpPr>
            <a:spLocks noChangeArrowheads="1"/>
          </p:cNvSpPr>
          <p:nvPr/>
        </p:nvSpPr>
        <p:spPr bwMode="auto">
          <a:xfrm>
            <a:off x="2286000" y="1350963"/>
            <a:ext cx="4572000" cy="4586287"/>
          </a:xfrm>
          <a:prstGeom prst="rect">
            <a:avLst/>
          </a:prstGeom>
          <a:noFill/>
          <a:ln>
            <a:noFill/>
          </a:ln>
          <a:extLst/>
        </p:spPr>
        <p:txBody>
          <a:bodyPr>
            <a:spAutoFit/>
          </a:bodyPr>
          <a:lstStyle/>
          <a:p>
            <a:pPr>
              <a:defRPr/>
            </a:pPr>
            <a:r>
              <a:rPr lang="tr-TR" sz="2800" b="1" dirty="0">
                <a:latin typeface="Arial" charset="0"/>
              </a:rPr>
              <a:t>Doküman</a:t>
            </a:r>
          </a:p>
          <a:p>
            <a:pPr>
              <a:defRPr/>
            </a:pPr>
            <a:endParaRPr lang="tr-TR" dirty="0">
              <a:latin typeface="Arial" charset="0"/>
            </a:endParaRPr>
          </a:p>
          <a:p>
            <a:pPr marL="342900" indent="-342900">
              <a:buFont typeface="Arial" pitchFamily="34" charset="0"/>
              <a:buChar char="•"/>
              <a:defRPr/>
            </a:pPr>
            <a:r>
              <a:rPr lang="tr-TR" dirty="0">
                <a:latin typeface="Arial" charset="0"/>
              </a:rPr>
              <a:t>Toplantı dokümanları toplantı öncesinde dağıtılmalı.</a:t>
            </a:r>
            <a:endParaRPr lang="en-US" dirty="0">
              <a:latin typeface="Arial" charset="0"/>
            </a:endParaRPr>
          </a:p>
          <a:p>
            <a:pPr marL="342900" indent="-342900">
              <a:buFont typeface="Arial" pitchFamily="34" charset="0"/>
              <a:buChar char="•"/>
              <a:defRPr/>
            </a:pPr>
            <a:r>
              <a:rPr lang="tr-TR" dirty="0">
                <a:latin typeface="Arial" charset="0"/>
              </a:rPr>
              <a:t>Toplantıda gerektiğinde basılı şema, grafik, çizelge kullanılmalı .</a:t>
            </a:r>
            <a:endParaRPr lang="en-US" dirty="0">
              <a:latin typeface="Arial" charset="0"/>
            </a:endParaRPr>
          </a:p>
          <a:p>
            <a:pPr marL="342900" indent="-342900">
              <a:buFont typeface="Arial" pitchFamily="34" charset="0"/>
              <a:buChar char="•"/>
              <a:defRPr/>
            </a:pPr>
            <a:r>
              <a:rPr lang="tr-TR" dirty="0">
                <a:latin typeface="Arial" charset="0"/>
              </a:rPr>
              <a:t>Üyeler ve kayıt için gerekli görsel- işitsel sunumların çıktılarını dağıtılmalı.</a:t>
            </a:r>
            <a:endParaRPr lang="en-US" dirty="0">
              <a:latin typeface="Arial" charset="0"/>
            </a:endParaRPr>
          </a:p>
          <a:p>
            <a:pPr marL="342900" indent="-342900">
              <a:buFont typeface="Arial" pitchFamily="34" charset="0"/>
              <a:buChar char="•"/>
              <a:defRPr/>
            </a:pPr>
            <a:r>
              <a:rPr lang="tr-TR" dirty="0">
                <a:latin typeface="Arial" charset="0"/>
              </a:rPr>
              <a:t>Dokümanların gizliliğine özen gösterilmeli.</a:t>
            </a:r>
            <a:endParaRPr lang="en-US" dirty="0">
              <a:latin typeface="Arial" charset="0"/>
            </a:endParaRPr>
          </a:p>
        </p:txBody>
      </p:sp>
      <p:sp>
        <p:nvSpPr>
          <p:cNvPr id="33795"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4DD2B334-127A-4272-9734-714FC445FE3F}" type="slidenum">
              <a:rPr lang="tr-TR" altLang="tr-TR" sz="1400">
                <a:solidFill>
                  <a:schemeClr val="bg2"/>
                </a:solidFill>
              </a:rPr>
              <a:pPr eaLnBrk="1" hangingPunct="1"/>
              <a:t>31</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Dikdörtgen 1"/>
          <p:cNvSpPr>
            <a:spLocks noChangeArrowheads="1"/>
          </p:cNvSpPr>
          <p:nvPr/>
        </p:nvSpPr>
        <p:spPr bwMode="auto">
          <a:xfrm>
            <a:off x="2051050" y="1412875"/>
            <a:ext cx="4572000" cy="6802438"/>
          </a:xfrm>
          <a:prstGeom prst="rect">
            <a:avLst/>
          </a:prstGeom>
          <a:noFill/>
          <a:ln>
            <a:noFill/>
          </a:ln>
          <a:extLst/>
        </p:spPr>
        <p:txBody>
          <a:bodyPr>
            <a:spAutoFit/>
          </a:bodyPr>
          <a:lstStyle/>
          <a:p>
            <a:pPr>
              <a:defRPr/>
            </a:pPr>
            <a:r>
              <a:rPr lang="tr-TR" sz="2800" b="1" dirty="0">
                <a:latin typeface="Arial" charset="0"/>
              </a:rPr>
              <a:t>İzleme </a:t>
            </a:r>
          </a:p>
          <a:p>
            <a:pPr marL="342900" indent="-342900">
              <a:buFont typeface="Arial" pitchFamily="34" charset="0"/>
              <a:buChar char="•"/>
              <a:defRPr/>
            </a:pPr>
            <a:r>
              <a:rPr lang="tr-TR" dirty="0">
                <a:latin typeface="Arial" charset="0"/>
              </a:rPr>
              <a:t>Her toplantıyla ilgili rehber ilkelerin, kuralların, ajandanın nasıl çalıştığı gözden geçirilmeli.</a:t>
            </a:r>
            <a:endParaRPr lang="en-US" dirty="0">
              <a:latin typeface="Arial" charset="0"/>
            </a:endParaRPr>
          </a:p>
          <a:p>
            <a:pPr marL="342900" indent="-342900">
              <a:buFont typeface="Arial" pitchFamily="34" charset="0"/>
              <a:buChar char="•"/>
              <a:defRPr/>
            </a:pPr>
            <a:r>
              <a:rPr lang="tr-TR" dirty="0">
                <a:latin typeface="Arial" charset="0"/>
              </a:rPr>
              <a:t>Her toplantının rehber ilkelerinin, kurallarının ve ajandasının etkili olup olmadığı değerlendirilmeli.</a:t>
            </a:r>
            <a:endParaRPr lang="en-US" dirty="0">
              <a:latin typeface="Arial" charset="0"/>
            </a:endParaRPr>
          </a:p>
          <a:p>
            <a:pPr marL="342900" indent="-342900">
              <a:buFont typeface="Arial" pitchFamily="34" charset="0"/>
              <a:buChar char="•"/>
              <a:defRPr/>
            </a:pPr>
            <a:r>
              <a:rPr lang="tr-TR" dirty="0">
                <a:latin typeface="Arial" charset="0"/>
              </a:rPr>
              <a:t>Her bir üyeden toplantıya dönük tepkiler talep edilmeli, </a:t>
            </a:r>
          </a:p>
          <a:p>
            <a:pPr marL="342900" indent="-342900">
              <a:buFont typeface="Arial" pitchFamily="34" charset="0"/>
              <a:buChar char="•"/>
              <a:defRPr/>
            </a:pPr>
            <a:r>
              <a:rPr lang="tr-TR" dirty="0">
                <a:latin typeface="Arial" charset="0"/>
              </a:rPr>
              <a:t>Şu sorulara yanıt bulunmalı;</a:t>
            </a:r>
            <a:endParaRPr lang="en-US" dirty="0">
              <a:latin typeface="Arial" charset="0"/>
            </a:endParaRPr>
          </a:p>
          <a:p>
            <a:pPr>
              <a:defRPr/>
            </a:pPr>
            <a:r>
              <a:rPr lang="tr-TR" dirty="0">
                <a:latin typeface="Arial" charset="0"/>
              </a:rPr>
              <a:t>Toplantı akıcı bir biçimde cereyan etti mi?</a:t>
            </a:r>
            <a:endParaRPr lang="en-US" dirty="0">
              <a:latin typeface="Arial" charset="0"/>
            </a:endParaRPr>
          </a:p>
          <a:p>
            <a:pPr>
              <a:defRPr/>
            </a:pPr>
            <a:r>
              <a:rPr lang="tr-TR" dirty="0">
                <a:latin typeface="Arial" charset="0"/>
              </a:rPr>
              <a:t>Toplantı istenen hedeflere ulaştı mı?</a:t>
            </a:r>
            <a:endParaRPr lang="en-US" dirty="0">
              <a:latin typeface="Arial" charset="0"/>
            </a:endParaRPr>
          </a:p>
          <a:p>
            <a:pPr>
              <a:defRPr/>
            </a:pPr>
            <a:r>
              <a:rPr lang="tr-TR" dirty="0">
                <a:latin typeface="Arial" charset="0"/>
              </a:rPr>
              <a:t>Toplantı zamanında tamamlandı mı?</a:t>
            </a:r>
            <a:endParaRPr lang="en-US" dirty="0">
              <a:latin typeface="Arial" charset="0"/>
            </a:endParaRPr>
          </a:p>
        </p:txBody>
      </p:sp>
      <p:sp>
        <p:nvSpPr>
          <p:cNvPr id="34819"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9DC54913-446F-4D0B-8F82-2EBBC12FAB30}" type="slidenum">
              <a:rPr lang="tr-TR" altLang="tr-TR" sz="1400">
                <a:solidFill>
                  <a:schemeClr val="bg2"/>
                </a:solidFill>
              </a:rPr>
              <a:pPr eaLnBrk="1" hangingPunct="1"/>
              <a:t>32</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Dikdörtgen 1"/>
          <p:cNvSpPr>
            <a:spLocks noChangeArrowheads="1"/>
          </p:cNvSpPr>
          <p:nvPr/>
        </p:nvSpPr>
        <p:spPr bwMode="auto">
          <a:xfrm>
            <a:off x="1331913" y="1103313"/>
            <a:ext cx="7273925" cy="618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tr-TR" altLang="tr-TR"/>
          </a:p>
          <a:p>
            <a:pPr eaLnBrk="1" hangingPunct="1"/>
            <a:r>
              <a:rPr lang="tr-TR" altLang="tr-TR" sz="2800" b="1"/>
              <a:t>Etkin Bir Toplantı için Yapılması Gerekenler:</a:t>
            </a:r>
          </a:p>
          <a:p>
            <a:pPr eaLnBrk="1" hangingPunct="1"/>
            <a:r>
              <a:rPr lang="tr-TR" altLang="tr-TR" sz="2800" b="1"/>
              <a:t> </a:t>
            </a:r>
          </a:p>
          <a:p>
            <a:pPr eaLnBrk="1" hangingPunct="1"/>
            <a:r>
              <a:rPr lang="tr-TR" altLang="tr-TR"/>
              <a:t>Tüm üyeler için toplantı yeri ve zamanının uygun olması sağlanmalı,</a:t>
            </a:r>
            <a:endParaRPr lang="en-US" altLang="tr-TR"/>
          </a:p>
          <a:p>
            <a:pPr eaLnBrk="1" hangingPunct="1"/>
            <a:r>
              <a:rPr lang="tr-TR" altLang="tr-TR"/>
              <a:t>Toplantı süresi 2 saatten daha az tutulmalı,</a:t>
            </a:r>
            <a:endParaRPr lang="en-US" altLang="tr-TR"/>
          </a:p>
          <a:p>
            <a:pPr eaLnBrk="1" hangingPunct="1"/>
            <a:r>
              <a:rPr lang="tr-TR" altLang="tr-TR"/>
              <a:t>En az bir hafta önceden ajanda-gündem  ve dokümanlar dağıtılmalı,</a:t>
            </a:r>
            <a:endParaRPr lang="en-US" altLang="tr-TR"/>
          </a:p>
          <a:p>
            <a:pPr eaLnBrk="1" hangingPunct="1"/>
            <a:r>
              <a:rPr lang="tr-TR" altLang="tr-TR"/>
              <a:t>Gündemin dışına çıkılmamalı ve sapmalar önlenmeli,</a:t>
            </a:r>
          </a:p>
          <a:p>
            <a:pPr eaLnBrk="1" hangingPunct="1"/>
            <a:r>
              <a:rPr lang="tr-TR" altLang="tr-TR"/>
              <a:t>Kişilerin yerlerine oturmaları ve sunumları için yeteri kadar süre verilmeli,</a:t>
            </a:r>
            <a:endParaRPr lang="en-US" altLang="tr-TR"/>
          </a:p>
          <a:p>
            <a:pPr eaLnBrk="1" hangingPunct="1"/>
            <a:r>
              <a:rPr lang="tr-TR" altLang="tr-TR"/>
              <a:t>Gündemin dışına çıkılmaması ve süreye bağlı kalınması için toplantı kontrol edilmeli,</a:t>
            </a:r>
            <a:endParaRPr lang="en-US" altLang="tr-TR"/>
          </a:p>
          <a:p>
            <a:pPr eaLnBrk="1" hangingPunct="1"/>
            <a:r>
              <a:rPr lang="tr-TR" altLang="tr-TR"/>
              <a:t>Tüm üyelerden görüş talep edilmeli,</a:t>
            </a:r>
            <a:endParaRPr lang="en-US" altLang="tr-TR"/>
          </a:p>
        </p:txBody>
      </p:sp>
      <p:sp>
        <p:nvSpPr>
          <p:cNvPr id="35843"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09B50A7A-EB93-4777-A0BA-07C9A8C5A60C}" type="slidenum">
              <a:rPr lang="tr-TR" altLang="tr-TR" sz="1400">
                <a:solidFill>
                  <a:schemeClr val="bg2"/>
                </a:solidFill>
              </a:rPr>
              <a:pPr eaLnBrk="1" hangingPunct="1"/>
              <a:t>33</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Dikdörtgen 1"/>
          <p:cNvSpPr>
            <a:spLocks noChangeArrowheads="1"/>
          </p:cNvSpPr>
          <p:nvPr/>
        </p:nvSpPr>
        <p:spPr bwMode="auto">
          <a:xfrm>
            <a:off x="1116013" y="1628775"/>
            <a:ext cx="7632700" cy="4586288"/>
          </a:xfrm>
          <a:prstGeom prst="rect">
            <a:avLst/>
          </a:prstGeom>
          <a:noFill/>
          <a:ln>
            <a:noFill/>
          </a:ln>
          <a:extLst/>
        </p:spPr>
        <p:txBody>
          <a:bodyPr>
            <a:spAutoFit/>
          </a:bodyPr>
          <a:lstStyle/>
          <a:p>
            <a:pPr>
              <a:defRPr/>
            </a:pPr>
            <a:r>
              <a:rPr lang="tr-TR" sz="2800" b="1" dirty="0">
                <a:latin typeface="Arial" charset="0"/>
              </a:rPr>
              <a:t>Yapılmaması Gerekenler</a:t>
            </a:r>
          </a:p>
          <a:p>
            <a:pPr>
              <a:defRPr/>
            </a:pPr>
            <a:endParaRPr lang="tr-TR" dirty="0">
              <a:latin typeface="Arial" charset="0"/>
            </a:endParaRPr>
          </a:p>
          <a:p>
            <a:pPr marL="342900" indent="-342900">
              <a:buFont typeface="Arial" pitchFamily="34" charset="0"/>
              <a:buChar char="•"/>
              <a:defRPr/>
            </a:pPr>
            <a:r>
              <a:rPr lang="tr-TR" dirty="0">
                <a:latin typeface="Arial" charset="0"/>
              </a:rPr>
              <a:t>5’ten fazla kişi tarafından yürütülen komiteler olması.</a:t>
            </a:r>
            <a:endParaRPr lang="en-US" dirty="0">
              <a:latin typeface="Arial" charset="0"/>
            </a:endParaRPr>
          </a:p>
          <a:p>
            <a:pPr marL="342900" indent="-342900">
              <a:buFont typeface="Arial" pitchFamily="34" charset="0"/>
              <a:buChar char="•"/>
              <a:defRPr/>
            </a:pPr>
            <a:r>
              <a:rPr lang="tr-TR" dirty="0">
                <a:latin typeface="Arial" charset="0"/>
              </a:rPr>
              <a:t>Geç kalan üyelerin beklenilmesi.</a:t>
            </a:r>
            <a:endParaRPr lang="en-US" dirty="0">
              <a:latin typeface="Arial" charset="0"/>
            </a:endParaRPr>
          </a:p>
          <a:p>
            <a:pPr marL="342900" indent="-342900">
              <a:buFont typeface="Arial" pitchFamily="34" charset="0"/>
              <a:buChar char="•"/>
              <a:defRPr/>
            </a:pPr>
            <a:r>
              <a:rPr lang="tr-TR" dirty="0">
                <a:latin typeface="Arial" charset="0"/>
              </a:rPr>
              <a:t>Sadece «toplantı için toplantı yapılması»  ya da statükonun sürdürülmesi.</a:t>
            </a:r>
            <a:endParaRPr lang="en-US" dirty="0">
              <a:latin typeface="Arial" charset="0"/>
            </a:endParaRPr>
          </a:p>
          <a:p>
            <a:pPr marL="342900" indent="-342900">
              <a:buFont typeface="Arial" pitchFamily="34" charset="0"/>
              <a:buChar char="•"/>
              <a:defRPr/>
            </a:pPr>
            <a:r>
              <a:rPr lang="tr-TR" dirty="0">
                <a:latin typeface="Arial" charset="0"/>
              </a:rPr>
              <a:t>Üyelerin ajanda dışı konuşmalarına ya da bir konuyu uzatmalarına izin verilmesi ,</a:t>
            </a:r>
          </a:p>
          <a:p>
            <a:pPr marL="342900" indent="-342900">
              <a:buFont typeface="Arial" pitchFamily="34" charset="0"/>
              <a:buChar char="•"/>
              <a:defRPr/>
            </a:pPr>
            <a:r>
              <a:rPr lang="tr-TR" dirty="0">
                <a:latin typeface="Arial" charset="0"/>
              </a:rPr>
              <a:t>Aynı anda birden fazla kişinin konuşmasına izin verme.</a:t>
            </a:r>
            <a:endParaRPr lang="en-US" dirty="0">
              <a:latin typeface="Arial" charset="0"/>
            </a:endParaRPr>
          </a:p>
          <a:p>
            <a:pPr marL="342900" indent="-342900">
              <a:buFont typeface="Arial" pitchFamily="34" charset="0"/>
              <a:buChar char="•"/>
              <a:defRPr/>
            </a:pPr>
            <a:r>
              <a:rPr lang="tr-TR" dirty="0">
                <a:latin typeface="Arial" charset="0"/>
              </a:rPr>
              <a:t>Bir toplantıdan sonra çok sayıda komite oluşturma.</a:t>
            </a:r>
            <a:endParaRPr lang="en-US" dirty="0">
              <a:latin typeface="Arial" charset="0"/>
            </a:endParaRPr>
          </a:p>
          <a:p>
            <a:pPr marL="342900" indent="-342900">
              <a:buFont typeface="Arial" pitchFamily="34" charset="0"/>
              <a:buChar char="•"/>
              <a:defRPr/>
            </a:pPr>
            <a:r>
              <a:rPr lang="tr-TR" dirty="0">
                <a:latin typeface="Arial" charset="0"/>
              </a:rPr>
              <a:t>Toplantıyı öngörülen sürede bitirmeme.</a:t>
            </a:r>
            <a:endParaRPr lang="en-US" dirty="0">
              <a:latin typeface="Arial" charset="0"/>
            </a:endParaRPr>
          </a:p>
        </p:txBody>
      </p:sp>
      <p:sp>
        <p:nvSpPr>
          <p:cNvPr id="36867"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CC003B82-D27A-4C09-AB43-7A7AF2E1F8B6}" type="slidenum">
              <a:rPr lang="tr-TR" altLang="tr-TR" sz="1400">
                <a:solidFill>
                  <a:schemeClr val="bg2"/>
                </a:solidFill>
              </a:rPr>
              <a:pPr eaLnBrk="1" hangingPunct="1"/>
              <a:t>34</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tr-TR" altLang="tr-TR" sz="2400" b="1" smtClean="0"/>
              <a:t>Toplantının Başarısız Olması</a:t>
            </a:r>
          </a:p>
        </p:txBody>
      </p:sp>
      <p:sp>
        <p:nvSpPr>
          <p:cNvPr id="37891" name="Rectangle 3"/>
          <p:cNvSpPr>
            <a:spLocks noGrp="1" noChangeArrowheads="1"/>
          </p:cNvSpPr>
          <p:nvPr>
            <p:ph idx="1"/>
          </p:nvPr>
        </p:nvSpPr>
        <p:spPr/>
        <p:txBody>
          <a:bodyPr/>
          <a:lstStyle/>
          <a:p>
            <a:pPr algn="just" eaLnBrk="1" hangingPunct="1"/>
            <a:r>
              <a:rPr lang="tr-TR" altLang="tr-TR" sz="2000" smtClean="0"/>
              <a:t>T</a:t>
            </a:r>
            <a:r>
              <a:rPr lang="tr-TR" altLang="tr-TR" sz="2000" smtClean="0">
                <a:cs typeface="Times New Roman" panose="02020603050405020304" pitchFamily="18" charset="0"/>
              </a:rPr>
              <a:t>oplantının,  gün ya da haftanın yanlış bir zamanında yapılması.</a:t>
            </a:r>
          </a:p>
          <a:p>
            <a:pPr algn="just" eaLnBrk="1" hangingPunct="1"/>
            <a:r>
              <a:rPr lang="tr-TR" altLang="tr-TR" sz="2000" smtClean="0"/>
              <a:t>Top</a:t>
            </a:r>
            <a:r>
              <a:rPr lang="tr-TR" altLang="tr-TR" sz="2000" smtClean="0">
                <a:cs typeface="Times New Roman" panose="02020603050405020304" pitchFamily="18" charset="0"/>
              </a:rPr>
              <a:t>lantı mekanında fiziki hazırlıklara yeterince önem verilmemiştir.</a:t>
            </a:r>
          </a:p>
          <a:p>
            <a:pPr algn="just" eaLnBrk="1" hangingPunct="1"/>
            <a:r>
              <a:rPr lang="tr-TR" altLang="tr-TR" sz="2000" smtClean="0"/>
              <a:t>To</a:t>
            </a:r>
            <a:r>
              <a:rPr lang="tr-TR" altLang="tr-TR" sz="2000" smtClean="0">
                <a:cs typeface="Times New Roman" panose="02020603050405020304" pitchFamily="18" charset="0"/>
              </a:rPr>
              <a:t>plantı görsel açıdan uygun değildir. Yazılar, resim ve şekiller iyi görülmez ya da okunmazlarsa katılımcıları yora rahatsız edebilir.</a:t>
            </a:r>
          </a:p>
          <a:p>
            <a:pPr algn="just" eaLnBrk="1" hangingPunct="1"/>
            <a:r>
              <a:rPr lang="tr-TR" altLang="tr-TR" sz="2000" smtClean="0"/>
              <a:t>Top</a:t>
            </a:r>
            <a:r>
              <a:rPr lang="tr-TR" altLang="tr-TR" sz="2000" smtClean="0">
                <a:cs typeface="Times New Roman" panose="02020603050405020304" pitchFamily="18" charset="0"/>
              </a:rPr>
              <a:t>lantının, gündeminin,  yer ve zamanının yeterince önceden haber verilmemesi,</a:t>
            </a:r>
          </a:p>
          <a:p>
            <a:pPr algn="just" eaLnBrk="1" hangingPunct="1"/>
            <a:r>
              <a:rPr lang="tr-TR" altLang="tr-TR" sz="2000" smtClean="0">
                <a:cs typeface="Times New Roman" panose="02020603050405020304" pitchFamily="18" charset="0"/>
              </a:rPr>
              <a:t>Toplantının gündem ya da amaç ve konularının haber verilmeden toplantı yapılması,</a:t>
            </a:r>
          </a:p>
          <a:p>
            <a:pPr algn="just" eaLnBrk="1" hangingPunct="1"/>
            <a:r>
              <a:rPr lang="tr-TR" altLang="tr-TR" sz="2000" smtClean="0">
                <a:cs typeface="Times New Roman" panose="02020603050405020304" pitchFamily="18" charset="0"/>
              </a:rPr>
              <a:t>Toplantıda yöneticinin kimseye söz vermemesi hep kendinin konuşması, hatta konuşmak isteyenleri susturması.</a:t>
            </a:r>
          </a:p>
          <a:p>
            <a:pPr eaLnBrk="1" hangingPunct="1">
              <a:buFont typeface="Wingdings" panose="05000000000000000000" pitchFamily="2" charset="2"/>
              <a:buNone/>
            </a:pPr>
            <a:endParaRPr lang="tr-TR" altLang="tr-TR" sz="2000" smtClean="0"/>
          </a:p>
        </p:txBody>
      </p:sp>
      <p:sp>
        <p:nvSpPr>
          <p:cNvPr id="37892"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9CD3501F-956E-4D7E-9914-B01FDCBBC45E}" type="slidenum">
              <a:rPr lang="tr-TR" altLang="tr-TR" sz="1400">
                <a:solidFill>
                  <a:schemeClr val="bg2"/>
                </a:solidFill>
              </a:rPr>
              <a:pPr eaLnBrk="1" hangingPunct="1"/>
              <a:t>35</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p:cNvSpPr>
            <a:spLocks noGrp="1" noChangeArrowheads="1"/>
          </p:cNvSpPr>
          <p:nvPr>
            <p:ph type="title"/>
          </p:nvPr>
        </p:nvSpPr>
        <p:spPr/>
        <p:txBody>
          <a:bodyPr/>
          <a:lstStyle/>
          <a:p>
            <a:pPr eaLnBrk="1" hangingPunct="1"/>
            <a:r>
              <a:rPr lang="tr-TR" altLang="tr-TR" smtClean="0">
                <a:cs typeface="Times New Roman" panose="02020603050405020304" pitchFamily="18" charset="0"/>
              </a:rPr>
              <a:t> </a:t>
            </a:r>
            <a:br>
              <a:rPr lang="tr-TR" altLang="tr-TR" smtClean="0">
                <a:cs typeface="Times New Roman" panose="02020603050405020304" pitchFamily="18" charset="0"/>
              </a:rPr>
            </a:br>
            <a:r>
              <a:rPr lang="tr-TR" altLang="tr-TR" b="1" smtClean="0">
                <a:cs typeface="Times New Roman" panose="02020603050405020304" pitchFamily="18" charset="0"/>
              </a:rPr>
              <a:t>Toplantı Yönetimi Teknikleri</a:t>
            </a:r>
            <a:r>
              <a:rPr lang="tr-TR" altLang="tr-TR" smtClean="0"/>
              <a:t> </a:t>
            </a:r>
          </a:p>
        </p:txBody>
      </p:sp>
      <p:sp>
        <p:nvSpPr>
          <p:cNvPr id="38915"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7B17337F-0BC8-4144-84A5-20997E08EC55}" type="slidenum">
              <a:rPr lang="tr-TR" altLang="tr-TR" sz="1400">
                <a:solidFill>
                  <a:schemeClr val="bg2"/>
                </a:solidFill>
              </a:rPr>
              <a:pPr eaLnBrk="1" hangingPunct="1"/>
              <a:t>36</a:t>
            </a:fld>
            <a:endParaRPr lang="tr-TR" altLang="tr-TR" sz="1400">
              <a:solidFill>
                <a:schemeClr val="bg2"/>
              </a:solidFill>
            </a:endParaRPr>
          </a:p>
        </p:txBody>
      </p:sp>
      <p:sp>
        <p:nvSpPr>
          <p:cNvPr id="38916" name="Text Box 5"/>
          <p:cNvSpPr txBox="1">
            <a:spLocks noChangeArrowheads="1"/>
          </p:cNvSpPr>
          <p:nvPr/>
        </p:nvSpPr>
        <p:spPr bwMode="auto">
          <a:xfrm>
            <a:off x="2339975" y="2852738"/>
            <a:ext cx="497522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buFont typeface="Arial" panose="020B0604020202020204" pitchFamily="34" charset="0"/>
              <a:buChar char="•"/>
            </a:pPr>
            <a:r>
              <a:rPr lang="tr-TR" altLang="tr-TR" sz="2800" b="1">
                <a:latin typeface="Times New Roman" panose="02020603050405020304" pitchFamily="18" charset="0"/>
              </a:rPr>
              <a:t>Toplantı Öncesi Kurallar</a:t>
            </a:r>
          </a:p>
          <a:p>
            <a:pPr eaLnBrk="1" hangingPunct="1">
              <a:spcBef>
                <a:spcPct val="50000"/>
              </a:spcBef>
              <a:buFont typeface="Arial" panose="020B0604020202020204" pitchFamily="34" charset="0"/>
              <a:buChar char="•"/>
            </a:pPr>
            <a:r>
              <a:rPr lang="tr-TR" altLang="tr-TR" sz="2800" b="1">
                <a:latin typeface="Times New Roman" panose="02020603050405020304" pitchFamily="18" charset="0"/>
              </a:rPr>
              <a:t>Toplantı Sırasında Kurallar</a:t>
            </a:r>
          </a:p>
          <a:p>
            <a:pPr eaLnBrk="1" hangingPunct="1">
              <a:spcBef>
                <a:spcPct val="50000"/>
              </a:spcBef>
              <a:buFont typeface="Arial" panose="020B0604020202020204" pitchFamily="34" charset="0"/>
              <a:buChar char="•"/>
            </a:pPr>
            <a:r>
              <a:rPr lang="tr-TR" altLang="tr-TR" sz="2800" b="1">
                <a:latin typeface="Times New Roman" panose="02020603050405020304" pitchFamily="18" charset="0"/>
              </a:rPr>
              <a:t>Toplantı Sonrasında Kurallar</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1 Slayt Numarası Yer Tutucusu"/>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28EF719F-5148-4E8B-827F-D96B33A429BE}" type="slidenum">
              <a:rPr lang="tr-TR" altLang="tr-TR" sz="1400">
                <a:solidFill>
                  <a:schemeClr val="bg2"/>
                </a:solidFill>
              </a:rPr>
              <a:pPr eaLnBrk="1" hangingPunct="1"/>
              <a:t>37</a:t>
            </a:fld>
            <a:endParaRPr lang="tr-TR" altLang="tr-TR" sz="1400">
              <a:solidFill>
                <a:schemeClr val="bg2"/>
              </a:solidFill>
            </a:endParaRPr>
          </a:p>
        </p:txBody>
      </p:sp>
      <p:sp>
        <p:nvSpPr>
          <p:cNvPr id="39939" name="2 Metin kutusu"/>
          <p:cNvSpPr txBox="1">
            <a:spLocks noChangeArrowheads="1"/>
          </p:cNvSpPr>
          <p:nvPr/>
        </p:nvSpPr>
        <p:spPr bwMode="auto">
          <a:xfrm>
            <a:off x="1258888" y="1052513"/>
            <a:ext cx="8281987" cy="600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tr-TR" altLang="tr-TR" b="1"/>
              <a:t>Toplantı Öncesi Kurallar</a:t>
            </a:r>
          </a:p>
          <a:p>
            <a:pPr eaLnBrk="1" hangingPunct="1">
              <a:buFont typeface="Arial" panose="020B0604020202020204" pitchFamily="34" charset="0"/>
              <a:buChar char="•"/>
            </a:pPr>
            <a:r>
              <a:rPr lang="tr-TR" altLang="tr-TR"/>
              <a:t>Toplantının kaçınılmaz olup olmadığına kara verilmelidir. </a:t>
            </a:r>
          </a:p>
          <a:p>
            <a:pPr eaLnBrk="1" hangingPunct="1">
              <a:buFont typeface="Arial" panose="020B0604020202020204" pitchFamily="34" charset="0"/>
              <a:buChar char="•"/>
            </a:pPr>
            <a:r>
              <a:rPr lang="tr-TR" altLang="tr-TR"/>
              <a:t>Toplantıya katılanların  sayısı sınırlı tutulmalıdır.</a:t>
            </a:r>
          </a:p>
          <a:p>
            <a:pPr eaLnBrk="1" hangingPunct="1">
              <a:buFont typeface="Arial" panose="020B0604020202020204" pitchFamily="34" charset="0"/>
              <a:buChar char="•"/>
            </a:pPr>
            <a:r>
              <a:rPr lang="tr-TR" altLang="tr-TR"/>
              <a:t>Toplantı saatinin belirlenmesinde öğle yemeğinin hemen ardından ve mesai bitimi toplantı yapılmaması gibi özellikler  dikkate alınmalıdır.</a:t>
            </a:r>
          </a:p>
          <a:p>
            <a:pPr eaLnBrk="1" hangingPunct="1">
              <a:buFont typeface="Arial" panose="020B0604020202020204" pitchFamily="34" charset="0"/>
              <a:buChar char="•"/>
            </a:pPr>
            <a:r>
              <a:rPr lang="tr-TR" altLang="tr-TR"/>
              <a:t>Toplantı için uygun bir yer seçilmeli; toplantı saati ve yeri son anda değiştirilmemelidir.</a:t>
            </a:r>
          </a:p>
          <a:p>
            <a:pPr eaLnBrk="1" hangingPunct="1">
              <a:buFont typeface="Arial" panose="020B0604020202020204" pitchFamily="34" charset="0"/>
              <a:buChar char="•"/>
            </a:pPr>
            <a:r>
              <a:rPr lang="tr-TR" altLang="tr-TR"/>
              <a:t>Toplantı öncesi  hazırlıklarla ilgili bir liste hazırlanmalıdır. </a:t>
            </a:r>
          </a:p>
          <a:p>
            <a:pPr eaLnBrk="1" hangingPunct="1">
              <a:buFont typeface="Arial" panose="020B0604020202020204" pitchFamily="34" charset="0"/>
              <a:buChar char="•"/>
            </a:pPr>
            <a:r>
              <a:rPr lang="tr-TR" altLang="tr-TR"/>
              <a:t>Toplantı öncesi toplantı amacı  iyi saptanmalı, toplantı gündemi hazırlanarak  önceden ilgililere dağıtılmalıdır. </a:t>
            </a:r>
          </a:p>
          <a:p>
            <a:pPr eaLnBrk="1" hangingPunct="1">
              <a:buFont typeface="Arial" panose="020B0604020202020204" pitchFamily="34" charset="0"/>
              <a:buChar char="•"/>
            </a:pPr>
            <a:r>
              <a:rPr lang="tr-TR" altLang="tr-TR"/>
              <a:t>Danışma, işbirliği sağlama ya da karar alma amacıyla yapılan toplantıların bir kurultay gibi  kalabalık olmasından kaçınılmalıdır. İdeal üye sayısı 7 ila 11 üyeden oluşmalıdır.. </a:t>
            </a:r>
          </a:p>
          <a:p>
            <a:pPr eaLnBrk="1" hangingPunct="1">
              <a:buFont typeface="Arial" panose="020B0604020202020204" pitchFamily="34" charset="0"/>
              <a:buChar char="•"/>
            </a:pPr>
            <a:r>
              <a:rPr lang="tr-TR" altLang="tr-TR"/>
              <a:t>Ancak bilgi ya da talimat veme toplantıları için  toplantının kalabalık olmasında bir beis yoktur.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1 Slayt Numarası Yer Tutucusu"/>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7AF14B8A-CB96-4D78-9C6B-D9FAE4175895}" type="slidenum">
              <a:rPr lang="tr-TR" altLang="tr-TR" sz="1400">
                <a:solidFill>
                  <a:schemeClr val="bg2"/>
                </a:solidFill>
              </a:rPr>
              <a:pPr eaLnBrk="1" hangingPunct="1"/>
              <a:t>38</a:t>
            </a:fld>
            <a:endParaRPr lang="tr-TR" altLang="tr-TR" sz="1400">
              <a:solidFill>
                <a:schemeClr val="bg2"/>
              </a:solidFill>
            </a:endParaRPr>
          </a:p>
        </p:txBody>
      </p:sp>
      <p:sp>
        <p:nvSpPr>
          <p:cNvPr id="40963" name="2 Metin kutusu"/>
          <p:cNvSpPr txBox="1">
            <a:spLocks noChangeArrowheads="1"/>
          </p:cNvSpPr>
          <p:nvPr/>
        </p:nvSpPr>
        <p:spPr bwMode="auto">
          <a:xfrm>
            <a:off x="1331913" y="1125538"/>
            <a:ext cx="8280400" cy="710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buFont typeface="Arial" panose="020B0604020202020204" pitchFamily="34" charset="0"/>
              <a:buChar char="•"/>
            </a:pPr>
            <a:r>
              <a:rPr lang="tr-TR" altLang="tr-TR"/>
              <a:t>Etkili olmak için dar alanda toplantı yapılması; örneğin 10 kişiyle 100 kişilik bir salonda toplantı yapılmamalıdır. Ne varki tartışmaları, restleşmeleri en aza indirmek, ilgiyi azaltmak  isteniyorsa  geniş alanda toplantı yapılmalıdır. </a:t>
            </a:r>
          </a:p>
          <a:p>
            <a:pPr eaLnBrk="1" hangingPunct="1">
              <a:buFont typeface="Arial" panose="020B0604020202020204" pitchFamily="34" charset="0"/>
              <a:buChar char="•"/>
            </a:pPr>
            <a:r>
              <a:rPr lang="tr-TR" altLang="tr-TR"/>
              <a:t>Toplantıya daima size destek olacak kimseler davet edilmelidir.  Özellikle de size bilgi ve belge sağlayabilecek uzmanların toplantıya katılması sağlanmalıdır. </a:t>
            </a:r>
          </a:p>
          <a:p>
            <a:pPr eaLnBrk="1" hangingPunct="1">
              <a:buFont typeface="Arial" panose="020B0604020202020204" pitchFamily="34" charset="0"/>
              <a:buChar char="•"/>
            </a:pPr>
            <a:r>
              <a:rPr lang="tr-TR" altLang="tr-TR"/>
              <a:t>Toplantıya iyi hazırlanılmalıdır. </a:t>
            </a:r>
          </a:p>
          <a:p>
            <a:pPr eaLnBrk="1" hangingPunct="1">
              <a:buFont typeface="Arial" panose="020B0604020202020204" pitchFamily="34" charset="0"/>
              <a:buChar char="•"/>
            </a:pPr>
            <a:r>
              <a:rPr lang="tr-TR" altLang="tr-TR"/>
              <a:t>Bir toplantıya davet edildiğinizde katılmanız gerektiğinde kimlerin olacağı öğrenilmelidir.  İyi yer seçebilmek için toplantıya erken gelinmeli; ancak ilk gelen olunmamalıdır.</a:t>
            </a:r>
          </a:p>
          <a:p>
            <a:pPr eaLnBrk="1" hangingPunct="1">
              <a:buFont typeface="Arial" panose="020B0604020202020204" pitchFamily="34" charset="0"/>
              <a:buChar char="•"/>
            </a:pPr>
            <a:r>
              <a:rPr lang="tr-TR" altLang="tr-TR"/>
              <a:t>Toplantı yöneticisi amiriniz ise ona yaın değilse uzak oturun.  Toplantının resmi yöneticisi yoksa  kontrolü ele alacak bir yere oturun.  Masa ortası daima  egemen olma noktasıdır</a:t>
            </a:r>
          </a:p>
          <a:p>
            <a:pPr eaLnBrk="1" hangingPunct="1">
              <a:buFont typeface="Arial" panose="020B0604020202020204" pitchFamily="34" charset="0"/>
              <a:buChar char="•"/>
            </a:pPr>
            <a:r>
              <a:rPr lang="tr-TR" altLang="tr-TR"/>
              <a:t>Toplantı yöneticisi etkin olabilmek için daima önde ve yüksekte oturmalıdır. </a:t>
            </a:r>
          </a:p>
          <a:p>
            <a:pPr eaLnBrk="1" hangingPunct="1">
              <a:buFont typeface="Arial" panose="020B0604020202020204" pitchFamily="34" charset="0"/>
              <a:buChar char="•"/>
            </a:pPr>
            <a:r>
              <a:rPr lang="tr-TR" altLang="tr-TR"/>
              <a:t>Toplantının etkili olması için toplantının daima iyi bir yerde güzel bir ziyafetten sonra başlaması gerekir..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1 Slayt Numarası Yer Tutucusu"/>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0B7C456B-D604-49C9-92DD-4596637B7338}" type="slidenum">
              <a:rPr lang="tr-TR" altLang="tr-TR" sz="1400">
                <a:solidFill>
                  <a:schemeClr val="bg2"/>
                </a:solidFill>
              </a:rPr>
              <a:pPr eaLnBrk="1" hangingPunct="1"/>
              <a:t>39</a:t>
            </a:fld>
            <a:endParaRPr lang="tr-TR" altLang="tr-TR" sz="1400">
              <a:solidFill>
                <a:schemeClr val="bg2"/>
              </a:solidFill>
            </a:endParaRPr>
          </a:p>
        </p:txBody>
      </p:sp>
      <p:sp>
        <p:nvSpPr>
          <p:cNvPr id="41987" name="3 Metin kutusu"/>
          <p:cNvSpPr txBox="1">
            <a:spLocks noChangeArrowheads="1"/>
          </p:cNvSpPr>
          <p:nvPr/>
        </p:nvSpPr>
        <p:spPr bwMode="auto">
          <a:xfrm>
            <a:off x="1331913" y="981075"/>
            <a:ext cx="7812087" cy="680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tr-TR" altLang="tr-TR" sz="2800" b="1"/>
              <a:t>Toplantı Sırası Kuralları</a:t>
            </a:r>
          </a:p>
          <a:p>
            <a:pPr eaLnBrk="1" hangingPunct="1">
              <a:buFont typeface="Arial" panose="020B0604020202020204" pitchFamily="34" charset="0"/>
              <a:buChar char="•"/>
            </a:pPr>
            <a:r>
              <a:rPr lang="tr-TR" altLang="tr-TR"/>
              <a:t>Toplantıya daima vaktinde başlanılmalıdır.</a:t>
            </a:r>
          </a:p>
          <a:p>
            <a:pPr eaLnBrk="1" hangingPunct="1">
              <a:buFont typeface="Arial" panose="020B0604020202020204" pitchFamily="34" charset="0"/>
              <a:buChar char="•"/>
            </a:pPr>
            <a:r>
              <a:rPr lang="tr-TR" altLang="tr-TR"/>
              <a:t>Uygunsa toplantı ayakta yapılmalıdır. </a:t>
            </a:r>
          </a:p>
          <a:p>
            <a:pPr eaLnBrk="1" hangingPunct="1">
              <a:buFont typeface="Arial" panose="020B0604020202020204" pitchFamily="34" charset="0"/>
              <a:buChar char="•"/>
            </a:pPr>
            <a:r>
              <a:rPr lang="tr-TR" altLang="tr-TR"/>
              <a:t>Toplantıya gündemle başlanılmalı, amacı açıklanmalıdır. </a:t>
            </a:r>
          </a:p>
          <a:p>
            <a:pPr eaLnBrk="1" hangingPunct="1">
              <a:buFont typeface="Arial" panose="020B0604020202020204" pitchFamily="34" charset="0"/>
              <a:buChar char="•"/>
            </a:pPr>
            <a:r>
              <a:rPr lang="tr-TR" altLang="tr-TR"/>
              <a:t>Toplantıda 20- 30 sayfalık raporlar okutulmamalıdır.  Böylesi raporlar önceden üyelere dağıtılmalıdır. </a:t>
            </a:r>
          </a:p>
          <a:p>
            <a:pPr eaLnBrk="1" hangingPunct="1">
              <a:buFont typeface="Arial" panose="020B0604020202020204" pitchFamily="34" charset="0"/>
              <a:buChar char="•"/>
            </a:pPr>
            <a:r>
              <a:rPr lang="tr-TR" altLang="tr-TR"/>
              <a:t>Toplantıda konuşulanlar dikkatle dinlenilmelidir.  Konuşulanlar not edilerek dinlendiği gösterilmelidir. </a:t>
            </a:r>
          </a:p>
          <a:p>
            <a:pPr eaLnBrk="1" hangingPunct="1">
              <a:buFont typeface="Arial" panose="020B0604020202020204" pitchFamily="34" charset="0"/>
              <a:buChar char="•"/>
            </a:pPr>
            <a:r>
              <a:rPr lang="tr-TR" altLang="tr-TR"/>
              <a:t>Toplantının akışı sağlanmalı, konu dışına çıkılması önlenmelidir. </a:t>
            </a:r>
          </a:p>
          <a:p>
            <a:pPr eaLnBrk="1" hangingPunct="1">
              <a:buFont typeface="Arial" panose="020B0604020202020204" pitchFamily="34" charset="0"/>
              <a:buChar char="•"/>
            </a:pPr>
            <a:r>
              <a:rPr lang="tr-TR" altLang="tr-TR"/>
              <a:t>Katılan herkesin katılması, görüş belirtmesi  sağlanmalıdır.  </a:t>
            </a:r>
          </a:p>
          <a:p>
            <a:pPr eaLnBrk="1" hangingPunct="1">
              <a:buFont typeface="Arial" panose="020B0604020202020204" pitchFamily="34" charset="0"/>
              <a:buChar char="•"/>
            </a:pPr>
            <a:r>
              <a:rPr lang="tr-TR" altLang="tr-TR"/>
              <a:t>Toplantının amacı gözden uzak tutulmamalıdır.  Başkan önce üyelerin görüşlerini almalı kendi görüşünü  en sona saklamalıdır. İlk ve son sözü daima başkan söylemelidir.</a:t>
            </a:r>
          </a:p>
          <a:p>
            <a:pPr eaLnBrk="1" hangingPunct="1">
              <a:buFont typeface="Arial" panose="020B0604020202020204" pitchFamily="34" charset="0"/>
              <a:buChar char="•"/>
            </a:pPr>
            <a:endParaRPr lang="tr-TR" altLang="tr-T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1 Slayt Numarası Yer Tutucusu"/>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63607432-6F9C-4DDC-9321-A01FEC50EB2E}" type="slidenum">
              <a:rPr lang="tr-TR" altLang="tr-TR" sz="1400">
                <a:solidFill>
                  <a:schemeClr val="bg2"/>
                </a:solidFill>
              </a:rPr>
              <a:pPr eaLnBrk="1" hangingPunct="1"/>
              <a:t>40</a:t>
            </a:fld>
            <a:endParaRPr lang="tr-TR" altLang="tr-TR" sz="1400">
              <a:solidFill>
                <a:schemeClr val="bg2"/>
              </a:solidFill>
            </a:endParaRPr>
          </a:p>
        </p:txBody>
      </p:sp>
      <p:sp>
        <p:nvSpPr>
          <p:cNvPr id="43011" name="2 Metin kutusu"/>
          <p:cNvSpPr txBox="1">
            <a:spLocks noChangeArrowheads="1"/>
          </p:cNvSpPr>
          <p:nvPr/>
        </p:nvSpPr>
        <p:spPr bwMode="auto">
          <a:xfrm>
            <a:off x="1366838" y="1052513"/>
            <a:ext cx="7777162" cy="600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tr-TR" altLang="tr-TR"/>
              <a:t>Kimin, hangi konuda ne zaman  konuşacağına başkan karar vermelidir.</a:t>
            </a:r>
          </a:p>
          <a:p>
            <a:pPr eaLnBrk="1" hangingPunct="1"/>
            <a:r>
              <a:rPr lang="tr-TR" altLang="tr-TR"/>
              <a:t>Toplantıda  amaç ve hedefe uygun olmayan  bir karara doğru gidildiği sezilirse  oylama yapılmadan ya da karar almadan toplantı sonlandırılmalıdır.  </a:t>
            </a:r>
          </a:p>
          <a:p>
            <a:pPr eaLnBrk="1" hangingPunct="1"/>
            <a:r>
              <a:rPr lang="tr-TR" altLang="tr-TR"/>
              <a:t>İstenen doğrultuda karar alabilmek için destek sağlayan ve  aynı görüşte olanlara öncelikle söz verilmelidir. </a:t>
            </a:r>
          </a:p>
          <a:p>
            <a:pPr eaLnBrk="1" hangingPunct="1"/>
            <a:r>
              <a:rPr lang="tr-TR" altLang="tr-TR"/>
              <a:t>Toplantıda grup daima enerjik ve  dinamik tutulmalıdır. (ses tonunu değiştirmek, bir fıkra anlatmak, ara vermek , konuyu değiştirmek gibi stratejiler işe yarayabilir.</a:t>
            </a:r>
          </a:p>
          <a:p>
            <a:pPr eaLnBrk="1" hangingPunct="1"/>
            <a:r>
              <a:rPr lang="tr-TR" altLang="tr-TR"/>
              <a:t>Katılımcıların söz ve haraketlerinde serbest olmaları sağlanmalıdır. Önemli olan onların tartışmaya ve karara katılımlarının sağlanmasıdır.</a:t>
            </a:r>
          </a:p>
          <a:p>
            <a:pPr eaLnBrk="1" hangingPunct="1"/>
            <a:r>
              <a:rPr lang="tr-TR" altLang="tr-TR"/>
              <a:t> İstenenleri yapanlar övülmeli ancak yapmayanlara tepki gösterilmemelidir. Görüş, eleştiri ve  öneri sahiplerine teşekkür edilmelidir.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1 Slayt Numarası Yer Tutucusu"/>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B2C2FB4D-5EA5-412C-97A4-E4B085712C9E}" type="slidenum">
              <a:rPr lang="tr-TR" altLang="tr-TR" sz="1400">
                <a:solidFill>
                  <a:schemeClr val="bg2"/>
                </a:solidFill>
              </a:rPr>
              <a:pPr eaLnBrk="1" hangingPunct="1"/>
              <a:t>41</a:t>
            </a:fld>
            <a:endParaRPr lang="tr-TR" altLang="tr-TR" sz="1400">
              <a:solidFill>
                <a:schemeClr val="bg2"/>
              </a:solidFill>
            </a:endParaRPr>
          </a:p>
        </p:txBody>
      </p:sp>
      <p:sp>
        <p:nvSpPr>
          <p:cNvPr id="44035" name="2 Metin kutusu"/>
          <p:cNvSpPr txBox="1">
            <a:spLocks noChangeArrowheads="1"/>
          </p:cNvSpPr>
          <p:nvPr/>
        </p:nvSpPr>
        <p:spPr bwMode="auto">
          <a:xfrm>
            <a:off x="1331913" y="1484313"/>
            <a:ext cx="7812087"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buFont typeface="Arial" panose="020B0604020202020204" pitchFamily="34" charset="0"/>
              <a:buChar char="•"/>
            </a:pPr>
            <a:r>
              <a:rPr lang="tr-TR" altLang="tr-TR"/>
              <a:t>Olumsuz uyarılmalar, alaycı davranışlara, iğneli ve kinayeli konuşmalar izin verilmemelidir. </a:t>
            </a:r>
          </a:p>
          <a:p>
            <a:pPr eaLnBrk="1" hangingPunct="1">
              <a:buFont typeface="Arial" panose="020B0604020202020204" pitchFamily="34" charset="0"/>
              <a:buChar char="•"/>
            </a:pPr>
            <a:r>
              <a:rPr lang="tr-TR" altLang="tr-TR"/>
              <a:t>Katılımcılar azarlanmamalı, utandırılmamalıdır. </a:t>
            </a:r>
          </a:p>
          <a:p>
            <a:pPr eaLnBrk="1" hangingPunct="1">
              <a:buFont typeface="Arial" panose="020B0604020202020204" pitchFamily="34" charset="0"/>
              <a:buChar char="•"/>
            </a:pPr>
            <a:r>
              <a:rPr lang="tr-TR" altLang="tr-TR"/>
              <a:t>Toplantıda anılar anlatılmamalı, varsayımlarla zaman öldürülmemelidir. </a:t>
            </a:r>
          </a:p>
          <a:p>
            <a:pPr eaLnBrk="1" hangingPunct="1">
              <a:buFont typeface="Arial" panose="020B0604020202020204" pitchFamily="34" charset="0"/>
              <a:buChar char="•"/>
            </a:pPr>
            <a:r>
              <a:rPr lang="tr-TR" altLang="tr-TR"/>
              <a:t>Hayır denmek istendiğinde çekinmeden hayır, evet denilince de inandırıcı olmalıdır.</a:t>
            </a:r>
          </a:p>
          <a:p>
            <a:pPr eaLnBrk="1" hangingPunct="1">
              <a:buFont typeface="Arial" panose="020B0604020202020204" pitchFamily="34" charset="0"/>
              <a:buChar char="•"/>
            </a:pPr>
            <a:r>
              <a:rPr lang="tr-TR" altLang="tr-TR"/>
              <a:t>Toplantı amacına ulaştırılmalı ve bir karara varılmalıdır.  Toplantı zamanında bitirilmeli, son sözü başkan söylemelidir.</a:t>
            </a:r>
          </a:p>
          <a:p>
            <a:pPr eaLnBrk="1" hangingPunct="1">
              <a:buFont typeface="Arial" panose="020B0604020202020204" pitchFamily="34" charset="0"/>
              <a:buChar char="•"/>
            </a:pPr>
            <a:endParaRPr lang="tr-TR" altLang="tr-T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1 Slayt Numarası Yer Tutucusu"/>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5F42FB5D-285E-49C9-AB97-FA9C1B91893D}" type="slidenum">
              <a:rPr lang="tr-TR" altLang="tr-TR" sz="1400">
                <a:solidFill>
                  <a:schemeClr val="bg2"/>
                </a:solidFill>
              </a:rPr>
              <a:pPr eaLnBrk="1" hangingPunct="1"/>
              <a:t>42</a:t>
            </a:fld>
            <a:endParaRPr lang="tr-TR" altLang="tr-TR" sz="1400">
              <a:solidFill>
                <a:schemeClr val="bg2"/>
              </a:solidFill>
            </a:endParaRPr>
          </a:p>
        </p:txBody>
      </p:sp>
      <p:sp>
        <p:nvSpPr>
          <p:cNvPr id="45059" name="2 Metin kutusu"/>
          <p:cNvSpPr txBox="1">
            <a:spLocks noChangeArrowheads="1"/>
          </p:cNvSpPr>
          <p:nvPr/>
        </p:nvSpPr>
        <p:spPr bwMode="auto">
          <a:xfrm>
            <a:off x="1116013" y="1125538"/>
            <a:ext cx="8027987" cy="384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tr-TR" altLang="tr-TR" b="1"/>
          </a:p>
          <a:p>
            <a:pPr eaLnBrk="1" hangingPunct="1"/>
            <a:endParaRPr lang="tr-TR" altLang="tr-TR" b="1"/>
          </a:p>
          <a:p>
            <a:pPr eaLnBrk="1" hangingPunct="1"/>
            <a:r>
              <a:rPr lang="tr-TR" altLang="tr-TR" sz="2800" b="1"/>
              <a:t>Toplantı Sonrası Kurallar</a:t>
            </a:r>
          </a:p>
          <a:p>
            <a:pPr eaLnBrk="1" hangingPunct="1"/>
            <a:endParaRPr lang="tr-TR" altLang="tr-TR" b="1"/>
          </a:p>
          <a:p>
            <a:pPr eaLnBrk="1" hangingPunct="1">
              <a:buFont typeface="Arial" panose="020B0604020202020204" pitchFamily="34" charset="0"/>
              <a:buChar char="•"/>
            </a:pPr>
            <a:r>
              <a:rPr lang="tr-TR" altLang="tr-TR"/>
              <a:t>Toplantı sonrasında gerekli yazı veya  tutanak en geç 48 saat içinde tamamlanmalıdır. </a:t>
            </a:r>
          </a:p>
          <a:p>
            <a:pPr eaLnBrk="1" hangingPunct="1">
              <a:buFont typeface="Arial" panose="020B0604020202020204" pitchFamily="34" charset="0"/>
              <a:buChar char="•"/>
            </a:pPr>
            <a:r>
              <a:rPr lang="tr-TR" altLang="tr-TR"/>
              <a:t>Topalntıda alınan kararların ilgililere duyurulması sağlanmalıdır.</a:t>
            </a:r>
          </a:p>
          <a:p>
            <a:pPr eaLnBrk="1" hangingPunct="1">
              <a:buFont typeface="Arial" panose="020B0604020202020204" pitchFamily="34" charset="0"/>
              <a:buChar char="•"/>
            </a:pPr>
            <a:r>
              <a:rPr lang="tr-TR" altLang="tr-TR"/>
              <a:t>Alınan kararlar uygulamaya konulmalıdır.</a:t>
            </a:r>
          </a:p>
          <a:p>
            <a:pPr eaLnBrk="1" hangingPunct="1">
              <a:buFont typeface="Arial" panose="020B0604020202020204" pitchFamily="34" charset="0"/>
              <a:buChar char="•"/>
            </a:pPr>
            <a:r>
              <a:rPr lang="tr-TR" altLang="tr-TR"/>
              <a:t>Uygulama izlenip kontrol edilmelidir.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905000" y="762000"/>
            <a:ext cx="6705600" cy="1143000"/>
          </a:xfrm>
        </p:spPr>
        <p:txBody>
          <a:bodyPr/>
          <a:lstStyle/>
          <a:p>
            <a:pPr eaLnBrk="1" hangingPunct="1"/>
            <a:r>
              <a:rPr lang="tr-TR" altLang="tr-TR" sz="3200" smtClean="0"/>
              <a:t>Toplantıda Üyeleri Uyanık Tutma</a:t>
            </a:r>
          </a:p>
        </p:txBody>
      </p:sp>
      <p:sp>
        <p:nvSpPr>
          <p:cNvPr id="46083" name="Rectangle 3"/>
          <p:cNvSpPr>
            <a:spLocks noGrp="1" noChangeArrowheads="1"/>
          </p:cNvSpPr>
          <p:nvPr>
            <p:ph idx="1"/>
          </p:nvPr>
        </p:nvSpPr>
        <p:spPr>
          <a:xfrm>
            <a:off x="1371600" y="1295400"/>
            <a:ext cx="7772400" cy="2209800"/>
          </a:xfrm>
        </p:spPr>
        <p:txBody>
          <a:bodyPr/>
          <a:lstStyle/>
          <a:p>
            <a:pPr algn="ctr" eaLnBrk="1" hangingPunct="1">
              <a:lnSpc>
                <a:spcPct val="90000"/>
              </a:lnSpc>
              <a:buFont typeface="Wingdings" panose="05000000000000000000" pitchFamily="2" charset="2"/>
              <a:buNone/>
            </a:pPr>
            <a:r>
              <a:rPr lang="tr-TR" altLang="tr-TR" sz="2400" b="1" smtClean="0">
                <a:cs typeface="Times New Roman" panose="02020603050405020304" pitchFamily="18" charset="0"/>
              </a:rPr>
              <a:t> </a:t>
            </a:r>
            <a:endParaRPr lang="tr-TR" altLang="tr-TR" sz="2400" smtClean="0">
              <a:cs typeface="Times New Roman" panose="02020603050405020304" pitchFamily="18" charset="0"/>
            </a:endParaRPr>
          </a:p>
          <a:p>
            <a:pPr eaLnBrk="1" hangingPunct="1">
              <a:lnSpc>
                <a:spcPct val="90000"/>
              </a:lnSpc>
              <a:buFont typeface="Wingdings" panose="05000000000000000000" pitchFamily="2" charset="2"/>
              <a:buNone/>
            </a:pPr>
            <a:r>
              <a:rPr lang="tr-TR" altLang="tr-TR" sz="2400" smtClean="0">
                <a:cs typeface="Times New Roman" panose="02020603050405020304" pitchFamily="18" charset="0"/>
              </a:rPr>
              <a:t>	</a:t>
            </a:r>
            <a:r>
              <a:rPr lang="tr-TR" altLang="tr-TR" sz="2000" smtClean="0">
                <a:cs typeface="Times New Roman" panose="02020603050405020304" pitchFamily="18" charset="0"/>
              </a:rPr>
              <a:t>Toplantıda üyelerin dikkatlerinin uyanık tutulması, ikili- üçlü konuşmaların olmaması, salonda hafif de olsa bir uğultu olmasının önlenmesi bazı taktiklerle önlenebilmektedir ( Açıkgöz 1994):</a:t>
            </a:r>
          </a:p>
          <a:p>
            <a:pPr eaLnBrk="1" hangingPunct="1">
              <a:lnSpc>
                <a:spcPct val="90000"/>
              </a:lnSpc>
              <a:buFont typeface="Wingdings" panose="05000000000000000000" pitchFamily="2" charset="2"/>
              <a:buNone/>
            </a:pPr>
            <a:r>
              <a:rPr lang="tr-TR" altLang="tr-TR" sz="2400" smtClean="0">
                <a:cs typeface="Times New Roman" panose="02020603050405020304" pitchFamily="18" charset="0"/>
              </a:rPr>
              <a:t> </a:t>
            </a:r>
          </a:p>
          <a:p>
            <a:pPr eaLnBrk="1" hangingPunct="1">
              <a:lnSpc>
                <a:spcPct val="90000"/>
              </a:lnSpc>
            </a:pPr>
            <a:endParaRPr lang="tr-TR" altLang="tr-TR" sz="2400" smtClean="0"/>
          </a:p>
        </p:txBody>
      </p:sp>
      <p:sp>
        <p:nvSpPr>
          <p:cNvPr id="46084"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7219D3DF-D9CD-48E3-9328-B3FEB96216AC}" type="slidenum">
              <a:rPr lang="tr-TR" altLang="tr-TR" sz="1400">
                <a:solidFill>
                  <a:schemeClr val="bg2"/>
                </a:solidFill>
              </a:rPr>
              <a:pPr eaLnBrk="1" hangingPunct="1"/>
              <a:t>43</a:t>
            </a:fld>
            <a:endParaRPr lang="tr-TR" altLang="tr-TR" sz="1400">
              <a:solidFill>
                <a:schemeClr val="bg2"/>
              </a:solidFill>
            </a:endParaRPr>
          </a:p>
        </p:txBody>
      </p:sp>
      <p:sp>
        <p:nvSpPr>
          <p:cNvPr id="46085" name="Text Box 4"/>
          <p:cNvSpPr txBox="1">
            <a:spLocks noChangeArrowheads="1"/>
          </p:cNvSpPr>
          <p:nvPr/>
        </p:nvSpPr>
        <p:spPr bwMode="auto">
          <a:xfrm>
            <a:off x="1905000" y="3200400"/>
            <a:ext cx="6705600" cy="319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lnSpc>
                <a:spcPct val="90000"/>
              </a:lnSpc>
              <a:spcBef>
                <a:spcPct val="20000"/>
              </a:spcBef>
              <a:buClr>
                <a:schemeClr val="accent2"/>
              </a:buClr>
              <a:buSzPct val="85000"/>
              <a:buFont typeface="Wingdings" panose="05000000000000000000" pitchFamily="2" charset="2"/>
              <a:buNone/>
            </a:pPr>
            <a:r>
              <a:rPr lang="tr-TR" altLang="tr-TR" sz="2000">
                <a:cs typeface="Times New Roman" panose="02020603050405020304" pitchFamily="18" charset="0"/>
              </a:rPr>
              <a:t>1)      Fısıldaşanlara keskin bakışlar fırlatılmalıdır.</a:t>
            </a:r>
          </a:p>
          <a:p>
            <a:pPr eaLnBrk="1" hangingPunct="1">
              <a:lnSpc>
                <a:spcPct val="90000"/>
              </a:lnSpc>
              <a:spcBef>
                <a:spcPct val="20000"/>
              </a:spcBef>
              <a:buClr>
                <a:schemeClr val="accent2"/>
              </a:buClr>
              <a:buSzPct val="85000"/>
              <a:buFont typeface="Wingdings" panose="05000000000000000000" pitchFamily="2" charset="2"/>
              <a:buNone/>
            </a:pPr>
            <a:r>
              <a:rPr lang="tr-TR" altLang="tr-TR" sz="2000">
                <a:cs typeface="Times New Roman" panose="02020603050405020304" pitchFamily="18" charset="0"/>
              </a:rPr>
              <a:t>2)      Konuşma ansızın kesilmelidir.</a:t>
            </a:r>
          </a:p>
          <a:p>
            <a:pPr eaLnBrk="1" hangingPunct="1">
              <a:lnSpc>
                <a:spcPct val="90000"/>
              </a:lnSpc>
              <a:spcBef>
                <a:spcPct val="20000"/>
              </a:spcBef>
              <a:buClr>
                <a:schemeClr val="accent2"/>
              </a:buClr>
              <a:buSzPct val="85000"/>
              <a:buFont typeface="Wingdings" panose="05000000000000000000" pitchFamily="2" charset="2"/>
              <a:buNone/>
            </a:pPr>
            <a:r>
              <a:rPr lang="tr-TR" altLang="tr-TR" sz="2000">
                <a:cs typeface="Times New Roman" panose="02020603050405020304" pitchFamily="18" charset="0"/>
              </a:rPr>
              <a:t>3)      Konuşanlar soru yöneltilmeli ya da görüşleri sorulmalıdır.</a:t>
            </a:r>
          </a:p>
          <a:p>
            <a:pPr eaLnBrk="1" hangingPunct="1">
              <a:lnSpc>
                <a:spcPct val="90000"/>
              </a:lnSpc>
              <a:spcBef>
                <a:spcPct val="20000"/>
              </a:spcBef>
              <a:buClr>
                <a:schemeClr val="accent2"/>
              </a:buClr>
              <a:buSzPct val="85000"/>
              <a:buFont typeface="Wingdings" panose="05000000000000000000" pitchFamily="2" charset="2"/>
              <a:buNone/>
            </a:pPr>
            <a:r>
              <a:rPr lang="tr-TR" altLang="tr-TR" sz="2000">
                <a:cs typeface="Times New Roman" panose="02020603050405020304" pitchFamily="18" charset="0"/>
              </a:rPr>
              <a:t>4)      Üyelerle göz iletişimi kurulmalıdır.</a:t>
            </a:r>
          </a:p>
          <a:p>
            <a:pPr eaLnBrk="1" hangingPunct="1">
              <a:lnSpc>
                <a:spcPct val="90000"/>
              </a:lnSpc>
              <a:spcBef>
                <a:spcPct val="20000"/>
              </a:spcBef>
              <a:buClr>
                <a:schemeClr val="accent2"/>
              </a:buClr>
              <a:buSzPct val="85000"/>
              <a:buFont typeface="Wingdings" panose="05000000000000000000" pitchFamily="2" charset="2"/>
              <a:buNone/>
            </a:pPr>
            <a:r>
              <a:rPr lang="tr-TR" altLang="tr-TR" sz="2000">
                <a:cs typeface="Times New Roman" panose="02020603050405020304" pitchFamily="18" charset="0"/>
              </a:rPr>
              <a:t>5)      Toplantıya kısa bir ara verilmelidir.</a:t>
            </a:r>
          </a:p>
          <a:p>
            <a:pPr eaLnBrk="1" hangingPunct="1">
              <a:lnSpc>
                <a:spcPct val="90000"/>
              </a:lnSpc>
              <a:spcBef>
                <a:spcPct val="20000"/>
              </a:spcBef>
              <a:buClr>
                <a:schemeClr val="accent2"/>
              </a:buClr>
              <a:buSzPct val="85000"/>
              <a:buFont typeface="Wingdings" panose="05000000000000000000" pitchFamily="2" charset="2"/>
              <a:buNone/>
            </a:pPr>
            <a:r>
              <a:rPr lang="tr-TR" altLang="tr-TR" sz="2000">
                <a:cs typeface="Times New Roman" panose="02020603050405020304" pitchFamily="18" charset="0"/>
              </a:rPr>
              <a:t>6)      Konuşmalar espiriyle süslenmelidir. </a:t>
            </a:r>
          </a:p>
          <a:p>
            <a:pPr eaLnBrk="1" hangingPunct="1">
              <a:lnSpc>
                <a:spcPct val="90000"/>
              </a:lnSpc>
              <a:spcBef>
                <a:spcPct val="20000"/>
              </a:spcBef>
              <a:buClr>
                <a:schemeClr val="accent2"/>
              </a:buClr>
              <a:buSzPct val="85000"/>
              <a:buFont typeface="Wingdings" panose="05000000000000000000" pitchFamily="2" charset="2"/>
              <a:buNone/>
            </a:pPr>
            <a:r>
              <a:rPr lang="tr-TR" altLang="tr-TR" sz="2000">
                <a:cs typeface="Times New Roman" panose="02020603050405020304" pitchFamily="18" charset="0"/>
              </a:rPr>
              <a:t>7)      Ses tonu yükseltilmelidir.</a:t>
            </a:r>
          </a:p>
          <a:p>
            <a:pPr eaLnBrk="1" hangingPunct="1">
              <a:spcBef>
                <a:spcPct val="50000"/>
              </a:spcBef>
            </a:pPr>
            <a:endParaRPr lang="tr-TR" altLang="tr-T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Dikdörtgen 1"/>
          <p:cNvSpPr>
            <a:spLocks noChangeArrowheads="1"/>
          </p:cNvSpPr>
          <p:nvPr/>
        </p:nvSpPr>
        <p:spPr bwMode="auto">
          <a:xfrm>
            <a:off x="2286000" y="3013075"/>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altLang="tr-TR"/>
              <a:t>Dr. Brian R. Shmaefsky</a:t>
            </a:r>
          </a:p>
          <a:p>
            <a:pPr eaLnBrk="1" hangingPunct="1"/>
            <a:r>
              <a:rPr lang="tr-TR" altLang="tr-TR"/>
              <a:t>Effective Safety Meetings©</a:t>
            </a:r>
            <a:br>
              <a:rPr lang="tr-TR" altLang="tr-TR"/>
            </a:br>
            <a:endParaRPr lang="tr-TR" altLang="tr-TR"/>
          </a:p>
        </p:txBody>
      </p:sp>
      <p:sp>
        <p:nvSpPr>
          <p:cNvPr id="47107" name="Slayt Numarası Yer Tutucusu 1"/>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CA6CBE86-7900-41D7-826F-8CAA90C723A6}" type="slidenum">
              <a:rPr lang="tr-TR" altLang="tr-TR" sz="1400">
                <a:solidFill>
                  <a:schemeClr val="bg2"/>
                </a:solidFill>
              </a:rPr>
              <a:pPr eaLnBrk="1" hangingPunct="1"/>
              <a:t>44</a:t>
            </a:fld>
            <a:endParaRPr lang="tr-TR" altLang="tr-TR" sz="1400">
              <a:solidFill>
                <a:schemeClr val="bg2"/>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Kumtaşı">
  <a:themeElements>
    <a:clrScheme name="Kumtaşı 1">
      <a:dk1>
        <a:srgbClr val="333333"/>
      </a:dk1>
      <a:lt1>
        <a:srgbClr val="BAB9A0"/>
      </a:lt1>
      <a:dk2>
        <a:srgbClr val="000000"/>
      </a:dk2>
      <a:lt2>
        <a:srgbClr val="333329"/>
      </a:lt2>
      <a:accent1>
        <a:srgbClr val="F4F3D9"/>
      </a:accent1>
      <a:accent2>
        <a:srgbClr val="E09142"/>
      </a:accent2>
      <a:accent3>
        <a:srgbClr val="D9D9CD"/>
      </a:accent3>
      <a:accent4>
        <a:srgbClr val="2A2A2A"/>
      </a:accent4>
      <a:accent5>
        <a:srgbClr val="F8F8E9"/>
      </a:accent5>
      <a:accent6>
        <a:srgbClr val="CB833B"/>
      </a:accent6>
      <a:hlink>
        <a:srgbClr val="AE4828"/>
      </a:hlink>
      <a:folHlink>
        <a:srgbClr val="6A6954"/>
      </a:folHlink>
    </a:clrScheme>
    <a:fontScheme name="Kumtaşı">
      <a:majorFont>
        <a:latin typeface="Arial"/>
        <a:ea typeface=""/>
        <a:cs typeface=""/>
      </a:majorFont>
      <a:minorFont>
        <a:latin typeface="Arial"/>
        <a:ea typeface=""/>
        <a:cs typeface=""/>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r-T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r-TR" sz="2400" b="0" i="0" u="none" strike="noStrike" cap="none" normalizeH="0" baseline="0" smtClean="0">
            <a:ln>
              <a:noFill/>
            </a:ln>
            <a:solidFill>
              <a:schemeClr val="tx1"/>
            </a:solidFill>
            <a:effectLst/>
            <a:latin typeface="Arial" charset="0"/>
          </a:defRPr>
        </a:defPPr>
      </a:lstStyle>
    </a:lnDef>
  </a:objectDefaults>
  <a:extraClrSchemeLst>
    <a:extraClrScheme>
      <a:clrScheme name="Kumtaşı 1">
        <a:dk1>
          <a:srgbClr val="333333"/>
        </a:dk1>
        <a:lt1>
          <a:srgbClr val="BAB9A0"/>
        </a:lt1>
        <a:dk2>
          <a:srgbClr val="000000"/>
        </a:dk2>
        <a:lt2>
          <a:srgbClr val="333329"/>
        </a:lt2>
        <a:accent1>
          <a:srgbClr val="F4F3D9"/>
        </a:accent1>
        <a:accent2>
          <a:srgbClr val="E09142"/>
        </a:accent2>
        <a:accent3>
          <a:srgbClr val="D9D9CD"/>
        </a:accent3>
        <a:accent4>
          <a:srgbClr val="2A2A2A"/>
        </a:accent4>
        <a:accent5>
          <a:srgbClr val="F8F8E9"/>
        </a:accent5>
        <a:accent6>
          <a:srgbClr val="CB833B"/>
        </a:accent6>
        <a:hlink>
          <a:srgbClr val="AE4828"/>
        </a:hlink>
        <a:folHlink>
          <a:srgbClr val="6A6954"/>
        </a:folHlink>
      </a:clrScheme>
      <a:clrMap bg1="lt1" tx1="dk1" bg2="lt2" tx2="dk2" accent1="accent1" accent2="accent2" accent3="accent3" accent4="accent4" accent5="accent5" accent6="accent6" hlink="hlink" folHlink="folHlink"/>
    </a:extraClrScheme>
    <a:extraClrScheme>
      <a:clrScheme name="Kumtaşı 2">
        <a:dk1>
          <a:srgbClr val="333333"/>
        </a:dk1>
        <a:lt1>
          <a:srgbClr val="BDB9BF"/>
        </a:lt1>
        <a:dk2>
          <a:srgbClr val="000000"/>
        </a:dk2>
        <a:lt2>
          <a:srgbClr val="333329"/>
        </a:lt2>
        <a:accent1>
          <a:srgbClr val="F4F3D9"/>
        </a:accent1>
        <a:accent2>
          <a:srgbClr val="E09142"/>
        </a:accent2>
        <a:accent3>
          <a:srgbClr val="DBD9DC"/>
        </a:accent3>
        <a:accent4>
          <a:srgbClr val="2A2A2A"/>
        </a:accent4>
        <a:accent5>
          <a:srgbClr val="F8F8E9"/>
        </a:accent5>
        <a:accent6>
          <a:srgbClr val="CB833B"/>
        </a:accent6>
        <a:hlink>
          <a:srgbClr val="AE4828"/>
        </a:hlink>
        <a:folHlink>
          <a:srgbClr val="6A6954"/>
        </a:folHlink>
      </a:clrScheme>
      <a:clrMap bg1="lt1" tx1="dk1" bg2="lt2" tx2="dk2" accent1="accent1" accent2="accent2" accent3="accent3" accent4="accent4" accent5="accent5" accent6="accent6" hlink="hlink" folHlink="folHlink"/>
    </a:extraClrScheme>
    <a:extraClrScheme>
      <a:clrScheme name="Kumtaşı 3">
        <a:dk1>
          <a:srgbClr val="3D3D3D"/>
        </a:dk1>
        <a:lt1>
          <a:srgbClr val="EAEAEA"/>
        </a:lt1>
        <a:dk2>
          <a:srgbClr val="000000"/>
        </a:dk2>
        <a:lt2>
          <a:srgbClr val="333333"/>
        </a:lt2>
        <a:accent1>
          <a:srgbClr val="FFFFFF"/>
        </a:accent1>
        <a:accent2>
          <a:srgbClr val="969696"/>
        </a:accent2>
        <a:accent3>
          <a:srgbClr val="F3F3F3"/>
        </a:accent3>
        <a:accent4>
          <a:srgbClr val="333333"/>
        </a:accent4>
        <a:accent5>
          <a:srgbClr val="FFFFFF"/>
        </a:accent5>
        <a:accent6>
          <a:srgbClr val="878787"/>
        </a:accent6>
        <a:hlink>
          <a:srgbClr val="4D4D4D"/>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762</TotalTime>
  <Words>1770</Words>
  <Application>Microsoft Office PowerPoint</Application>
  <PresentationFormat>Ekran Gösterisi (4:3)</PresentationFormat>
  <Paragraphs>348</Paragraphs>
  <Slides>44</Slides>
  <Notes>1</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44</vt:i4>
      </vt:variant>
    </vt:vector>
  </HeadingPairs>
  <TitlesOfParts>
    <vt:vector size="49" baseType="lpstr">
      <vt:lpstr>Arial</vt:lpstr>
      <vt:lpstr>Wingdings</vt:lpstr>
      <vt:lpstr>Calibri</vt:lpstr>
      <vt:lpstr>Times New Roman</vt:lpstr>
      <vt:lpstr>Kumtaşı</vt:lpstr>
      <vt:lpstr>TOPLANTI YÖNETİMİ</vt:lpstr>
      <vt:lpstr>PowerPoint Sunusu</vt:lpstr>
      <vt:lpstr>PowerPoint Sunusu</vt:lpstr>
      <vt:lpstr>GİRİŞ</vt:lpstr>
      <vt:lpstr>PowerPoint Sunusu</vt:lpstr>
      <vt:lpstr>Toplantı Yapılması Nedenleri </vt:lpstr>
      <vt:lpstr>PowerPoint Sunusu</vt:lpstr>
      <vt:lpstr> TOPLANTI TÜRLERİ</vt:lpstr>
      <vt:lpstr>Yönetsel Toplantılar</vt:lpstr>
      <vt:lpstr>Toplantı Düzenleme Yerleri </vt:lpstr>
      <vt:lpstr>PowerPoint Sunusu</vt:lpstr>
      <vt:lpstr>PowerPoint Sunusu</vt:lpstr>
      <vt:lpstr>PowerPoint Sunusu</vt:lpstr>
      <vt:lpstr>PowerPoint Sunusu</vt:lpstr>
      <vt:lpstr>PowerPoint Sunusu</vt:lpstr>
      <vt:lpstr>PowerPoint Sunusu</vt:lpstr>
      <vt:lpstr> Yeni durumlara kolayca uyum gösterebilecek esnekliğe sahip olma,  Katılımcılara saygılı olma,  Grup ya da kümenin gereksinim ve ilgilerinin farkında olma,  Tartışılan konuda yeterince bilgi sahibi olma,  Küme içinde belirtilen görüşleri sezme, kavrama, anlatma becerilerine sahip olma,  Kendine güvenli, soğuk kanlı, canlı ve olgun davranmalı,  Tartışmayı  etkili yönetme, çabuk kavrama, çabuk karar verme yeteneği  </vt:lpstr>
      <vt:lpstr>PowerPoint Sunusu</vt:lpstr>
      <vt:lpstr>PowerPoint Sunusu</vt:lpstr>
      <vt:lpstr>PowerPoint Sunusu</vt:lpstr>
      <vt:lpstr>Toplantıda Grubu Destekleyen Roller    Girişimci: Tartışmalar için yeni ve farklı fikirler geliştirir; sorunlara olumlu yaklaşır. Önerici: Konuyla ilgili düşünce ve inançların, başkalarının önerilerini iletir.   Ayrıntıcı: Başkalarının fikir ve önerilerinden yola çıkar ve bunların iyice ayrıntılarına iner. Açıklayıcı: Konuyla ilgili örnekler verir; anlam ve mantık araştırır; sorunları tek tek gündeme getirir. Sınayıcı: Grubun karara hazır olup olmadığını sınamak üzere sorular sorar. </vt:lpstr>
      <vt:lpstr> Grubu Kaynaştıran Roller </vt:lpstr>
      <vt:lpstr>Toplantıda Oynanan Oyunlar </vt:lpstr>
      <vt:lpstr>Suçlama oyunları </vt:lpstr>
      <vt:lpstr>PowerPoint Sunusu</vt:lpstr>
      <vt:lpstr> Toplantının Pratik Öğeleri</vt:lpstr>
      <vt:lpstr>PowerPoint Sunusu</vt:lpstr>
      <vt:lpstr>PowerPoint Sunusu</vt:lpstr>
      <vt:lpstr>PowerPoint Sunusu</vt:lpstr>
      <vt:lpstr>PowerPoint Sunusu</vt:lpstr>
      <vt:lpstr>PowerPoint Sunusu</vt:lpstr>
      <vt:lpstr>PowerPoint Sunusu</vt:lpstr>
      <vt:lpstr>PowerPoint Sunusu</vt:lpstr>
      <vt:lpstr>PowerPoint Sunusu</vt:lpstr>
      <vt:lpstr>Toplantının Başarısız Olması</vt:lpstr>
      <vt:lpstr>  Toplantı Yönetimi Teknikleri </vt:lpstr>
      <vt:lpstr>PowerPoint Sunusu</vt:lpstr>
      <vt:lpstr>PowerPoint Sunusu</vt:lpstr>
      <vt:lpstr>PowerPoint Sunusu</vt:lpstr>
      <vt:lpstr>PowerPoint Sunusu</vt:lpstr>
      <vt:lpstr>PowerPoint Sunusu</vt:lpstr>
      <vt:lpstr>PowerPoint Sunusu</vt:lpstr>
      <vt:lpstr>Toplantıda Üyeleri Uyanık Tutma</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TOPLANTI YÖNETİMİ</dc:title>
  <dc:creator>pc</dc:creator>
  <cp:lastModifiedBy>Microsoft</cp:lastModifiedBy>
  <cp:revision>98</cp:revision>
  <dcterms:created xsi:type="dcterms:W3CDTF">2003-01-16T07:26:56Z</dcterms:created>
  <dcterms:modified xsi:type="dcterms:W3CDTF">2019-07-08T14:01:00Z</dcterms:modified>
</cp:coreProperties>
</file>